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a418b04dd64f00" /><Relationship Type="http://schemas.openxmlformats.org/officeDocument/2006/relationships/extended-properties" Target="/docProps/app.xml" Id="Rf984d93ec36046d5" /><Relationship Type="http://schemas.openxmlformats.org/officeDocument/2006/relationships/officeDocument" Target="/ppt/presentation.xml" Id="R93d39db96e604fdb" /></Relationships>
</file>

<file path=ppt/presentation.xml><?xml version="1.0" encoding="utf-8"?>
<p:presentation xmlns:p="http://schemas.openxmlformats.org/presentationml/2006/main">
  <p:sldMasterIdLst>
    <p:sldMasterId xmlns:r="http://schemas.openxmlformats.org/officeDocument/2006/relationships" id="2147483648" r:id="R825c462db06242a6"/>
  </p:sldMasterIdLst>
  <p:notesMasterIdLst>
    <p:notesMasterId xmlns:r="http://schemas.openxmlformats.org/officeDocument/2006/relationships" r:id="R52e8f7a4ae824e3f"/>
  </p:notesMasterIdLst>
  <p:sldIdLst>
    <p:sldId xmlns:r="http://schemas.openxmlformats.org/officeDocument/2006/relationships" id="256" r:id="Raf9eee79327247c4"/>
    <p:sldId xmlns:r="http://schemas.openxmlformats.org/officeDocument/2006/relationships" id="257" r:id="R729018806b9143a0"/>
    <p:sldId xmlns:r="http://schemas.openxmlformats.org/officeDocument/2006/relationships" id="258" r:id="Re5cecb50faa54dc4"/>
    <p:sldId xmlns:r="http://schemas.openxmlformats.org/officeDocument/2006/relationships" id="259" r:id="Rffe5d2876a6f4a98"/>
    <p:sldId xmlns:r="http://schemas.openxmlformats.org/officeDocument/2006/relationships" id="260" r:id="Rbae2757e4f3644a8"/>
    <p:sldId xmlns:r="http://schemas.openxmlformats.org/officeDocument/2006/relationships" id="261" r:id="Rf5513fa9b8a24231"/>
    <p:sldId xmlns:r="http://schemas.openxmlformats.org/officeDocument/2006/relationships" id="262" r:id="R802a5f850a30445e"/>
    <p:sldId xmlns:r="http://schemas.openxmlformats.org/officeDocument/2006/relationships" id="263" r:id="Rc91dbdcd00f74c34"/>
    <p:sldId xmlns:r="http://schemas.openxmlformats.org/officeDocument/2006/relationships" id="264" r:id="Reb0437e06ff74e91"/>
    <p:sldId xmlns:r="http://schemas.openxmlformats.org/officeDocument/2006/relationships" id="265" r:id="Rb120248170424792"/>
    <p:sldId xmlns:r="http://schemas.openxmlformats.org/officeDocument/2006/relationships" id="266" r:id="Rb4c6fa6cb357472d"/>
    <p:sldId xmlns:r="http://schemas.openxmlformats.org/officeDocument/2006/relationships" id="267" r:id="Re3fa4033791a49e7"/>
    <p:sldId xmlns:r="http://schemas.openxmlformats.org/officeDocument/2006/relationships" id="268" r:id="Rf3a62201739d4279"/>
    <p:sldId xmlns:r="http://schemas.openxmlformats.org/officeDocument/2006/relationships" id="269" r:id="R9b1f0b12e0b24136"/>
    <p:sldId xmlns:r="http://schemas.openxmlformats.org/officeDocument/2006/relationships" id="270" r:id="R81671941f1c34681"/>
    <p:sldId xmlns:r="http://schemas.openxmlformats.org/officeDocument/2006/relationships" id="271" r:id="R018bfa318ef749d7"/>
    <p:sldId xmlns:r="http://schemas.openxmlformats.org/officeDocument/2006/relationships" id="272" r:id="Rfc6d361367404ab1"/>
    <p:sldId xmlns:r="http://schemas.openxmlformats.org/officeDocument/2006/relationships" id="273" r:id="R5106d196162e44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c74a5fc3bf84b2c" /><Relationship Type="http://schemas.openxmlformats.org/officeDocument/2006/relationships/slideMaster" Target="/ppt/slideMasters/slideMaster1.xml" Id="R825c462db06242a6" /><Relationship Type="http://schemas.openxmlformats.org/officeDocument/2006/relationships/notesMaster" Target="/ppt/notesMasters/notesMaster1.xml" Id="R52e8f7a4ae824e3f" /><Relationship Type="http://schemas.openxmlformats.org/officeDocument/2006/relationships/presProps" Target="/ppt/presProps.xml" Id="R014bef34d1ba4507" /><Relationship Type="http://schemas.openxmlformats.org/officeDocument/2006/relationships/tableStyles" Target="/ppt/tableStyles.xml" Id="R24abcd9b12864e2c" /><Relationship Type="http://schemas.openxmlformats.org/officeDocument/2006/relationships/slide" Target="/ppt/slides/slide1.xml" Id="Raf9eee79327247c4" /><Relationship Type="http://schemas.openxmlformats.org/officeDocument/2006/relationships/slide" Target="/ppt/slides/slide2.xml" Id="R729018806b9143a0" /><Relationship Type="http://schemas.openxmlformats.org/officeDocument/2006/relationships/slide" Target="/ppt/slides/slide3.xml" Id="Re5cecb50faa54dc4" /><Relationship Type="http://schemas.openxmlformats.org/officeDocument/2006/relationships/slide" Target="/ppt/slides/slide4.xml" Id="Rffe5d2876a6f4a98" /><Relationship Type="http://schemas.openxmlformats.org/officeDocument/2006/relationships/slide" Target="/ppt/slides/slide5.xml" Id="Rbae2757e4f3644a8" /><Relationship Type="http://schemas.openxmlformats.org/officeDocument/2006/relationships/slide" Target="/ppt/slides/slide6.xml" Id="Rf5513fa9b8a24231" /><Relationship Type="http://schemas.openxmlformats.org/officeDocument/2006/relationships/slide" Target="/ppt/slides/slide7.xml" Id="R802a5f850a30445e" /><Relationship Type="http://schemas.openxmlformats.org/officeDocument/2006/relationships/slide" Target="/ppt/slides/slide8.xml" Id="Rc91dbdcd00f74c34" /><Relationship Type="http://schemas.openxmlformats.org/officeDocument/2006/relationships/slide" Target="/ppt/slides/slide9.xml" Id="Reb0437e06ff74e91" /><Relationship Type="http://schemas.openxmlformats.org/officeDocument/2006/relationships/slide" Target="/ppt/slides/slide10.xml" Id="Rb120248170424792" /><Relationship Type="http://schemas.openxmlformats.org/officeDocument/2006/relationships/slide" Target="/ppt/slides/slide11.xml" Id="Rb4c6fa6cb357472d" /><Relationship Type="http://schemas.openxmlformats.org/officeDocument/2006/relationships/slide" Target="/ppt/slides/slide12.xml" Id="Re3fa4033791a49e7" /><Relationship Type="http://schemas.openxmlformats.org/officeDocument/2006/relationships/slide" Target="/ppt/slides/slide13.xml" Id="Rf3a62201739d4279" /><Relationship Type="http://schemas.openxmlformats.org/officeDocument/2006/relationships/slide" Target="/ppt/slides/slide14.xml" Id="R9b1f0b12e0b24136" /><Relationship Type="http://schemas.openxmlformats.org/officeDocument/2006/relationships/slide" Target="/ppt/slides/slide15.xml" Id="R81671941f1c34681" /><Relationship Type="http://schemas.openxmlformats.org/officeDocument/2006/relationships/slide" Target="/ppt/slides/slide16.xml" Id="R018bfa318ef749d7" /><Relationship Type="http://schemas.openxmlformats.org/officeDocument/2006/relationships/slide" Target="/ppt/slides/slide17.xml" Id="Rfc6d361367404ab1" /><Relationship Type="http://schemas.openxmlformats.org/officeDocument/2006/relationships/slide" Target="/ppt/slides/slide18.xml" Id="R5106d196162e44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3d0c6295ed41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a7fab0aa9c40a0" /><Relationship Type="http://schemas.openxmlformats.org/officeDocument/2006/relationships/notesMaster" Target="/ppt/notesMasters/notesMaster1.xml" Id="Rc99331a75c7347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703aa2cbd44b49" /><Relationship Type="http://schemas.openxmlformats.org/officeDocument/2006/relationships/notesMaster" Target="/ppt/notesMasters/notesMaster1.xml" Id="Rfeb6b9dd5e4241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b7719cf98f4f3d" /><Relationship Type="http://schemas.openxmlformats.org/officeDocument/2006/relationships/notesMaster" Target="/ppt/notesMasters/notesMaster1.xml" Id="R3f3c25f74d8d4f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947aabc4344d10" /><Relationship Type="http://schemas.openxmlformats.org/officeDocument/2006/relationships/notesMaster" Target="/ppt/notesMasters/notesMaster1.xml" Id="R21b9d6f1313645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5331ea9cc242dd" /><Relationship Type="http://schemas.openxmlformats.org/officeDocument/2006/relationships/notesMaster" Target="/ppt/notesMasters/notesMaster1.xml" Id="R93fe7b6a0af84b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6adf377a96416d" /><Relationship Type="http://schemas.openxmlformats.org/officeDocument/2006/relationships/notesMaster" Target="/ppt/notesMasters/notesMaster1.xml" Id="R1428d9bc2d6745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123b889dc2438b" /><Relationship Type="http://schemas.openxmlformats.org/officeDocument/2006/relationships/notesMaster" Target="/ppt/notesMasters/notesMaster1.xml" Id="R9e89716b28f748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752e49b4834136" /><Relationship Type="http://schemas.openxmlformats.org/officeDocument/2006/relationships/notesMaster" Target="/ppt/notesMasters/notesMaster1.xml" Id="Rec691a231e8c44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89c70e692b4bcc" /><Relationship Type="http://schemas.openxmlformats.org/officeDocument/2006/relationships/notesMaster" Target="/ppt/notesMasters/notesMaster1.xml" Id="Ra00c438518274f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dd10a1b2d143fd" /><Relationship Type="http://schemas.openxmlformats.org/officeDocument/2006/relationships/notesMaster" Target="/ppt/notesMasters/notesMaster1.xml" Id="Racf82fa353b94f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6f4344d7dc42b2" /><Relationship Type="http://schemas.openxmlformats.org/officeDocument/2006/relationships/notesMaster" Target="/ppt/notesMasters/notesMaster1.xml" Id="R573d41aa07a640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06f5e3f5f374f87" /><Relationship Type="http://schemas.openxmlformats.org/officeDocument/2006/relationships/notesMaster" Target="/ppt/notesMasters/notesMaster1.xml" Id="R551a162d95664c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d58a2c7e5e40a7" /><Relationship Type="http://schemas.openxmlformats.org/officeDocument/2006/relationships/notesMaster" Target="/ppt/notesMasters/notesMaster1.xml" Id="R62ddbd73defb4e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96452e850e40ee" /><Relationship Type="http://schemas.openxmlformats.org/officeDocument/2006/relationships/notesMaster" Target="/ppt/notesMasters/notesMaster1.xml" Id="Re1fa30d8ee8c4a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33de90cd614cc0" /><Relationship Type="http://schemas.openxmlformats.org/officeDocument/2006/relationships/notesMaster" Target="/ppt/notesMasters/notesMaster1.xml" Id="Ra1349cfa8aa6473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26fa54cf4ba4853" /><Relationship Type="http://schemas.openxmlformats.org/officeDocument/2006/relationships/notesMaster" Target="/ppt/notesMasters/notesMaster1.xml" Id="Raa786447613d423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989ceb7e8ab492e" /><Relationship Type="http://schemas.openxmlformats.org/officeDocument/2006/relationships/notesMaster" Target="/ppt/notesMasters/notesMaster1.xml" Id="R6e985c2ee9f649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09df8ed96d741e5" /><Relationship Type="http://schemas.openxmlformats.org/officeDocument/2006/relationships/notesMaster" Target="/ppt/notesMasters/notesMaster1.xml" Id="Reb3f9432be8d42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内容の基準：交通流シンポレジュメ2026(1).pdf。表題・著者・所属はレジュメ1頁に基づく。元デッキと同じ16:9、白地と青系の模式図を踏襲して再構成。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内容の基準：交通流シンポレジュメ2026(1).pdf。1節、2節。BIBOは車内の利用者を自動検出する方式。機器設計や方式間の優劣は本研究の評価対象ではない。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内容の基準：交通流シンポレジュメ2026(1).pdf。2.1節、3.1節。模式例であり、名古屋の実駅・距離ではない。ODは順序付きの駅対。経路はリンク集合。距離減衰によるOD発生確率は使用しない。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内容の基準：交通流シンポレジュメ2026(1).pdf。2.1節。識別子とリンクが正しく対応し、同一利用中の記録をまとめられると仮定。図は説明用の1利用例。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2.2節のMAP推定を説明する模式例。実験結果や実ODの頻度を表していない。候補A→Cは経路外観測CDを含むためqによる強い減点を受けるが、q&gt;0なので尤度は厳密には0で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内容の基準：交通流シンポレジュメ2026(1).pdf。2.2節。最大事後確率と最大未正規化スコアは同じ候補を選ぶ。同率時は候補列の先頭を採用。qは推定モデルにのみ導入しており、生成側の誤検出0と区別する。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内容の基準：交通流シンポレジュメ2026(1).pdf。2.2節。非空観測には信頼度による課金保留を設けない。全未検出者は推定側では認識されず、シミュレーション評価上の徴収額が0になる。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内容の基準：交通流シンポレジュメ2026(1).pdf。2.2節。下の金額は定義を説明する架空例であり実験結果ではない。個人別回収率の単純平均ではない。全未検出者も分母に含める。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3.1節、参考文献[3]。第13回大都市交通センサス（2021年調査）の駅間移動人員表。両端駅が対象路線内のOD人数を正規化。名城線・名港線は一つのネットワーク。実利用経路が対象路線内だったことを意味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内容の基準：交通流シンポレジュメ2026(1).pdf。3.1節。各条件はシード0–299。同一路線の検出率間でOD標本と観測生成乱数列を共通化。検出は独立かつ一様pであり、混雑や列車運行による変化は扱わない。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内容の基準：交通流シンポレジュメ2026(1).pdf。3.1節、式(1)。aₑは方向別リンクeを通る確率、N=ceil(3300/maxₑ aₑ)。総利用者数Nは路線ごとに定め、試行間で固定。図の人数は説明用であり路線別の計算結果ではない。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3.1節、参考文献[4]。レジュメ採用の大人普通運賃。駅間距離は路線総延長に一致するよう比例補正し、小数第3位に丸めて総延長の差を調整。これは距離減衰ODの設定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3.2節、図1の元画像を転載。目盛と凡例は読みやすく大きな編集可能文字で重ねて表示。棒と誤差棒の数値・位置は改変していない。誤差棒は300シード間の標準偏差であり、標準誤差や信頼区間ではない。縦軸は拡大表示。元の数値表は提供されていないため、棒の高さから値を推測して再入力してい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内容の基準：交通流シンポレジュメ2026(1).pdf。3.2節。図は相殺を説明する架空例であり実験結果ではない。同一運賃区分内のOD誤推定は徴収額に影響せず、過大・過小徴収は相殺し得る。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内容の基準：交通流シンポレジュメ2026(1).pdf。2節、3.1–3.2節、4節。未実施の評価を既存の成果として述べない。今後は全未検出損失と検出後の徴収誤差を分け、利用終了の判定を含む課金手続を検討する。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内容の基準：交通流シンポレジュメ2026(1).pdf。4節。全未検出の減少だけを回収率上昇の実証された内訳として主張しない。回収率上昇は本モデル・本実験条件下の結果。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内容の基準：交通流シンポレジュメ2026(1).pdf。2.2節。Eは全リンク数。t=|O∩Lₕ|、f=|Lₕ\O|、u=|O\Lₕ|、v=E−|Lₕ|−u。ĥ=argmaxₕ πₕ p^t(1−p)^f q^u(1−q)^v。同率時は候補列の先頭を選ぶ。非空観測について計算。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内容の基準：交通流シンポレジュメ2026(1).pdf。レジュメ参考文献[1]–[4]。 [1] https://www.jreast.co.jp/development/theme/speed/pdf/speed09.pdf [2] doi:10.1109/ITSC.2015.253 [3] https://www.e-stat.go.jp/stat-search/files?stat_infid=000040443413 [4] https://www.kotsu.city.nagoya.jp/rp/subway/TRP0000172.htm 。当スライドはレジュメの参照文献を転載したもので、外部サイトの現時点の記載を再確認したものではない。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06f853e7314f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4983d3c453491a" /><Relationship Type="http://schemas.openxmlformats.org/officeDocument/2006/relationships/slideLayout" Target="/ppt/slideLayouts/slideLayout1.xml" Id="R3de535f8829f48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e535f8829f48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2d1c8847eb45e0" /><Relationship Type="http://schemas.openxmlformats.org/officeDocument/2006/relationships/notesSlide" Target="/ppt/notesSlides/notesSlide1.xml" Id="R018be299592843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8919c717e8c4fad" /><Relationship Type="http://schemas.openxmlformats.org/officeDocument/2006/relationships/notesSlide" Target="/ppt/notesSlides/notesSlide2.xml" Id="R19bf3fd30b0544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370ff5c94f4634" /><Relationship Type="http://schemas.openxmlformats.org/officeDocument/2006/relationships/notesSlide" Target="/ppt/notesSlides/notesSlide3.xml" Id="Ra7a641cf082d43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786f6db62b4a1a" /><Relationship Type="http://schemas.openxmlformats.org/officeDocument/2006/relationships/notesSlide" Target="/ppt/notesSlides/notesSlide4.xml" Id="R38b0d361be324c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156fc09a7f4263" /><Relationship Type="http://schemas.openxmlformats.org/officeDocument/2006/relationships/notesSlide" Target="/ppt/notesSlides/notesSlide5.xml" Id="R2757faace07049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aeb030919c4470" /><Relationship Type="http://schemas.openxmlformats.org/officeDocument/2006/relationships/notesSlide" Target="/ppt/notesSlides/notesSlide6.xml" Id="Rda669595ceaa4a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566f2a80e44851" /><Relationship Type="http://schemas.openxmlformats.org/officeDocument/2006/relationships/notesSlide" Target="/ppt/notesSlides/notesSlide7.xml" Id="R3708d3c7e57e44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fe6f67def84b9b" /><Relationship Type="http://schemas.openxmlformats.org/officeDocument/2006/relationships/notesSlide" Target="/ppt/notesSlides/notesSlide8.xml" Id="R6a0c55fce669443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482eb8cb1c4f0e" /><Relationship Type="http://schemas.openxmlformats.org/officeDocument/2006/relationships/notesSlide" Target="/ppt/notesSlides/notesSlide9.xml" Id="R617214b7e6b645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474acff99334a0d" /><Relationship Type="http://schemas.openxmlformats.org/officeDocument/2006/relationships/notesSlide" Target="/ppt/notesSlides/notesSlide10.xml" Id="R581ad1a7418f4e7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0c54b99552040ee" /><Relationship Type="http://schemas.openxmlformats.org/officeDocument/2006/relationships/notesSlide" Target="/ppt/notesSlides/notesSlide11.xml" Id="R751e36006d8c41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84baee5d6834bc9" /><Relationship Type="http://schemas.openxmlformats.org/officeDocument/2006/relationships/notesSlide" Target="/ppt/notesSlides/notesSlide12.xml" Id="Rd7b54b9f5d7040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d0ee608bc124926" /><Relationship Type="http://schemas.openxmlformats.org/officeDocument/2006/relationships/image" Target="/ppt/media/image.png" Id="R5d7aba8d886447c7" /><Relationship Type="http://schemas.openxmlformats.org/officeDocument/2006/relationships/notesSlide" Target="/ppt/notesSlides/notesSlide13.xml" Id="Rc831f9969af742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6f9ce73e9446c4" /><Relationship Type="http://schemas.openxmlformats.org/officeDocument/2006/relationships/notesSlide" Target="/ppt/notesSlides/notesSlide14.xml" Id="Rfd9f58f6d0d54d3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ee6a33b38964cdc" /><Relationship Type="http://schemas.openxmlformats.org/officeDocument/2006/relationships/notesSlide" Target="/ppt/notesSlides/notesSlide15.xml" Id="R5bc785357e5543b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53d649fac4b4082" /><Relationship Type="http://schemas.openxmlformats.org/officeDocument/2006/relationships/notesSlide" Target="/ppt/notesSlides/notesSlide16.xml" Id="Rfbaaede245e1443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a562c426122456e" /><Relationship Type="http://schemas.openxmlformats.org/officeDocument/2006/relationships/notesSlide" Target="/ppt/notesSlides/notesSlide17.xml" Id="R7b1ba5ed477744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2ac6358e75f413b" /><Relationship Type="http://schemas.openxmlformats.org/officeDocument/2006/relationships/notesSlide" Target="/ppt/notesSlides/notesSlide18.xml" Id="R910bc49b9e1c4f2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DCAAC30-4F6B-4064-9593-8C27C5D12834}"/>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無線方式によるBIBO型ウォークスルー改札</a:t>
            </a:r>
          </a:p>
        </p:txBody>
      </p:sp>
      <p:sp>
        <p:nvSpPr>
          <p:cNvPr id="2" name="">
            <a:extLst xmlns:a="http://schemas.openxmlformats.org/drawingml/2006/main">
              <a:ext uri="{FF2B5EF4-FFF2-40B4-BE49-F238E27FC236}">
                <a16:creationId xmlns:a16="http://schemas.microsoft.com/office/drawing/2014/main" id="{5254D67F-6238-40C8-9D34-FCD43B87E12C}"/>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E0FBA6-7E05-47FB-94C7-7EF44F9CCF1C}"/>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01</a:t>
            </a:r>
          </a:p>
        </p:txBody>
      </p:sp>
      <p:sp>
        <p:nvSpPr>
          <p:cNvPr id="4" name="">
            <a:extLst xmlns:a="http://schemas.openxmlformats.org/drawingml/2006/main">
              <a:ext uri="{FF2B5EF4-FFF2-40B4-BE49-F238E27FC236}">
                <a16:creationId xmlns:a16="http://schemas.microsoft.com/office/drawing/2014/main" id="{BD181099-11AB-4EFF-83D5-D33B99EE1ACE}"/>
              </a:ext>
            </a:extLst>
          </p:cNvPr>
          <p:cNvSpPr>
            <a:spLocks xmlns:a="http://schemas.openxmlformats.org/drawingml/2006/main" noGrp="1"/>
          </p:cNvSpPr>
          <p:nvPr/>
        </p:nvSpPr>
        <p:spPr>
          <a:xfrm xmlns:a="http://schemas.openxmlformats.org/drawingml/2006/main">
            <a:off x="571500" y="1476375"/>
            <a:ext cx="1104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450" b="1">
                <a:solidFill>
                  <a:srgbClr val="17354A"/>
                </a:solidFill>
                <a:latin typeface="Yu Gothic"/>
                <a:ea typeface="Yu Gothic"/>
                <a:cs typeface="Yu Gothic"/>
              </a:defRPr>
            </a:pPr>
            <a:r>
              <a:rPr sz="3450" b="1">
                <a:solidFill>
                  <a:srgbClr val="17354A"/>
                </a:solidFill>
                <a:latin typeface="Yu Gothic"/>
                <a:ea typeface="Yu Gothic"/>
                <a:cs typeface="Yu Gothic"/>
              </a:rPr>
              <a:t>運賃回収率を検討する単純なモデル</a:t>
            </a:r>
          </a:p>
        </p:txBody>
      </p:sp>
      <p:sp>
        <p:nvSpPr>
          <p:cNvPr id="5" name="">
            <a:extLst xmlns:a="http://schemas.openxmlformats.org/drawingml/2006/main">
              <a:ext uri="{FF2B5EF4-FFF2-40B4-BE49-F238E27FC236}">
                <a16:creationId xmlns:a16="http://schemas.microsoft.com/office/drawing/2014/main" id="{A7876EE4-8D65-48B6-81DB-31245B6F1DAD}"/>
              </a:ext>
            </a:extLst>
          </p:cNvPr>
          <p:cNvSpPr>
            <a:spLocks xmlns:a="http://schemas.openxmlformats.org/drawingml/2006/main" noGrp="1"/>
          </p:cNvSpPr>
          <p:nvPr/>
        </p:nvSpPr>
        <p:spPr>
          <a:xfrm xmlns:a="http://schemas.openxmlformats.org/drawingml/2006/main">
            <a:off x="1333500" y="3324225"/>
            <a:ext cx="2238375"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D51431F-E090-477F-BF83-94E32038891B}"/>
              </a:ext>
            </a:extLst>
          </p:cNvPr>
          <p:cNvSpPr>
            <a:spLocks xmlns:a="http://schemas.openxmlformats.org/drawingml/2006/main" noGrp="1"/>
          </p:cNvSpPr>
          <p:nvPr/>
        </p:nvSpPr>
        <p:spPr>
          <a:xfrm xmlns:a="http://schemas.openxmlformats.org/drawingml/2006/main">
            <a:off x="2309813" y="3209925"/>
            <a:ext cx="285750" cy="285750"/>
          </a:xfrm>
          <a:prstGeom xmlns:a="http://schemas.openxmlformats.org/drawingml/2006/main" prst="ellipse">
            <a:avLst/>
          </a:prstGeom>
          <a:solidFill xmlns:a="http://schemas.openxmlformats.org/drawingml/2006/main">
            <a:srgbClr val="D7782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7135FD-0B91-44E1-8D25-A82EA4EB9C96}"/>
              </a:ext>
            </a:extLst>
          </p:cNvPr>
          <p:cNvSpPr>
            <a:spLocks xmlns:a="http://schemas.openxmlformats.org/drawingml/2006/main" noGrp="1"/>
          </p:cNvSpPr>
          <p:nvPr/>
        </p:nvSpPr>
        <p:spPr>
          <a:xfrm xmlns:a="http://schemas.openxmlformats.org/drawingml/2006/main">
            <a:off x="3571875" y="3324225"/>
            <a:ext cx="2238375"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07C5939-7749-4A34-BCE4-6EE80AC1872C}"/>
              </a:ext>
            </a:extLst>
          </p:cNvPr>
          <p:cNvSpPr>
            <a:spLocks xmlns:a="http://schemas.openxmlformats.org/drawingml/2006/main" noGrp="1"/>
          </p:cNvSpPr>
          <p:nvPr/>
        </p:nvSpPr>
        <p:spPr>
          <a:xfrm xmlns:a="http://schemas.openxmlformats.org/drawingml/2006/main">
            <a:off x="5810250" y="3324225"/>
            <a:ext cx="2238375"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5212DE9-3F55-411B-B42F-B6E34AB4064E}"/>
              </a:ext>
            </a:extLst>
          </p:cNvPr>
          <p:cNvSpPr>
            <a:spLocks xmlns:a="http://schemas.openxmlformats.org/drawingml/2006/main" noGrp="1"/>
          </p:cNvSpPr>
          <p:nvPr/>
        </p:nvSpPr>
        <p:spPr>
          <a:xfrm xmlns:a="http://schemas.openxmlformats.org/drawingml/2006/main">
            <a:off x="6786563" y="3209925"/>
            <a:ext cx="285750" cy="285750"/>
          </a:xfrm>
          <a:prstGeom xmlns:a="http://schemas.openxmlformats.org/drawingml/2006/main" prst="ellipse">
            <a:avLst/>
          </a:prstGeom>
          <a:solidFill xmlns:a="http://schemas.openxmlformats.org/drawingml/2006/main">
            <a:srgbClr val="D7782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5A1A385-C7A5-4EEB-A49F-F1E1B379C6E9}"/>
              </a:ext>
            </a:extLst>
          </p:cNvPr>
          <p:cNvSpPr>
            <a:spLocks xmlns:a="http://schemas.openxmlformats.org/drawingml/2006/main" noGrp="1"/>
          </p:cNvSpPr>
          <p:nvPr/>
        </p:nvSpPr>
        <p:spPr>
          <a:xfrm xmlns:a="http://schemas.openxmlformats.org/drawingml/2006/main">
            <a:off x="8048625" y="3324225"/>
            <a:ext cx="2238375"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C4D0D2-6F8C-467A-A7AE-F163F2D162C6}"/>
              </a:ext>
            </a:extLst>
          </p:cNvPr>
          <p:cNvSpPr>
            <a:spLocks xmlns:a="http://schemas.openxmlformats.org/drawingml/2006/main" noGrp="1"/>
          </p:cNvSpPr>
          <p:nvPr/>
        </p:nvSpPr>
        <p:spPr>
          <a:xfrm xmlns:a="http://schemas.openxmlformats.org/drawingml/2006/main">
            <a:off x="1190625" y="32099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2" name="">
            <a:extLst xmlns:a="http://schemas.openxmlformats.org/drawingml/2006/main">
              <a:ext uri="{FF2B5EF4-FFF2-40B4-BE49-F238E27FC236}">
                <a16:creationId xmlns:a16="http://schemas.microsoft.com/office/drawing/2014/main" id="{0B856437-A7C7-4861-A3BF-B644B29341EA}"/>
              </a:ext>
            </a:extLst>
          </p:cNvPr>
          <p:cNvSpPr>
            <a:spLocks xmlns:a="http://schemas.openxmlformats.org/drawingml/2006/main" noGrp="1"/>
          </p:cNvSpPr>
          <p:nvPr/>
        </p:nvSpPr>
        <p:spPr>
          <a:xfrm xmlns:a="http://schemas.openxmlformats.org/drawingml/2006/main">
            <a:off x="1085850" y="35718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A</a:t>
            </a:r>
          </a:p>
        </p:txBody>
      </p:sp>
      <p:sp>
        <p:nvSpPr>
          <p:cNvPr id="13" name="">
            <a:extLst xmlns:a="http://schemas.openxmlformats.org/drawingml/2006/main">
              <a:ext uri="{FF2B5EF4-FFF2-40B4-BE49-F238E27FC236}">
                <a16:creationId xmlns:a16="http://schemas.microsoft.com/office/drawing/2014/main" id="{D8FCEA39-D699-4F55-8A4B-8CB47AC145B7}"/>
              </a:ext>
            </a:extLst>
          </p:cNvPr>
          <p:cNvSpPr>
            <a:spLocks xmlns:a="http://schemas.openxmlformats.org/drawingml/2006/main" noGrp="1"/>
          </p:cNvSpPr>
          <p:nvPr/>
        </p:nvSpPr>
        <p:spPr>
          <a:xfrm xmlns:a="http://schemas.openxmlformats.org/drawingml/2006/main">
            <a:off x="3429000" y="32099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4" name="">
            <a:extLst xmlns:a="http://schemas.openxmlformats.org/drawingml/2006/main">
              <a:ext uri="{FF2B5EF4-FFF2-40B4-BE49-F238E27FC236}">
                <a16:creationId xmlns:a16="http://schemas.microsoft.com/office/drawing/2014/main" id="{79D999BD-F228-45F8-8E4A-64857DF536F1}"/>
              </a:ext>
            </a:extLst>
          </p:cNvPr>
          <p:cNvSpPr>
            <a:spLocks xmlns:a="http://schemas.openxmlformats.org/drawingml/2006/main" noGrp="1"/>
          </p:cNvSpPr>
          <p:nvPr/>
        </p:nvSpPr>
        <p:spPr>
          <a:xfrm xmlns:a="http://schemas.openxmlformats.org/drawingml/2006/main">
            <a:off x="3324225" y="35718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B</a:t>
            </a:r>
          </a:p>
        </p:txBody>
      </p:sp>
      <p:sp>
        <p:nvSpPr>
          <p:cNvPr id="15" name="">
            <a:extLst xmlns:a="http://schemas.openxmlformats.org/drawingml/2006/main">
              <a:ext uri="{FF2B5EF4-FFF2-40B4-BE49-F238E27FC236}">
                <a16:creationId xmlns:a16="http://schemas.microsoft.com/office/drawing/2014/main" id="{5FB44276-6C21-46AE-AAF1-7D726835F7FC}"/>
              </a:ext>
            </a:extLst>
          </p:cNvPr>
          <p:cNvSpPr>
            <a:spLocks xmlns:a="http://schemas.openxmlformats.org/drawingml/2006/main" noGrp="1"/>
          </p:cNvSpPr>
          <p:nvPr/>
        </p:nvSpPr>
        <p:spPr>
          <a:xfrm xmlns:a="http://schemas.openxmlformats.org/drawingml/2006/main">
            <a:off x="5667375" y="32099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6" name="">
            <a:extLst xmlns:a="http://schemas.openxmlformats.org/drawingml/2006/main">
              <a:ext uri="{FF2B5EF4-FFF2-40B4-BE49-F238E27FC236}">
                <a16:creationId xmlns:a16="http://schemas.microsoft.com/office/drawing/2014/main" id="{55A03776-DD38-42EB-A7CE-8D8131763613}"/>
              </a:ext>
            </a:extLst>
          </p:cNvPr>
          <p:cNvSpPr>
            <a:spLocks xmlns:a="http://schemas.openxmlformats.org/drawingml/2006/main" noGrp="1"/>
          </p:cNvSpPr>
          <p:nvPr/>
        </p:nvSpPr>
        <p:spPr>
          <a:xfrm xmlns:a="http://schemas.openxmlformats.org/drawingml/2006/main">
            <a:off x="5562600" y="35718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C</a:t>
            </a:r>
          </a:p>
        </p:txBody>
      </p:sp>
      <p:sp>
        <p:nvSpPr>
          <p:cNvPr id="17" name="">
            <a:extLst xmlns:a="http://schemas.openxmlformats.org/drawingml/2006/main">
              <a:ext uri="{FF2B5EF4-FFF2-40B4-BE49-F238E27FC236}">
                <a16:creationId xmlns:a16="http://schemas.microsoft.com/office/drawing/2014/main" id="{F725B0E7-D8BF-40EF-9F7B-CA44845C878D}"/>
              </a:ext>
            </a:extLst>
          </p:cNvPr>
          <p:cNvSpPr>
            <a:spLocks xmlns:a="http://schemas.openxmlformats.org/drawingml/2006/main" noGrp="1"/>
          </p:cNvSpPr>
          <p:nvPr/>
        </p:nvSpPr>
        <p:spPr>
          <a:xfrm xmlns:a="http://schemas.openxmlformats.org/drawingml/2006/main">
            <a:off x="7905750" y="32099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8" name="">
            <a:extLst xmlns:a="http://schemas.openxmlformats.org/drawingml/2006/main">
              <a:ext uri="{FF2B5EF4-FFF2-40B4-BE49-F238E27FC236}">
                <a16:creationId xmlns:a16="http://schemas.microsoft.com/office/drawing/2014/main" id="{A368294D-E457-4DB9-9E86-A1F94CB1ECBD}"/>
              </a:ext>
            </a:extLst>
          </p:cNvPr>
          <p:cNvSpPr>
            <a:spLocks xmlns:a="http://schemas.openxmlformats.org/drawingml/2006/main" noGrp="1"/>
          </p:cNvSpPr>
          <p:nvPr/>
        </p:nvSpPr>
        <p:spPr>
          <a:xfrm xmlns:a="http://schemas.openxmlformats.org/drawingml/2006/main">
            <a:off x="7800975" y="35718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D</a:t>
            </a:r>
          </a:p>
        </p:txBody>
      </p:sp>
      <p:sp>
        <p:nvSpPr>
          <p:cNvPr id="19" name="">
            <a:extLst xmlns:a="http://schemas.openxmlformats.org/drawingml/2006/main">
              <a:ext uri="{FF2B5EF4-FFF2-40B4-BE49-F238E27FC236}">
                <a16:creationId xmlns:a16="http://schemas.microsoft.com/office/drawing/2014/main" id="{AEF50192-EEC6-4542-8B0F-1361F7B99135}"/>
              </a:ext>
            </a:extLst>
          </p:cNvPr>
          <p:cNvSpPr>
            <a:spLocks xmlns:a="http://schemas.openxmlformats.org/drawingml/2006/main" noGrp="1"/>
          </p:cNvSpPr>
          <p:nvPr/>
        </p:nvSpPr>
        <p:spPr>
          <a:xfrm xmlns:a="http://schemas.openxmlformats.org/drawingml/2006/main">
            <a:off x="10144125" y="32099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20" name="">
            <a:extLst xmlns:a="http://schemas.openxmlformats.org/drawingml/2006/main">
              <a:ext uri="{FF2B5EF4-FFF2-40B4-BE49-F238E27FC236}">
                <a16:creationId xmlns:a16="http://schemas.microsoft.com/office/drawing/2014/main" id="{089BA209-4F73-4448-A2F5-03CAD45D6C3D}"/>
              </a:ext>
            </a:extLst>
          </p:cNvPr>
          <p:cNvSpPr>
            <a:spLocks xmlns:a="http://schemas.openxmlformats.org/drawingml/2006/main" noGrp="1"/>
          </p:cNvSpPr>
          <p:nvPr/>
        </p:nvSpPr>
        <p:spPr>
          <a:xfrm xmlns:a="http://schemas.openxmlformats.org/drawingml/2006/main">
            <a:off x="10039350" y="35718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E</a:t>
            </a:r>
          </a:p>
        </p:txBody>
      </p:sp>
      <p:sp>
        <p:nvSpPr>
          <p:cNvPr id="21" name="">
            <a:extLst xmlns:a="http://schemas.openxmlformats.org/drawingml/2006/main">
              <a:ext uri="{FF2B5EF4-FFF2-40B4-BE49-F238E27FC236}">
                <a16:creationId xmlns:a16="http://schemas.microsoft.com/office/drawing/2014/main" id="{1717FC26-542D-4A13-A1C0-72C0AD46A9C0}"/>
              </a:ext>
            </a:extLst>
          </p:cNvPr>
          <p:cNvSpPr>
            <a:spLocks xmlns:a="http://schemas.openxmlformats.org/drawingml/2006/main" noGrp="1"/>
          </p:cNvSpPr>
          <p:nvPr/>
        </p:nvSpPr>
        <p:spPr>
          <a:xfrm xmlns:a="http://schemas.openxmlformats.org/drawingml/2006/main">
            <a:off x="1238250" y="43434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75" b="1">
                <a:solidFill>
                  <a:srgbClr val="087FBA"/>
                </a:solidFill>
                <a:latin typeface="Yu Gothic"/>
                <a:ea typeface="Yu Gothic"/>
                <a:cs typeface="Yu Gothic"/>
              </a:defRPr>
            </a:pPr>
            <a:r>
              <a:rPr sz="2475" b="1">
                <a:solidFill>
                  <a:srgbClr val="087FBA"/>
                </a:solidFill>
                <a:latin typeface="Yu Gothic"/>
                <a:ea typeface="Yu Gothic"/>
                <a:cs typeface="Yu Gothic"/>
              </a:rPr>
              <a:t>駅間の検出漏れを、収入への影響で評価する</a:t>
            </a:r>
          </a:p>
        </p:txBody>
      </p:sp>
      <p:sp>
        <p:nvSpPr>
          <p:cNvPr id="22" name="">
            <a:extLst xmlns:a="http://schemas.openxmlformats.org/drawingml/2006/main">
              <a:ext uri="{FF2B5EF4-FFF2-40B4-BE49-F238E27FC236}">
                <a16:creationId xmlns:a16="http://schemas.microsoft.com/office/drawing/2014/main" id="{485D3939-56B8-4EBE-8906-484A58BC2859}"/>
              </a:ext>
            </a:extLst>
          </p:cNvPr>
          <p:cNvSpPr>
            <a:spLocks xmlns:a="http://schemas.openxmlformats.org/drawingml/2006/main" noGrp="1"/>
          </p:cNvSpPr>
          <p:nvPr/>
        </p:nvSpPr>
        <p:spPr>
          <a:xfrm xmlns:a="http://schemas.openxmlformats.org/drawingml/2006/main">
            <a:off x="571500" y="5286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0">
                <a:solidFill>
                  <a:srgbClr val="17354A"/>
                </a:solidFill>
                <a:latin typeface="Yu Gothic"/>
                <a:ea typeface="Yu Gothic"/>
                <a:cs typeface="Yu Gothic"/>
              </a:defRPr>
            </a:pPr>
            <a:r>
              <a:rPr sz="2250" b="0">
                <a:solidFill>
                  <a:srgbClr val="17354A"/>
                </a:solidFill>
                <a:latin typeface="Yu Gothic"/>
                <a:ea typeface="Yu Gothic"/>
                <a:cs typeface="Yu Gothic"/>
              </a:rPr>
              <a:t>落合宏紀¹　石渡龍輔²</a:t>
            </a:r>
          </a:p>
        </p:txBody>
      </p:sp>
      <p:sp>
        <p:nvSpPr>
          <p:cNvPr id="23" name="">
            <a:extLst xmlns:a="http://schemas.openxmlformats.org/drawingml/2006/main">
              <a:ext uri="{FF2B5EF4-FFF2-40B4-BE49-F238E27FC236}">
                <a16:creationId xmlns:a16="http://schemas.microsoft.com/office/drawing/2014/main" id="{7EE05598-40BD-4FB4-908E-D4DAF4AA3F14}"/>
              </a:ext>
            </a:extLst>
          </p:cNvPr>
          <p:cNvSpPr>
            <a:spLocks xmlns:a="http://schemas.openxmlformats.org/drawingml/2006/main" noGrp="1"/>
          </p:cNvSpPr>
          <p:nvPr/>
        </p:nvSpPr>
        <p:spPr>
          <a:xfrm xmlns:a="http://schemas.openxmlformats.org/drawingml/2006/main">
            <a:off x="571500" y="5857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725" b="0">
                <a:solidFill>
                  <a:srgbClr val="647987"/>
                </a:solidFill>
                <a:latin typeface="Yu Gothic"/>
                <a:ea typeface="Yu Gothic"/>
                <a:cs typeface="Yu Gothic"/>
              </a:defRPr>
            </a:pPr>
            <a:r>
              <a:rPr sz="1725" b="0">
                <a:solidFill>
                  <a:srgbClr val="647987"/>
                </a:solidFill>
                <a:latin typeface="Yu Gothic"/>
                <a:ea typeface="Yu Gothic"/>
                <a:cs typeface="Yu Gothic"/>
              </a:rPr>
              <a:t>室蘭工業大学　¹情報電子工学系専攻　²しくみ解明系領域</a:t>
            </a:r>
          </a:p>
        </p:txBody>
      </p:sp>
    </p:spTree>
    <p:extLst>
      <p:ext uri="{BB962C8B-B14F-4D97-AF65-F5344CB8AC3E}">
        <p14:creationId xmlns:p14="http://schemas.microsoft.com/office/powerpoint/2010/main" val="3371365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6E15AB0-A935-408E-9448-259EF2DF541F}"/>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研究の問いと評価の流れ</a:t>
            </a:r>
          </a:p>
        </p:txBody>
      </p:sp>
      <p:sp>
        <p:nvSpPr>
          <p:cNvPr id="2" name="">
            <a:extLst xmlns:a="http://schemas.openxmlformats.org/drawingml/2006/main">
              <a:ext uri="{FF2B5EF4-FFF2-40B4-BE49-F238E27FC236}">
                <a16:creationId xmlns:a16="http://schemas.microsoft.com/office/drawing/2014/main" id="{56F85670-1A44-4194-BAE6-5AB9126D6066}"/>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5ABFBC-E52C-4AF6-9FD7-7BFE0122E6D5}"/>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02</a:t>
            </a:r>
          </a:p>
        </p:txBody>
      </p:sp>
      <p:sp>
        <p:nvSpPr>
          <p:cNvPr id="4" name="">
            <a:extLst xmlns:a="http://schemas.openxmlformats.org/drawingml/2006/main">
              <a:ext uri="{FF2B5EF4-FFF2-40B4-BE49-F238E27FC236}">
                <a16:creationId xmlns:a16="http://schemas.microsoft.com/office/drawing/2014/main" id="{DEC2966E-2E1A-4041-9BFD-8EFD3674C493}"/>
              </a:ext>
            </a:extLst>
          </p:cNvPr>
          <p:cNvSpPr>
            <a:spLocks xmlns:a="http://schemas.openxmlformats.org/drawingml/2006/main" noGrp="1"/>
          </p:cNvSpPr>
          <p:nvPr/>
        </p:nvSpPr>
        <p:spPr>
          <a:xfrm xmlns:a="http://schemas.openxmlformats.org/drawingml/2006/main">
            <a:off x="571500" y="1476375"/>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700" b="1">
                <a:solidFill>
                  <a:srgbClr val="17354A"/>
                </a:solidFill>
                <a:latin typeface="Yu Gothic"/>
                <a:ea typeface="Yu Gothic"/>
                <a:cs typeface="Yu Gothic"/>
              </a:defRPr>
            </a:pPr>
            <a:r>
              <a:rPr sz="2700" b="1">
                <a:solidFill>
                  <a:srgbClr val="17354A"/>
                </a:solidFill>
                <a:latin typeface="Yu Gothic"/>
                <a:ea typeface="Yu Gothic"/>
                <a:cs typeface="Yu Gothic"/>
              </a:rPr>
              <a:t>駅間で見逃しがあると、運賃をどれだけ回収できるか</a:t>
            </a:r>
          </a:p>
        </p:txBody>
      </p:sp>
      <p:sp>
        <p:nvSpPr>
          <p:cNvPr id="5" name="">
            <a:extLst xmlns:a="http://schemas.openxmlformats.org/drawingml/2006/main">
              <a:ext uri="{FF2B5EF4-FFF2-40B4-BE49-F238E27FC236}">
                <a16:creationId xmlns:a16="http://schemas.microsoft.com/office/drawing/2014/main" id="{A79639BD-02F7-462B-8ACE-3787198FA24A}"/>
              </a:ext>
            </a:extLst>
          </p:cNvPr>
          <p:cNvSpPr>
            <a:spLocks xmlns:a="http://schemas.openxmlformats.org/drawingml/2006/main" noGrp="1"/>
          </p:cNvSpPr>
          <p:nvPr/>
        </p:nvSpPr>
        <p:spPr>
          <a:xfrm xmlns:a="http://schemas.openxmlformats.org/drawingml/2006/main">
            <a:off x="571500" y="2809875"/>
            <a:ext cx="2333625" cy="119062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6" name="">
            <a:extLst xmlns:a="http://schemas.openxmlformats.org/drawingml/2006/main">
              <a:ext uri="{FF2B5EF4-FFF2-40B4-BE49-F238E27FC236}">
                <a16:creationId xmlns:a16="http://schemas.microsoft.com/office/drawing/2014/main" id="{465B201A-E244-4ACC-9EDC-C24118DD6C05}"/>
              </a:ext>
            </a:extLst>
          </p:cNvPr>
          <p:cNvSpPr>
            <a:spLocks xmlns:a="http://schemas.openxmlformats.org/drawingml/2006/main" noGrp="1"/>
          </p:cNvSpPr>
          <p:nvPr/>
        </p:nvSpPr>
        <p:spPr>
          <a:xfrm xmlns:a="http://schemas.openxmlformats.org/drawingml/2006/main">
            <a:off x="714375" y="2924175"/>
            <a:ext cx="2047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真の利用</a:t>
            </a:r>
          </a:p>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乗降駅の組</a:t>
            </a:r>
          </a:p>
        </p:txBody>
      </p:sp>
      <p:sp>
        <p:nvSpPr>
          <p:cNvPr id="7" name="">
            <a:extLst xmlns:a="http://schemas.openxmlformats.org/drawingml/2006/main">
              <a:ext uri="{FF2B5EF4-FFF2-40B4-BE49-F238E27FC236}">
                <a16:creationId xmlns:a16="http://schemas.microsoft.com/office/drawing/2014/main" id="{0D5D67B1-F8A5-4286-8176-7FAF5A1B9A80}"/>
              </a:ext>
            </a:extLst>
          </p:cNvPr>
          <p:cNvSpPr>
            <a:spLocks xmlns:a="http://schemas.openxmlformats.org/drawingml/2006/main" noGrp="1"/>
          </p:cNvSpPr>
          <p:nvPr/>
        </p:nvSpPr>
        <p:spPr>
          <a:xfrm xmlns:a="http://schemas.openxmlformats.org/drawingml/2006/main">
            <a:off x="3009900" y="3238500"/>
            <a:ext cx="409575"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CA7C330-68AF-42BE-82E5-0F8712476DD7}"/>
              </a:ext>
            </a:extLst>
          </p:cNvPr>
          <p:cNvSpPr>
            <a:spLocks xmlns:a="http://schemas.openxmlformats.org/drawingml/2006/main" noGrp="1"/>
          </p:cNvSpPr>
          <p:nvPr/>
        </p:nvSpPr>
        <p:spPr>
          <a:xfrm xmlns:a="http://schemas.openxmlformats.org/drawingml/2006/main">
            <a:off x="3457575" y="2809875"/>
            <a:ext cx="2333625" cy="119062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9" name="">
            <a:extLst xmlns:a="http://schemas.openxmlformats.org/drawingml/2006/main">
              <a:ext uri="{FF2B5EF4-FFF2-40B4-BE49-F238E27FC236}">
                <a16:creationId xmlns:a16="http://schemas.microsoft.com/office/drawing/2014/main" id="{843834D2-0E0F-4646-A28C-FAE42B79FE79}"/>
              </a:ext>
            </a:extLst>
          </p:cNvPr>
          <p:cNvSpPr>
            <a:spLocks xmlns:a="http://schemas.openxmlformats.org/drawingml/2006/main" noGrp="1"/>
          </p:cNvSpPr>
          <p:nvPr/>
        </p:nvSpPr>
        <p:spPr>
          <a:xfrm xmlns:a="http://schemas.openxmlformats.org/drawingml/2006/main">
            <a:off x="3600450" y="2924175"/>
            <a:ext cx="2047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駅間の観測</a:t>
            </a:r>
          </a:p>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一部を見逃す</a:t>
            </a:r>
          </a:p>
        </p:txBody>
      </p:sp>
      <p:sp>
        <p:nvSpPr>
          <p:cNvPr id="10" name="">
            <a:extLst xmlns:a="http://schemas.openxmlformats.org/drawingml/2006/main">
              <a:ext uri="{FF2B5EF4-FFF2-40B4-BE49-F238E27FC236}">
                <a16:creationId xmlns:a16="http://schemas.microsoft.com/office/drawing/2014/main" id="{A0C21A9F-D797-41D9-8709-06C1588CA152}"/>
              </a:ext>
            </a:extLst>
          </p:cNvPr>
          <p:cNvSpPr>
            <a:spLocks xmlns:a="http://schemas.openxmlformats.org/drawingml/2006/main" noGrp="1"/>
          </p:cNvSpPr>
          <p:nvPr/>
        </p:nvSpPr>
        <p:spPr>
          <a:xfrm xmlns:a="http://schemas.openxmlformats.org/drawingml/2006/main">
            <a:off x="5895975" y="3238500"/>
            <a:ext cx="409575"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017EE3B-16A2-42CD-BA6B-3B91B18C6AC1}"/>
              </a:ext>
            </a:extLst>
          </p:cNvPr>
          <p:cNvSpPr>
            <a:spLocks xmlns:a="http://schemas.openxmlformats.org/drawingml/2006/main" noGrp="1"/>
          </p:cNvSpPr>
          <p:nvPr/>
        </p:nvSpPr>
        <p:spPr>
          <a:xfrm xmlns:a="http://schemas.openxmlformats.org/drawingml/2006/main">
            <a:off x="6343650" y="2809875"/>
            <a:ext cx="2333625" cy="119062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12" name="">
            <a:extLst xmlns:a="http://schemas.openxmlformats.org/drawingml/2006/main">
              <a:ext uri="{FF2B5EF4-FFF2-40B4-BE49-F238E27FC236}">
                <a16:creationId xmlns:a16="http://schemas.microsoft.com/office/drawing/2014/main" id="{4EF30E13-6161-487B-A6CF-E490ABB31094}"/>
              </a:ext>
            </a:extLst>
          </p:cNvPr>
          <p:cNvSpPr>
            <a:spLocks xmlns:a="http://schemas.openxmlformats.org/drawingml/2006/main" noGrp="1"/>
          </p:cNvSpPr>
          <p:nvPr/>
        </p:nvSpPr>
        <p:spPr>
          <a:xfrm xmlns:a="http://schemas.openxmlformats.org/drawingml/2006/main">
            <a:off x="6486525" y="2924175"/>
            <a:ext cx="2047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ODの推定</a:t>
            </a:r>
          </a:p>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候補を比較</a:t>
            </a:r>
          </a:p>
        </p:txBody>
      </p:sp>
      <p:sp>
        <p:nvSpPr>
          <p:cNvPr id="13" name="">
            <a:extLst xmlns:a="http://schemas.openxmlformats.org/drawingml/2006/main">
              <a:ext uri="{FF2B5EF4-FFF2-40B4-BE49-F238E27FC236}">
                <a16:creationId xmlns:a16="http://schemas.microsoft.com/office/drawing/2014/main" id="{1726E4F9-5EA0-4565-82CB-5139DE8529E6}"/>
              </a:ext>
            </a:extLst>
          </p:cNvPr>
          <p:cNvSpPr>
            <a:spLocks xmlns:a="http://schemas.openxmlformats.org/drawingml/2006/main" noGrp="1"/>
          </p:cNvSpPr>
          <p:nvPr/>
        </p:nvSpPr>
        <p:spPr>
          <a:xfrm xmlns:a="http://schemas.openxmlformats.org/drawingml/2006/main">
            <a:off x="8782050" y="3238500"/>
            <a:ext cx="409575"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9D680DF-6D9D-4EB3-A54B-A4B096E559EB}"/>
              </a:ext>
            </a:extLst>
          </p:cNvPr>
          <p:cNvSpPr>
            <a:spLocks xmlns:a="http://schemas.openxmlformats.org/drawingml/2006/main" noGrp="1"/>
          </p:cNvSpPr>
          <p:nvPr/>
        </p:nvSpPr>
        <p:spPr>
          <a:xfrm xmlns:a="http://schemas.openxmlformats.org/drawingml/2006/main">
            <a:off x="9229725" y="2809875"/>
            <a:ext cx="2333625" cy="119062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15" name="">
            <a:extLst xmlns:a="http://schemas.openxmlformats.org/drawingml/2006/main">
              <a:ext uri="{FF2B5EF4-FFF2-40B4-BE49-F238E27FC236}">
                <a16:creationId xmlns:a16="http://schemas.microsoft.com/office/drawing/2014/main" id="{8642DDF8-4721-4E71-A89D-F8ADF3F9E18E}"/>
              </a:ext>
            </a:extLst>
          </p:cNvPr>
          <p:cNvSpPr>
            <a:spLocks xmlns:a="http://schemas.openxmlformats.org/drawingml/2006/main" noGrp="1"/>
          </p:cNvSpPr>
          <p:nvPr/>
        </p:nvSpPr>
        <p:spPr>
          <a:xfrm xmlns:a="http://schemas.openxmlformats.org/drawingml/2006/main">
            <a:off x="9372600" y="2924175"/>
            <a:ext cx="2047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推定運賃</a:t>
            </a:r>
          </a:p>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全体を集計</a:t>
            </a:r>
          </a:p>
        </p:txBody>
      </p:sp>
      <p:sp>
        <p:nvSpPr>
          <p:cNvPr id="16" name="">
            <a:extLst xmlns:a="http://schemas.openxmlformats.org/drawingml/2006/main">
              <a:ext uri="{FF2B5EF4-FFF2-40B4-BE49-F238E27FC236}">
                <a16:creationId xmlns:a16="http://schemas.microsoft.com/office/drawing/2014/main" id="{6FE65149-9C39-4F70-A344-936C1E7A5512}"/>
              </a:ext>
            </a:extLst>
          </p:cNvPr>
          <p:cNvSpPr>
            <a:spLocks xmlns:a="http://schemas.openxmlformats.org/drawingml/2006/main" noGrp="1"/>
          </p:cNvSpPr>
          <p:nvPr/>
        </p:nvSpPr>
        <p:spPr>
          <a:xfrm xmlns:a="http://schemas.openxmlformats.org/drawingml/2006/main">
            <a:off x="3486150" y="4476750"/>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D77824"/>
                </a:solidFill>
                <a:latin typeface="Yu Gothic"/>
                <a:ea typeface="Yu Gothic"/>
                <a:cs typeface="Yu Gothic"/>
              </a:defRPr>
            </a:pPr>
            <a:r>
              <a:rPr sz="2250" b="1">
                <a:solidFill>
                  <a:srgbClr val="D77824"/>
                </a:solidFill>
                <a:latin typeface="Yu Gothic"/>
                <a:ea typeface="Yu Gothic"/>
                <a:cs typeface="Yu Gothic"/>
              </a:rPr>
              <a:t>検出率 p</a:t>
            </a:r>
          </a:p>
        </p:txBody>
      </p:sp>
      <p:sp>
        <p:nvSpPr>
          <p:cNvPr id="17" name="">
            <a:extLst xmlns:a="http://schemas.openxmlformats.org/drawingml/2006/main">
              <a:ext uri="{FF2B5EF4-FFF2-40B4-BE49-F238E27FC236}">
                <a16:creationId xmlns:a16="http://schemas.microsoft.com/office/drawing/2014/main" id="{7C7ECFD8-DD5B-4849-B573-E8D3390507EB}"/>
              </a:ext>
            </a:extLst>
          </p:cNvPr>
          <p:cNvSpPr>
            <a:spLocks xmlns:a="http://schemas.openxmlformats.org/drawingml/2006/main" noGrp="1"/>
          </p:cNvSpPr>
          <p:nvPr/>
        </p:nvSpPr>
        <p:spPr>
          <a:xfrm xmlns:a="http://schemas.openxmlformats.org/drawingml/2006/main">
            <a:off x="9267825" y="447675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087FBA"/>
                </a:solidFill>
                <a:latin typeface="Yu Gothic"/>
                <a:ea typeface="Yu Gothic"/>
                <a:cs typeface="Yu Gothic"/>
              </a:defRPr>
            </a:pPr>
            <a:r>
              <a:rPr sz="2250" b="1">
                <a:solidFill>
                  <a:srgbClr val="087FBA"/>
                </a:solidFill>
                <a:latin typeface="Yu Gothic"/>
                <a:ea typeface="Yu Gothic"/>
                <a:cs typeface="Yu Gothic"/>
              </a:rPr>
              <a:t>運賃回収率 R</a:t>
            </a:r>
          </a:p>
        </p:txBody>
      </p:sp>
      <p:sp>
        <p:nvSpPr>
          <p:cNvPr id="18" name="">
            <a:extLst xmlns:a="http://schemas.openxmlformats.org/drawingml/2006/main">
              <a:ext uri="{FF2B5EF4-FFF2-40B4-BE49-F238E27FC236}">
                <a16:creationId xmlns:a16="http://schemas.microsoft.com/office/drawing/2014/main" id="{87674D7A-81A2-48A9-BCA7-04A02AF2EBF8}"/>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公開ODデータと実運賃区分を用いたシミュレーション</a:t>
            </a:r>
          </a:p>
        </p:txBody>
      </p:sp>
    </p:spTree>
    <p:extLst>
      <p:ext uri="{BB962C8B-B14F-4D97-AF65-F5344CB8AC3E}">
        <p14:creationId xmlns:p14="http://schemas.microsoft.com/office/powerpoint/2010/main" val="11349631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AF215D3-FD1A-4D87-90B0-6553A287065E}"/>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OD・リンク・距離の違い</a:t>
            </a:r>
          </a:p>
        </p:txBody>
      </p:sp>
      <p:sp>
        <p:nvSpPr>
          <p:cNvPr id="2" name="">
            <a:extLst xmlns:a="http://schemas.openxmlformats.org/drawingml/2006/main">
              <a:ext uri="{FF2B5EF4-FFF2-40B4-BE49-F238E27FC236}">
                <a16:creationId xmlns:a16="http://schemas.microsoft.com/office/drawing/2014/main" id="{CA86E864-B0D7-432B-BB75-873E356FB5AB}"/>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0BD38F6-E7C6-4DEA-BB1E-D77C0DAE31F9}"/>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03</a:t>
            </a:r>
          </a:p>
        </p:txBody>
      </p:sp>
      <p:sp>
        <p:nvSpPr>
          <p:cNvPr id="4" name="">
            <a:extLst xmlns:a="http://schemas.openxmlformats.org/drawingml/2006/main">
              <a:ext uri="{FF2B5EF4-FFF2-40B4-BE49-F238E27FC236}">
                <a16:creationId xmlns:a16="http://schemas.microsoft.com/office/drawing/2014/main" id="{7A8CE5EF-0EBC-4BFE-9DB1-0F65B562D31D}"/>
              </a:ext>
            </a:extLst>
          </p:cNvPr>
          <p:cNvSpPr>
            <a:spLocks xmlns:a="http://schemas.openxmlformats.org/drawingml/2006/main" noGrp="1"/>
          </p:cNvSpPr>
          <p:nvPr/>
        </p:nvSpPr>
        <p:spPr>
          <a:xfrm xmlns:a="http://schemas.openxmlformats.org/drawingml/2006/main">
            <a:off x="571500" y="144780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0">
                <a:solidFill>
                  <a:srgbClr val="17354A"/>
                </a:solidFill>
                <a:latin typeface="Yu Gothic"/>
                <a:ea typeface="Yu Gothic"/>
                <a:cs typeface="Yu Gothic"/>
              </a:defRPr>
            </a:pPr>
            <a:r>
              <a:rPr sz="2400" b="0">
                <a:solidFill>
                  <a:srgbClr val="17354A"/>
                </a:solidFill>
                <a:latin typeface="Yu Gothic"/>
                <a:ea typeface="Yu Gothic"/>
                <a:cs typeface="Yu Gothic"/>
              </a:rPr>
              <a:t>OD ＝ 乗車駅と降車駅の組　例：AからDへ</a:t>
            </a:r>
          </a:p>
        </p:txBody>
      </p:sp>
      <p:sp>
        <p:nvSpPr>
          <p:cNvPr id="5" name="">
            <a:extLst xmlns:a="http://schemas.openxmlformats.org/drawingml/2006/main">
              <a:ext uri="{FF2B5EF4-FFF2-40B4-BE49-F238E27FC236}">
                <a16:creationId xmlns:a16="http://schemas.microsoft.com/office/drawing/2014/main" id="{C5985CD2-5A13-44EE-9EA2-9AB22B31B952}"/>
              </a:ext>
            </a:extLst>
          </p:cNvPr>
          <p:cNvSpPr>
            <a:spLocks xmlns:a="http://schemas.openxmlformats.org/drawingml/2006/main" noGrp="1"/>
          </p:cNvSpPr>
          <p:nvPr/>
        </p:nvSpPr>
        <p:spPr>
          <a:xfrm xmlns:a="http://schemas.openxmlformats.org/drawingml/2006/main">
            <a:off x="1143000" y="2781300"/>
            <a:ext cx="2000250"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F187076-6D18-441B-AC98-A5AEC8ECE195}"/>
              </a:ext>
            </a:extLst>
          </p:cNvPr>
          <p:cNvSpPr>
            <a:spLocks xmlns:a="http://schemas.openxmlformats.org/drawingml/2006/main" noGrp="1"/>
          </p:cNvSpPr>
          <p:nvPr/>
        </p:nvSpPr>
        <p:spPr>
          <a:xfrm xmlns:a="http://schemas.openxmlformats.org/drawingml/2006/main">
            <a:off x="3143250" y="2781300"/>
            <a:ext cx="2000250"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B93B77C-5184-4A08-96AB-35259D07F6C6}"/>
              </a:ext>
            </a:extLst>
          </p:cNvPr>
          <p:cNvSpPr>
            <a:spLocks xmlns:a="http://schemas.openxmlformats.org/drawingml/2006/main" noGrp="1"/>
          </p:cNvSpPr>
          <p:nvPr/>
        </p:nvSpPr>
        <p:spPr>
          <a:xfrm xmlns:a="http://schemas.openxmlformats.org/drawingml/2006/main">
            <a:off x="5143500" y="2781300"/>
            <a:ext cx="2000250"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BBC55CA-6903-4D71-882D-1DAB2625B38F}"/>
              </a:ext>
            </a:extLst>
          </p:cNvPr>
          <p:cNvSpPr>
            <a:spLocks xmlns:a="http://schemas.openxmlformats.org/drawingml/2006/main" noGrp="1"/>
          </p:cNvSpPr>
          <p:nvPr/>
        </p:nvSpPr>
        <p:spPr>
          <a:xfrm xmlns:a="http://schemas.openxmlformats.org/drawingml/2006/main">
            <a:off x="7143750" y="2781300"/>
            <a:ext cx="2000250" cy="57150"/>
          </a:xfrm>
          <a:prstGeom xmlns:a="http://schemas.openxmlformats.org/drawingml/2006/main" prst="rect">
            <a:avLst/>
          </a:prstGeom>
          <a:solidFill xmlns:a="http://schemas.openxmlformats.org/drawingml/2006/main">
            <a:srgbClr val="D7DFE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2420211-82DC-43CC-9E5E-2694F5759A22}"/>
              </a:ext>
            </a:extLst>
          </p:cNvPr>
          <p:cNvSpPr>
            <a:spLocks xmlns:a="http://schemas.openxmlformats.org/drawingml/2006/main" noGrp="1"/>
          </p:cNvSpPr>
          <p:nvPr/>
        </p:nvSpPr>
        <p:spPr>
          <a:xfrm xmlns:a="http://schemas.openxmlformats.org/drawingml/2006/main">
            <a:off x="100012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0" name="">
            <a:extLst xmlns:a="http://schemas.openxmlformats.org/drawingml/2006/main">
              <a:ext uri="{FF2B5EF4-FFF2-40B4-BE49-F238E27FC236}">
                <a16:creationId xmlns:a16="http://schemas.microsoft.com/office/drawing/2014/main" id="{B5F0864F-EFF7-48DB-B8CF-17AA9066E65B}"/>
              </a:ext>
            </a:extLst>
          </p:cNvPr>
          <p:cNvSpPr>
            <a:spLocks xmlns:a="http://schemas.openxmlformats.org/drawingml/2006/main" noGrp="1"/>
          </p:cNvSpPr>
          <p:nvPr/>
        </p:nvSpPr>
        <p:spPr>
          <a:xfrm xmlns:a="http://schemas.openxmlformats.org/drawingml/2006/main">
            <a:off x="895350" y="30289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A</a:t>
            </a:r>
          </a:p>
        </p:txBody>
      </p:sp>
      <p:sp>
        <p:nvSpPr>
          <p:cNvPr id="11" name="">
            <a:extLst xmlns:a="http://schemas.openxmlformats.org/drawingml/2006/main">
              <a:ext uri="{FF2B5EF4-FFF2-40B4-BE49-F238E27FC236}">
                <a16:creationId xmlns:a16="http://schemas.microsoft.com/office/drawing/2014/main" id="{60ACCE5A-AACA-4243-861B-02F2D583D099}"/>
              </a:ext>
            </a:extLst>
          </p:cNvPr>
          <p:cNvSpPr>
            <a:spLocks xmlns:a="http://schemas.openxmlformats.org/drawingml/2006/main" noGrp="1"/>
          </p:cNvSpPr>
          <p:nvPr/>
        </p:nvSpPr>
        <p:spPr>
          <a:xfrm xmlns:a="http://schemas.openxmlformats.org/drawingml/2006/main">
            <a:off x="300037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2" name="">
            <a:extLst xmlns:a="http://schemas.openxmlformats.org/drawingml/2006/main">
              <a:ext uri="{FF2B5EF4-FFF2-40B4-BE49-F238E27FC236}">
                <a16:creationId xmlns:a16="http://schemas.microsoft.com/office/drawing/2014/main" id="{F83523D2-3E3B-43D1-AF12-D75D0F2C5FE5}"/>
              </a:ext>
            </a:extLst>
          </p:cNvPr>
          <p:cNvSpPr>
            <a:spLocks xmlns:a="http://schemas.openxmlformats.org/drawingml/2006/main" noGrp="1"/>
          </p:cNvSpPr>
          <p:nvPr/>
        </p:nvSpPr>
        <p:spPr>
          <a:xfrm xmlns:a="http://schemas.openxmlformats.org/drawingml/2006/main">
            <a:off x="2895600" y="30289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B</a:t>
            </a:r>
          </a:p>
        </p:txBody>
      </p:sp>
      <p:sp>
        <p:nvSpPr>
          <p:cNvPr id="13" name="">
            <a:extLst xmlns:a="http://schemas.openxmlformats.org/drawingml/2006/main">
              <a:ext uri="{FF2B5EF4-FFF2-40B4-BE49-F238E27FC236}">
                <a16:creationId xmlns:a16="http://schemas.microsoft.com/office/drawing/2014/main" id="{9DA43D60-B313-4E57-A45F-450EFCC30D32}"/>
              </a:ext>
            </a:extLst>
          </p:cNvPr>
          <p:cNvSpPr>
            <a:spLocks xmlns:a="http://schemas.openxmlformats.org/drawingml/2006/main" noGrp="1"/>
          </p:cNvSpPr>
          <p:nvPr/>
        </p:nvSpPr>
        <p:spPr>
          <a:xfrm xmlns:a="http://schemas.openxmlformats.org/drawingml/2006/main">
            <a:off x="500062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4" name="">
            <a:extLst xmlns:a="http://schemas.openxmlformats.org/drawingml/2006/main">
              <a:ext uri="{FF2B5EF4-FFF2-40B4-BE49-F238E27FC236}">
                <a16:creationId xmlns:a16="http://schemas.microsoft.com/office/drawing/2014/main" id="{0364149F-3B81-4DC6-A9F8-BAD5B11D8DBA}"/>
              </a:ext>
            </a:extLst>
          </p:cNvPr>
          <p:cNvSpPr>
            <a:spLocks xmlns:a="http://schemas.openxmlformats.org/drawingml/2006/main" noGrp="1"/>
          </p:cNvSpPr>
          <p:nvPr/>
        </p:nvSpPr>
        <p:spPr>
          <a:xfrm xmlns:a="http://schemas.openxmlformats.org/drawingml/2006/main">
            <a:off x="4895850" y="30289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C</a:t>
            </a:r>
          </a:p>
        </p:txBody>
      </p:sp>
      <p:sp>
        <p:nvSpPr>
          <p:cNvPr id="15" name="">
            <a:extLst xmlns:a="http://schemas.openxmlformats.org/drawingml/2006/main">
              <a:ext uri="{FF2B5EF4-FFF2-40B4-BE49-F238E27FC236}">
                <a16:creationId xmlns:a16="http://schemas.microsoft.com/office/drawing/2014/main" id="{0BE2C33E-DF7A-4EB5-8FEF-FF4DEA7A2E1F}"/>
              </a:ext>
            </a:extLst>
          </p:cNvPr>
          <p:cNvSpPr>
            <a:spLocks xmlns:a="http://schemas.openxmlformats.org/drawingml/2006/main" noGrp="1"/>
          </p:cNvSpPr>
          <p:nvPr/>
        </p:nvSpPr>
        <p:spPr>
          <a:xfrm xmlns:a="http://schemas.openxmlformats.org/drawingml/2006/main">
            <a:off x="700087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6" name="">
            <a:extLst xmlns:a="http://schemas.openxmlformats.org/drawingml/2006/main">
              <a:ext uri="{FF2B5EF4-FFF2-40B4-BE49-F238E27FC236}">
                <a16:creationId xmlns:a16="http://schemas.microsoft.com/office/drawing/2014/main" id="{A62121A1-8915-4F43-B80B-DEA2CF832E84}"/>
              </a:ext>
            </a:extLst>
          </p:cNvPr>
          <p:cNvSpPr>
            <a:spLocks xmlns:a="http://schemas.openxmlformats.org/drawingml/2006/main" noGrp="1"/>
          </p:cNvSpPr>
          <p:nvPr/>
        </p:nvSpPr>
        <p:spPr>
          <a:xfrm xmlns:a="http://schemas.openxmlformats.org/drawingml/2006/main">
            <a:off x="6896100" y="30289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D</a:t>
            </a:r>
          </a:p>
        </p:txBody>
      </p:sp>
      <p:sp>
        <p:nvSpPr>
          <p:cNvPr id="17" name="">
            <a:extLst xmlns:a="http://schemas.openxmlformats.org/drawingml/2006/main">
              <a:ext uri="{FF2B5EF4-FFF2-40B4-BE49-F238E27FC236}">
                <a16:creationId xmlns:a16="http://schemas.microsoft.com/office/drawing/2014/main" id="{46BB4039-87E0-49AC-8146-9F6F5F932A58}"/>
              </a:ext>
            </a:extLst>
          </p:cNvPr>
          <p:cNvSpPr>
            <a:spLocks xmlns:a="http://schemas.openxmlformats.org/drawingml/2006/main" noGrp="1"/>
          </p:cNvSpPr>
          <p:nvPr/>
        </p:nvSpPr>
        <p:spPr>
          <a:xfrm xmlns:a="http://schemas.openxmlformats.org/drawingml/2006/main">
            <a:off x="9001125" y="26670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8" name="">
            <a:extLst xmlns:a="http://schemas.openxmlformats.org/drawingml/2006/main">
              <a:ext uri="{FF2B5EF4-FFF2-40B4-BE49-F238E27FC236}">
                <a16:creationId xmlns:a16="http://schemas.microsoft.com/office/drawing/2014/main" id="{5545E0FF-EA4E-480E-A5E6-72E75C58FE7A}"/>
              </a:ext>
            </a:extLst>
          </p:cNvPr>
          <p:cNvSpPr>
            <a:spLocks xmlns:a="http://schemas.openxmlformats.org/drawingml/2006/main" noGrp="1"/>
          </p:cNvSpPr>
          <p:nvPr/>
        </p:nvSpPr>
        <p:spPr>
          <a:xfrm xmlns:a="http://schemas.openxmlformats.org/drawingml/2006/main">
            <a:off x="8896350" y="30289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E</a:t>
            </a:r>
          </a:p>
        </p:txBody>
      </p:sp>
      <p:sp>
        <p:nvSpPr>
          <p:cNvPr id="19" name="">
            <a:extLst xmlns:a="http://schemas.openxmlformats.org/drawingml/2006/main">
              <a:ext uri="{FF2B5EF4-FFF2-40B4-BE49-F238E27FC236}">
                <a16:creationId xmlns:a16="http://schemas.microsoft.com/office/drawing/2014/main" id="{11DA0A05-AC71-4C9A-BBD2-9BFB834E7F94}"/>
              </a:ext>
            </a:extLst>
          </p:cNvPr>
          <p:cNvSpPr>
            <a:spLocks xmlns:a="http://schemas.openxmlformats.org/drawingml/2006/main" noGrp="1"/>
          </p:cNvSpPr>
          <p:nvPr/>
        </p:nvSpPr>
        <p:spPr>
          <a:xfrm xmlns:a="http://schemas.openxmlformats.org/drawingml/2006/main">
            <a:off x="1524000" y="214312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087FBA"/>
                </a:solidFill>
                <a:latin typeface="Yu Gothic"/>
                <a:ea typeface="Yu Gothic"/>
                <a:cs typeface="Yu Gothic"/>
              </a:defRPr>
            </a:pPr>
            <a:r>
              <a:rPr sz="1875" b="0">
                <a:solidFill>
                  <a:srgbClr val="087FBA"/>
                </a:solidFill>
                <a:latin typeface="Yu Gothic"/>
                <a:ea typeface="Yu Gothic"/>
                <a:cs typeface="Yu Gothic"/>
              </a:rPr>
              <a:t>1.2 km</a:t>
            </a:r>
          </a:p>
        </p:txBody>
      </p:sp>
      <p:sp>
        <p:nvSpPr>
          <p:cNvPr id="20" name="">
            <a:extLst xmlns:a="http://schemas.openxmlformats.org/drawingml/2006/main">
              <a:ext uri="{FF2B5EF4-FFF2-40B4-BE49-F238E27FC236}">
                <a16:creationId xmlns:a16="http://schemas.microsoft.com/office/drawing/2014/main" id="{0FED1B46-F415-485A-960B-F331CEE77B05}"/>
              </a:ext>
            </a:extLst>
          </p:cNvPr>
          <p:cNvSpPr>
            <a:spLocks xmlns:a="http://schemas.openxmlformats.org/drawingml/2006/main" noGrp="1"/>
          </p:cNvSpPr>
          <p:nvPr/>
        </p:nvSpPr>
        <p:spPr>
          <a:xfrm xmlns:a="http://schemas.openxmlformats.org/drawingml/2006/main">
            <a:off x="3524250" y="214312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087FBA"/>
                </a:solidFill>
                <a:latin typeface="Yu Gothic"/>
                <a:ea typeface="Yu Gothic"/>
                <a:cs typeface="Yu Gothic"/>
              </a:defRPr>
            </a:pPr>
            <a:r>
              <a:rPr sz="1875" b="0">
                <a:solidFill>
                  <a:srgbClr val="087FBA"/>
                </a:solidFill>
                <a:latin typeface="Yu Gothic"/>
                <a:ea typeface="Yu Gothic"/>
                <a:cs typeface="Yu Gothic"/>
              </a:rPr>
              <a:t>0.8 km</a:t>
            </a:r>
          </a:p>
        </p:txBody>
      </p:sp>
      <p:sp>
        <p:nvSpPr>
          <p:cNvPr id="21" name="">
            <a:extLst xmlns:a="http://schemas.openxmlformats.org/drawingml/2006/main">
              <a:ext uri="{FF2B5EF4-FFF2-40B4-BE49-F238E27FC236}">
                <a16:creationId xmlns:a16="http://schemas.microsoft.com/office/drawing/2014/main" id="{335A2000-8B3F-47AB-A812-42489381BA70}"/>
              </a:ext>
            </a:extLst>
          </p:cNvPr>
          <p:cNvSpPr>
            <a:spLocks xmlns:a="http://schemas.openxmlformats.org/drawingml/2006/main" noGrp="1"/>
          </p:cNvSpPr>
          <p:nvPr/>
        </p:nvSpPr>
        <p:spPr>
          <a:xfrm xmlns:a="http://schemas.openxmlformats.org/drawingml/2006/main">
            <a:off x="5524500" y="214312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087FBA"/>
                </a:solidFill>
                <a:latin typeface="Yu Gothic"/>
                <a:ea typeface="Yu Gothic"/>
                <a:cs typeface="Yu Gothic"/>
              </a:defRPr>
            </a:pPr>
            <a:r>
              <a:rPr sz="1875" b="0">
                <a:solidFill>
                  <a:srgbClr val="087FBA"/>
                </a:solidFill>
                <a:latin typeface="Yu Gothic"/>
                <a:ea typeface="Yu Gothic"/>
                <a:cs typeface="Yu Gothic"/>
              </a:rPr>
              <a:t>1.5 km</a:t>
            </a:r>
          </a:p>
        </p:txBody>
      </p:sp>
      <p:sp>
        <p:nvSpPr>
          <p:cNvPr id="22" name="">
            <a:extLst xmlns:a="http://schemas.openxmlformats.org/drawingml/2006/main">
              <a:ext uri="{FF2B5EF4-FFF2-40B4-BE49-F238E27FC236}">
                <a16:creationId xmlns:a16="http://schemas.microsoft.com/office/drawing/2014/main" id="{3DBB9CC1-98F2-4E23-BA8F-F5A2BEA21417}"/>
              </a:ext>
            </a:extLst>
          </p:cNvPr>
          <p:cNvSpPr>
            <a:spLocks xmlns:a="http://schemas.openxmlformats.org/drawingml/2006/main" noGrp="1"/>
          </p:cNvSpPr>
          <p:nvPr/>
        </p:nvSpPr>
        <p:spPr>
          <a:xfrm xmlns:a="http://schemas.openxmlformats.org/drawingml/2006/main">
            <a:off x="7524750" y="214312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647987"/>
                </a:solidFill>
                <a:latin typeface="Yu Gothic"/>
                <a:ea typeface="Yu Gothic"/>
                <a:cs typeface="Yu Gothic"/>
              </a:defRPr>
            </a:pPr>
            <a:r>
              <a:rPr sz="1875" b="0">
                <a:solidFill>
                  <a:srgbClr val="647987"/>
                </a:solidFill>
                <a:latin typeface="Yu Gothic"/>
                <a:ea typeface="Yu Gothic"/>
                <a:cs typeface="Yu Gothic"/>
              </a:rPr>
              <a:t>経路外</a:t>
            </a:r>
          </a:p>
        </p:txBody>
      </p:sp>
      <p:sp>
        <p:nvSpPr>
          <p:cNvPr id="23" name="">
            <a:extLst xmlns:a="http://schemas.openxmlformats.org/drawingml/2006/main">
              <a:ext uri="{FF2B5EF4-FFF2-40B4-BE49-F238E27FC236}">
                <a16:creationId xmlns:a16="http://schemas.microsoft.com/office/drawing/2014/main" id="{A8EA84DB-BD17-4574-865A-D508F12EA815}"/>
              </a:ext>
            </a:extLst>
          </p:cNvPr>
          <p:cNvSpPr>
            <a:spLocks xmlns:a="http://schemas.openxmlformats.org/drawingml/2006/main" noGrp="1"/>
          </p:cNvSpPr>
          <p:nvPr/>
        </p:nvSpPr>
        <p:spPr>
          <a:xfrm xmlns:a="http://schemas.openxmlformats.org/drawingml/2006/main">
            <a:off x="714375" y="414337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1">
                <a:solidFill>
                  <a:srgbClr val="087FBA"/>
                </a:solidFill>
                <a:latin typeface="Yu Gothic"/>
                <a:ea typeface="Yu Gothic"/>
                <a:cs typeface="Yu Gothic"/>
              </a:defRPr>
            </a:pPr>
            <a:r>
              <a:rPr sz="2400" b="1">
                <a:solidFill>
                  <a:srgbClr val="087FBA"/>
                </a:solidFill>
                <a:latin typeface="Yu Gothic"/>
                <a:ea typeface="Yu Gothic"/>
                <a:cs typeface="Yu Gothic"/>
              </a:rPr>
              <a:t>利用区間数 m</a:t>
            </a:r>
          </a:p>
        </p:txBody>
      </p:sp>
      <p:sp>
        <p:nvSpPr>
          <p:cNvPr id="24" name="">
            <a:extLst xmlns:a="http://schemas.openxmlformats.org/drawingml/2006/main">
              <a:ext uri="{FF2B5EF4-FFF2-40B4-BE49-F238E27FC236}">
                <a16:creationId xmlns:a16="http://schemas.microsoft.com/office/drawing/2014/main" id="{C5749C59-03BD-4080-9306-6F3E6725929E}"/>
              </a:ext>
            </a:extLst>
          </p:cNvPr>
          <p:cNvSpPr>
            <a:spLocks xmlns:a="http://schemas.openxmlformats.org/drawingml/2006/main" noGrp="1"/>
          </p:cNvSpPr>
          <p:nvPr/>
        </p:nvSpPr>
        <p:spPr>
          <a:xfrm xmlns:a="http://schemas.openxmlformats.org/drawingml/2006/main">
            <a:off x="714375" y="47148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17354A"/>
                </a:solidFill>
                <a:latin typeface="Yu Gothic"/>
                <a:ea typeface="Yu Gothic"/>
                <a:cs typeface="Yu Gothic"/>
              </a:defRPr>
            </a:pPr>
            <a:r>
              <a:rPr sz="2175" b="0">
                <a:solidFill>
                  <a:srgbClr val="17354A"/>
                </a:solidFill>
                <a:latin typeface="Yu Gothic"/>
                <a:ea typeface="Yu Gothic"/>
                <a:cs typeface="Yu Gothic"/>
              </a:rPr>
              <a:t>3リンク ＝ 観測の機会が3回</a:t>
            </a:r>
          </a:p>
        </p:txBody>
      </p:sp>
      <p:sp>
        <p:nvSpPr>
          <p:cNvPr id="25" name="">
            <a:extLst xmlns:a="http://schemas.openxmlformats.org/drawingml/2006/main">
              <a:ext uri="{FF2B5EF4-FFF2-40B4-BE49-F238E27FC236}">
                <a16:creationId xmlns:a16="http://schemas.microsoft.com/office/drawing/2014/main" id="{983B75EF-68AB-4A76-A597-E6EEC9D8C821}"/>
              </a:ext>
            </a:extLst>
          </p:cNvPr>
          <p:cNvSpPr>
            <a:spLocks xmlns:a="http://schemas.openxmlformats.org/drawingml/2006/main" noGrp="1"/>
          </p:cNvSpPr>
          <p:nvPr/>
        </p:nvSpPr>
        <p:spPr>
          <a:xfrm xmlns:a="http://schemas.openxmlformats.org/drawingml/2006/main">
            <a:off x="6572250" y="4143375"/>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1">
                <a:solidFill>
                  <a:srgbClr val="087FBA"/>
                </a:solidFill>
                <a:latin typeface="Yu Gothic"/>
                <a:ea typeface="Yu Gothic"/>
                <a:cs typeface="Yu Gothic"/>
              </a:defRPr>
            </a:pPr>
            <a:r>
              <a:rPr sz="2400" b="1">
                <a:solidFill>
                  <a:srgbClr val="087FBA"/>
                </a:solidFill>
                <a:latin typeface="Yu Gothic"/>
                <a:ea typeface="Yu Gothic"/>
                <a:cs typeface="Yu Gothic"/>
              </a:rPr>
              <a:t>営業距離 d</a:t>
            </a:r>
          </a:p>
        </p:txBody>
      </p:sp>
      <p:sp>
        <p:nvSpPr>
          <p:cNvPr id="26" name="">
            <a:extLst xmlns:a="http://schemas.openxmlformats.org/drawingml/2006/main">
              <a:ext uri="{FF2B5EF4-FFF2-40B4-BE49-F238E27FC236}">
                <a16:creationId xmlns:a16="http://schemas.microsoft.com/office/drawing/2014/main" id="{8E7B3E1E-475E-4C42-921E-B192B33A0369}"/>
              </a:ext>
            </a:extLst>
          </p:cNvPr>
          <p:cNvSpPr>
            <a:spLocks xmlns:a="http://schemas.openxmlformats.org/drawingml/2006/main" noGrp="1"/>
          </p:cNvSpPr>
          <p:nvPr/>
        </p:nvSpPr>
        <p:spPr>
          <a:xfrm xmlns:a="http://schemas.openxmlformats.org/drawingml/2006/main">
            <a:off x="6572250" y="47148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17354A"/>
                </a:solidFill>
                <a:latin typeface="Yu Gothic"/>
                <a:ea typeface="Yu Gothic"/>
                <a:cs typeface="Yu Gothic"/>
              </a:defRPr>
            </a:pPr>
            <a:r>
              <a:rPr sz="2175" b="0">
                <a:solidFill>
                  <a:srgbClr val="17354A"/>
                </a:solidFill>
                <a:latin typeface="Yu Gothic"/>
                <a:ea typeface="Yu Gothic"/>
                <a:cs typeface="Yu Gothic"/>
              </a:rPr>
              <a:t>3.5 km ＝ 運賃を決める距離</a:t>
            </a:r>
          </a:p>
        </p:txBody>
      </p:sp>
      <p:sp>
        <p:nvSpPr>
          <p:cNvPr id="27" name="">
            <a:extLst xmlns:a="http://schemas.openxmlformats.org/drawingml/2006/main">
              <a:ext uri="{FF2B5EF4-FFF2-40B4-BE49-F238E27FC236}">
                <a16:creationId xmlns:a16="http://schemas.microsoft.com/office/drawing/2014/main" id="{FFC71017-38ED-4995-AECA-518011797CF6}"/>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各ODに路線内の距離最短経路を1本割り当てる</a:t>
            </a:r>
          </a:p>
        </p:txBody>
      </p:sp>
    </p:spTree>
    <p:extLst>
      <p:ext uri="{BB962C8B-B14F-4D97-AF65-F5344CB8AC3E}">
        <p14:creationId xmlns:p14="http://schemas.microsoft.com/office/powerpoint/2010/main" val="14730606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D9A39CDF-E17E-4A0E-BD1D-6EE1E5699D2F}"/>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観測は「検出したリンクの集合」</a:t>
            </a:r>
          </a:p>
        </p:txBody>
      </p:sp>
      <p:sp>
        <p:nvSpPr>
          <p:cNvPr id="2" name="">
            <a:extLst xmlns:a="http://schemas.openxmlformats.org/drawingml/2006/main">
              <a:ext uri="{FF2B5EF4-FFF2-40B4-BE49-F238E27FC236}">
                <a16:creationId xmlns:a16="http://schemas.microsoft.com/office/drawing/2014/main" id="{7CF713B6-8777-493F-825F-3B2761B48306}"/>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6EE1574-7B3D-4017-8BB1-AD5CB3B11CC0}"/>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04</a:t>
            </a:r>
          </a:p>
        </p:txBody>
      </p:sp>
      <p:sp>
        <p:nvSpPr>
          <p:cNvPr id="4" name="">
            <a:extLst xmlns:a="http://schemas.openxmlformats.org/drawingml/2006/main">
              <a:ext uri="{FF2B5EF4-FFF2-40B4-BE49-F238E27FC236}">
                <a16:creationId xmlns:a16="http://schemas.microsoft.com/office/drawing/2014/main" id="{375B8968-0B01-43A7-9F90-934BE6F5625E}"/>
              </a:ext>
            </a:extLst>
          </p:cNvPr>
          <p:cNvSpPr>
            <a:spLocks xmlns:a="http://schemas.openxmlformats.org/drawingml/2006/main" noGrp="1"/>
          </p:cNvSpPr>
          <p:nvPr/>
        </p:nvSpPr>
        <p:spPr>
          <a:xfrm xmlns:a="http://schemas.openxmlformats.org/drawingml/2006/main">
            <a:off x="571500" y="162877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087FBA"/>
                </a:solidFill>
                <a:latin typeface="Yu Gothic"/>
                <a:ea typeface="Yu Gothic"/>
                <a:cs typeface="Yu Gothic"/>
              </a:defRPr>
            </a:pPr>
            <a:r>
              <a:rPr sz="2250" b="1">
                <a:solidFill>
                  <a:srgbClr val="087FBA"/>
                </a:solidFill>
                <a:latin typeface="Yu Gothic"/>
                <a:ea typeface="Yu Gothic"/>
                <a:cs typeface="Yu Gothic"/>
              </a:rPr>
              <a:t>真の経路</a:t>
            </a:r>
          </a:p>
        </p:txBody>
      </p:sp>
      <p:sp>
        <p:nvSpPr>
          <p:cNvPr id="5" name="">
            <a:extLst xmlns:a="http://schemas.openxmlformats.org/drawingml/2006/main">
              <a:ext uri="{FF2B5EF4-FFF2-40B4-BE49-F238E27FC236}">
                <a16:creationId xmlns:a16="http://schemas.microsoft.com/office/drawing/2014/main" id="{1B2FC7A0-6B23-4B5E-8CF2-2174515B5C41}"/>
              </a:ext>
            </a:extLst>
          </p:cNvPr>
          <p:cNvSpPr>
            <a:spLocks xmlns:a="http://schemas.openxmlformats.org/drawingml/2006/main" noGrp="1"/>
          </p:cNvSpPr>
          <p:nvPr/>
        </p:nvSpPr>
        <p:spPr>
          <a:xfrm xmlns:a="http://schemas.openxmlformats.org/drawingml/2006/main">
            <a:off x="3143250" y="2295525"/>
            <a:ext cx="1809750"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2EB24B-1837-4400-8D82-D168985BE1B0}"/>
              </a:ext>
            </a:extLst>
          </p:cNvPr>
          <p:cNvSpPr>
            <a:spLocks xmlns:a="http://schemas.openxmlformats.org/drawingml/2006/main" noGrp="1"/>
          </p:cNvSpPr>
          <p:nvPr/>
        </p:nvSpPr>
        <p:spPr>
          <a:xfrm xmlns:a="http://schemas.openxmlformats.org/drawingml/2006/main">
            <a:off x="4953000" y="2295525"/>
            <a:ext cx="1809750"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845933-820A-41BF-97C7-682710EA6C7D}"/>
              </a:ext>
            </a:extLst>
          </p:cNvPr>
          <p:cNvSpPr>
            <a:spLocks xmlns:a="http://schemas.openxmlformats.org/drawingml/2006/main" noGrp="1"/>
          </p:cNvSpPr>
          <p:nvPr/>
        </p:nvSpPr>
        <p:spPr>
          <a:xfrm xmlns:a="http://schemas.openxmlformats.org/drawingml/2006/main">
            <a:off x="6762750" y="2295525"/>
            <a:ext cx="1809750"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E1BA9CB-621E-47C0-BD50-1C112292999F}"/>
              </a:ext>
            </a:extLst>
          </p:cNvPr>
          <p:cNvSpPr>
            <a:spLocks xmlns:a="http://schemas.openxmlformats.org/drawingml/2006/main" noGrp="1"/>
          </p:cNvSpPr>
          <p:nvPr/>
        </p:nvSpPr>
        <p:spPr>
          <a:xfrm xmlns:a="http://schemas.openxmlformats.org/drawingml/2006/main">
            <a:off x="8572500" y="2295525"/>
            <a:ext cx="1809750" cy="57150"/>
          </a:xfrm>
          <a:prstGeom xmlns:a="http://schemas.openxmlformats.org/drawingml/2006/main" prst="rect">
            <a:avLst/>
          </a:prstGeom>
          <a:solidFill xmlns:a="http://schemas.openxmlformats.org/drawingml/2006/main">
            <a:srgbClr val="D7DFE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3ABE164-EF70-4497-9870-BA0FEDF5F131}"/>
              </a:ext>
            </a:extLst>
          </p:cNvPr>
          <p:cNvSpPr>
            <a:spLocks xmlns:a="http://schemas.openxmlformats.org/drawingml/2006/main" noGrp="1"/>
          </p:cNvSpPr>
          <p:nvPr/>
        </p:nvSpPr>
        <p:spPr>
          <a:xfrm xmlns:a="http://schemas.openxmlformats.org/drawingml/2006/main">
            <a:off x="3000375" y="21812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0" name="">
            <a:extLst xmlns:a="http://schemas.openxmlformats.org/drawingml/2006/main">
              <a:ext uri="{FF2B5EF4-FFF2-40B4-BE49-F238E27FC236}">
                <a16:creationId xmlns:a16="http://schemas.microsoft.com/office/drawing/2014/main" id="{F23CC170-1BF6-4906-984C-0103EF10E67D}"/>
              </a:ext>
            </a:extLst>
          </p:cNvPr>
          <p:cNvSpPr>
            <a:spLocks xmlns:a="http://schemas.openxmlformats.org/drawingml/2006/main" noGrp="1"/>
          </p:cNvSpPr>
          <p:nvPr/>
        </p:nvSpPr>
        <p:spPr>
          <a:xfrm xmlns:a="http://schemas.openxmlformats.org/drawingml/2006/main">
            <a:off x="2895600" y="25431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A</a:t>
            </a:r>
          </a:p>
        </p:txBody>
      </p:sp>
      <p:sp>
        <p:nvSpPr>
          <p:cNvPr id="11" name="">
            <a:extLst xmlns:a="http://schemas.openxmlformats.org/drawingml/2006/main">
              <a:ext uri="{FF2B5EF4-FFF2-40B4-BE49-F238E27FC236}">
                <a16:creationId xmlns:a16="http://schemas.microsoft.com/office/drawing/2014/main" id="{CFC88D4C-EFAA-4B53-A51D-2DC487E39C02}"/>
              </a:ext>
            </a:extLst>
          </p:cNvPr>
          <p:cNvSpPr>
            <a:spLocks xmlns:a="http://schemas.openxmlformats.org/drawingml/2006/main" noGrp="1"/>
          </p:cNvSpPr>
          <p:nvPr/>
        </p:nvSpPr>
        <p:spPr>
          <a:xfrm xmlns:a="http://schemas.openxmlformats.org/drawingml/2006/main">
            <a:off x="4810125" y="21812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2" name="">
            <a:extLst xmlns:a="http://schemas.openxmlformats.org/drawingml/2006/main">
              <a:ext uri="{FF2B5EF4-FFF2-40B4-BE49-F238E27FC236}">
                <a16:creationId xmlns:a16="http://schemas.microsoft.com/office/drawing/2014/main" id="{C3659EA8-38F4-4AFA-BEE7-8EE162015180}"/>
              </a:ext>
            </a:extLst>
          </p:cNvPr>
          <p:cNvSpPr>
            <a:spLocks xmlns:a="http://schemas.openxmlformats.org/drawingml/2006/main" noGrp="1"/>
          </p:cNvSpPr>
          <p:nvPr/>
        </p:nvSpPr>
        <p:spPr>
          <a:xfrm xmlns:a="http://schemas.openxmlformats.org/drawingml/2006/main">
            <a:off x="4705350" y="25431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B</a:t>
            </a:r>
          </a:p>
        </p:txBody>
      </p:sp>
      <p:sp>
        <p:nvSpPr>
          <p:cNvPr id="13" name="">
            <a:extLst xmlns:a="http://schemas.openxmlformats.org/drawingml/2006/main">
              <a:ext uri="{FF2B5EF4-FFF2-40B4-BE49-F238E27FC236}">
                <a16:creationId xmlns:a16="http://schemas.microsoft.com/office/drawing/2014/main" id="{2F843C32-88E0-44C6-9667-5290EC187D3A}"/>
              </a:ext>
            </a:extLst>
          </p:cNvPr>
          <p:cNvSpPr>
            <a:spLocks xmlns:a="http://schemas.openxmlformats.org/drawingml/2006/main" noGrp="1"/>
          </p:cNvSpPr>
          <p:nvPr/>
        </p:nvSpPr>
        <p:spPr>
          <a:xfrm xmlns:a="http://schemas.openxmlformats.org/drawingml/2006/main">
            <a:off x="6619875" y="21812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4" name="">
            <a:extLst xmlns:a="http://schemas.openxmlformats.org/drawingml/2006/main">
              <a:ext uri="{FF2B5EF4-FFF2-40B4-BE49-F238E27FC236}">
                <a16:creationId xmlns:a16="http://schemas.microsoft.com/office/drawing/2014/main" id="{3EA07041-21B1-4E0A-8BCC-7BB1D34E6920}"/>
              </a:ext>
            </a:extLst>
          </p:cNvPr>
          <p:cNvSpPr>
            <a:spLocks xmlns:a="http://schemas.openxmlformats.org/drawingml/2006/main" noGrp="1"/>
          </p:cNvSpPr>
          <p:nvPr/>
        </p:nvSpPr>
        <p:spPr>
          <a:xfrm xmlns:a="http://schemas.openxmlformats.org/drawingml/2006/main">
            <a:off x="6515100" y="25431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C</a:t>
            </a:r>
          </a:p>
        </p:txBody>
      </p:sp>
      <p:sp>
        <p:nvSpPr>
          <p:cNvPr id="15" name="">
            <a:extLst xmlns:a="http://schemas.openxmlformats.org/drawingml/2006/main">
              <a:ext uri="{FF2B5EF4-FFF2-40B4-BE49-F238E27FC236}">
                <a16:creationId xmlns:a16="http://schemas.microsoft.com/office/drawing/2014/main" id="{2743150F-CB46-459B-954F-FFB0F0E2BD8A}"/>
              </a:ext>
            </a:extLst>
          </p:cNvPr>
          <p:cNvSpPr>
            <a:spLocks xmlns:a="http://schemas.openxmlformats.org/drawingml/2006/main" noGrp="1"/>
          </p:cNvSpPr>
          <p:nvPr/>
        </p:nvSpPr>
        <p:spPr>
          <a:xfrm xmlns:a="http://schemas.openxmlformats.org/drawingml/2006/main">
            <a:off x="8429625" y="21812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6" name="">
            <a:extLst xmlns:a="http://schemas.openxmlformats.org/drawingml/2006/main">
              <a:ext uri="{FF2B5EF4-FFF2-40B4-BE49-F238E27FC236}">
                <a16:creationId xmlns:a16="http://schemas.microsoft.com/office/drawing/2014/main" id="{5482FB07-6C0C-4CCB-BE04-F3DECC3C4F01}"/>
              </a:ext>
            </a:extLst>
          </p:cNvPr>
          <p:cNvSpPr>
            <a:spLocks xmlns:a="http://schemas.openxmlformats.org/drawingml/2006/main" noGrp="1"/>
          </p:cNvSpPr>
          <p:nvPr/>
        </p:nvSpPr>
        <p:spPr>
          <a:xfrm xmlns:a="http://schemas.openxmlformats.org/drawingml/2006/main">
            <a:off x="8324850" y="25431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D</a:t>
            </a:r>
          </a:p>
        </p:txBody>
      </p:sp>
      <p:sp>
        <p:nvSpPr>
          <p:cNvPr id="17" name="">
            <a:extLst xmlns:a="http://schemas.openxmlformats.org/drawingml/2006/main">
              <a:ext uri="{FF2B5EF4-FFF2-40B4-BE49-F238E27FC236}">
                <a16:creationId xmlns:a16="http://schemas.microsoft.com/office/drawing/2014/main" id="{402B2F5D-B9FE-4028-8330-68502F6AAC23}"/>
              </a:ext>
            </a:extLst>
          </p:cNvPr>
          <p:cNvSpPr>
            <a:spLocks xmlns:a="http://schemas.openxmlformats.org/drawingml/2006/main" noGrp="1"/>
          </p:cNvSpPr>
          <p:nvPr/>
        </p:nvSpPr>
        <p:spPr>
          <a:xfrm xmlns:a="http://schemas.openxmlformats.org/drawingml/2006/main">
            <a:off x="10239375" y="21812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8" name="">
            <a:extLst xmlns:a="http://schemas.openxmlformats.org/drawingml/2006/main">
              <a:ext uri="{FF2B5EF4-FFF2-40B4-BE49-F238E27FC236}">
                <a16:creationId xmlns:a16="http://schemas.microsoft.com/office/drawing/2014/main" id="{A3553808-67FA-44AC-8513-934D10C72798}"/>
              </a:ext>
            </a:extLst>
          </p:cNvPr>
          <p:cNvSpPr>
            <a:spLocks xmlns:a="http://schemas.openxmlformats.org/drawingml/2006/main" noGrp="1"/>
          </p:cNvSpPr>
          <p:nvPr/>
        </p:nvSpPr>
        <p:spPr>
          <a:xfrm xmlns:a="http://schemas.openxmlformats.org/drawingml/2006/main">
            <a:off x="10134600" y="25431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E</a:t>
            </a:r>
          </a:p>
        </p:txBody>
      </p:sp>
      <p:sp>
        <p:nvSpPr>
          <p:cNvPr id="19" name="">
            <a:extLst xmlns:a="http://schemas.openxmlformats.org/drawingml/2006/main">
              <a:ext uri="{FF2B5EF4-FFF2-40B4-BE49-F238E27FC236}">
                <a16:creationId xmlns:a16="http://schemas.microsoft.com/office/drawing/2014/main" id="{C31DC0ED-985E-404F-BEDA-7868BED75EB6}"/>
              </a:ext>
            </a:extLst>
          </p:cNvPr>
          <p:cNvSpPr>
            <a:spLocks xmlns:a="http://schemas.openxmlformats.org/drawingml/2006/main" noGrp="1"/>
          </p:cNvSpPr>
          <p:nvPr/>
        </p:nvSpPr>
        <p:spPr>
          <a:xfrm xmlns:a="http://schemas.openxmlformats.org/drawingml/2006/main">
            <a:off x="571500" y="366712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D77824"/>
                </a:solidFill>
                <a:latin typeface="Yu Gothic"/>
                <a:ea typeface="Yu Gothic"/>
                <a:cs typeface="Yu Gothic"/>
              </a:defRPr>
            </a:pPr>
            <a:r>
              <a:rPr sz="2250" b="1">
                <a:solidFill>
                  <a:srgbClr val="D77824"/>
                </a:solidFill>
                <a:latin typeface="Yu Gothic"/>
                <a:ea typeface="Yu Gothic"/>
                <a:cs typeface="Yu Gothic"/>
              </a:rPr>
              <a:t>今回の観測</a:t>
            </a:r>
          </a:p>
        </p:txBody>
      </p:sp>
      <p:sp>
        <p:nvSpPr>
          <p:cNvPr id="20" name="">
            <a:extLst xmlns:a="http://schemas.openxmlformats.org/drawingml/2006/main">
              <a:ext uri="{FF2B5EF4-FFF2-40B4-BE49-F238E27FC236}">
                <a16:creationId xmlns:a16="http://schemas.microsoft.com/office/drawing/2014/main" id="{BFDEEAC1-EEA2-4BEA-907B-E890DBB44039}"/>
              </a:ext>
            </a:extLst>
          </p:cNvPr>
          <p:cNvSpPr>
            <a:spLocks xmlns:a="http://schemas.openxmlformats.org/drawingml/2006/main" noGrp="1"/>
          </p:cNvSpPr>
          <p:nvPr/>
        </p:nvSpPr>
        <p:spPr>
          <a:xfrm xmlns:a="http://schemas.openxmlformats.org/drawingml/2006/main">
            <a:off x="3143250" y="4333875"/>
            <a:ext cx="1809750"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72DE889-F338-4328-B96A-5624964512D2}"/>
              </a:ext>
            </a:extLst>
          </p:cNvPr>
          <p:cNvSpPr>
            <a:spLocks xmlns:a="http://schemas.openxmlformats.org/drawingml/2006/main" noGrp="1"/>
          </p:cNvSpPr>
          <p:nvPr/>
        </p:nvSpPr>
        <p:spPr>
          <a:xfrm xmlns:a="http://schemas.openxmlformats.org/drawingml/2006/main">
            <a:off x="3905250" y="4219575"/>
            <a:ext cx="285750" cy="285750"/>
          </a:xfrm>
          <a:prstGeom xmlns:a="http://schemas.openxmlformats.org/drawingml/2006/main" prst="ellipse">
            <a:avLst/>
          </a:prstGeom>
          <a:solidFill xmlns:a="http://schemas.openxmlformats.org/drawingml/2006/main">
            <a:srgbClr val="D7782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094D97E-82F9-4C47-A8C8-A3385C49E06D}"/>
              </a:ext>
            </a:extLst>
          </p:cNvPr>
          <p:cNvSpPr>
            <a:spLocks xmlns:a="http://schemas.openxmlformats.org/drawingml/2006/main" noGrp="1"/>
          </p:cNvSpPr>
          <p:nvPr/>
        </p:nvSpPr>
        <p:spPr>
          <a:xfrm xmlns:a="http://schemas.openxmlformats.org/drawingml/2006/main">
            <a:off x="4953000" y="4333875"/>
            <a:ext cx="1809750" cy="57150"/>
          </a:xfrm>
          <a:prstGeom xmlns:a="http://schemas.openxmlformats.org/drawingml/2006/main" prst="rect">
            <a:avLst/>
          </a:prstGeom>
          <a:solidFill xmlns:a="http://schemas.openxmlformats.org/drawingml/2006/main">
            <a:srgbClr val="D7DFE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354BFAB-361D-498C-BC0D-23E82716F7A2}"/>
              </a:ext>
            </a:extLst>
          </p:cNvPr>
          <p:cNvSpPr>
            <a:spLocks xmlns:a="http://schemas.openxmlformats.org/drawingml/2006/main" noGrp="1"/>
          </p:cNvSpPr>
          <p:nvPr/>
        </p:nvSpPr>
        <p:spPr>
          <a:xfrm xmlns:a="http://schemas.openxmlformats.org/drawingml/2006/main">
            <a:off x="6762750" y="4333875"/>
            <a:ext cx="1809750"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978371B-6A41-4A3A-9170-F2BC2AE06E94}"/>
              </a:ext>
            </a:extLst>
          </p:cNvPr>
          <p:cNvSpPr>
            <a:spLocks xmlns:a="http://schemas.openxmlformats.org/drawingml/2006/main" noGrp="1"/>
          </p:cNvSpPr>
          <p:nvPr/>
        </p:nvSpPr>
        <p:spPr>
          <a:xfrm xmlns:a="http://schemas.openxmlformats.org/drawingml/2006/main">
            <a:off x="7524750" y="4219575"/>
            <a:ext cx="285750" cy="285750"/>
          </a:xfrm>
          <a:prstGeom xmlns:a="http://schemas.openxmlformats.org/drawingml/2006/main" prst="ellipse">
            <a:avLst/>
          </a:prstGeom>
          <a:solidFill xmlns:a="http://schemas.openxmlformats.org/drawingml/2006/main">
            <a:srgbClr val="D77824"/>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C0567DD-941F-444E-8286-B21F5E96EF10}"/>
              </a:ext>
            </a:extLst>
          </p:cNvPr>
          <p:cNvSpPr>
            <a:spLocks xmlns:a="http://schemas.openxmlformats.org/drawingml/2006/main" noGrp="1"/>
          </p:cNvSpPr>
          <p:nvPr/>
        </p:nvSpPr>
        <p:spPr>
          <a:xfrm xmlns:a="http://schemas.openxmlformats.org/drawingml/2006/main">
            <a:off x="8572500" y="4333875"/>
            <a:ext cx="1809750" cy="57150"/>
          </a:xfrm>
          <a:prstGeom xmlns:a="http://schemas.openxmlformats.org/drawingml/2006/main" prst="rect">
            <a:avLst/>
          </a:prstGeom>
          <a:solidFill xmlns:a="http://schemas.openxmlformats.org/drawingml/2006/main">
            <a:srgbClr val="D7DFE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36A8E47-2CCA-42D6-85FA-6654762C87AF}"/>
              </a:ext>
            </a:extLst>
          </p:cNvPr>
          <p:cNvSpPr>
            <a:spLocks xmlns:a="http://schemas.openxmlformats.org/drawingml/2006/main" noGrp="1"/>
          </p:cNvSpPr>
          <p:nvPr/>
        </p:nvSpPr>
        <p:spPr>
          <a:xfrm xmlns:a="http://schemas.openxmlformats.org/drawingml/2006/main">
            <a:off x="3000375" y="421957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27" name="">
            <a:extLst xmlns:a="http://schemas.openxmlformats.org/drawingml/2006/main">
              <a:ext uri="{FF2B5EF4-FFF2-40B4-BE49-F238E27FC236}">
                <a16:creationId xmlns:a16="http://schemas.microsoft.com/office/drawing/2014/main" id="{4FD7E560-CCB3-4B60-829F-D9F4EE307721}"/>
              </a:ext>
            </a:extLst>
          </p:cNvPr>
          <p:cNvSpPr>
            <a:spLocks xmlns:a="http://schemas.openxmlformats.org/drawingml/2006/main" noGrp="1"/>
          </p:cNvSpPr>
          <p:nvPr/>
        </p:nvSpPr>
        <p:spPr>
          <a:xfrm xmlns:a="http://schemas.openxmlformats.org/drawingml/2006/main">
            <a:off x="2895600" y="458152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A</a:t>
            </a:r>
          </a:p>
        </p:txBody>
      </p:sp>
      <p:sp>
        <p:nvSpPr>
          <p:cNvPr id="28" name="">
            <a:extLst xmlns:a="http://schemas.openxmlformats.org/drawingml/2006/main">
              <a:ext uri="{FF2B5EF4-FFF2-40B4-BE49-F238E27FC236}">
                <a16:creationId xmlns:a16="http://schemas.microsoft.com/office/drawing/2014/main" id="{942CE664-60BC-4F8A-BFCE-48039452E423}"/>
              </a:ext>
            </a:extLst>
          </p:cNvPr>
          <p:cNvSpPr>
            <a:spLocks xmlns:a="http://schemas.openxmlformats.org/drawingml/2006/main" noGrp="1"/>
          </p:cNvSpPr>
          <p:nvPr/>
        </p:nvSpPr>
        <p:spPr>
          <a:xfrm xmlns:a="http://schemas.openxmlformats.org/drawingml/2006/main">
            <a:off x="4810125" y="421957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29" name="">
            <a:extLst xmlns:a="http://schemas.openxmlformats.org/drawingml/2006/main">
              <a:ext uri="{FF2B5EF4-FFF2-40B4-BE49-F238E27FC236}">
                <a16:creationId xmlns:a16="http://schemas.microsoft.com/office/drawing/2014/main" id="{1F2FD9F2-2390-4001-95E4-5D9EEC994180}"/>
              </a:ext>
            </a:extLst>
          </p:cNvPr>
          <p:cNvSpPr>
            <a:spLocks xmlns:a="http://schemas.openxmlformats.org/drawingml/2006/main" noGrp="1"/>
          </p:cNvSpPr>
          <p:nvPr/>
        </p:nvSpPr>
        <p:spPr>
          <a:xfrm xmlns:a="http://schemas.openxmlformats.org/drawingml/2006/main">
            <a:off x="4705350" y="458152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B</a:t>
            </a:r>
          </a:p>
        </p:txBody>
      </p:sp>
      <p:sp>
        <p:nvSpPr>
          <p:cNvPr id="30" name="">
            <a:extLst xmlns:a="http://schemas.openxmlformats.org/drawingml/2006/main">
              <a:ext uri="{FF2B5EF4-FFF2-40B4-BE49-F238E27FC236}">
                <a16:creationId xmlns:a16="http://schemas.microsoft.com/office/drawing/2014/main" id="{4DE48C66-9F50-4319-A124-CE418B126C36}"/>
              </a:ext>
            </a:extLst>
          </p:cNvPr>
          <p:cNvSpPr>
            <a:spLocks xmlns:a="http://schemas.openxmlformats.org/drawingml/2006/main" noGrp="1"/>
          </p:cNvSpPr>
          <p:nvPr/>
        </p:nvSpPr>
        <p:spPr>
          <a:xfrm xmlns:a="http://schemas.openxmlformats.org/drawingml/2006/main">
            <a:off x="6619875" y="421957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31" name="">
            <a:extLst xmlns:a="http://schemas.openxmlformats.org/drawingml/2006/main">
              <a:ext uri="{FF2B5EF4-FFF2-40B4-BE49-F238E27FC236}">
                <a16:creationId xmlns:a16="http://schemas.microsoft.com/office/drawing/2014/main" id="{1FFA4586-1C2B-495B-9A9A-34B76B2608AE}"/>
              </a:ext>
            </a:extLst>
          </p:cNvPr>
          <p:cNvSpPr>
            <a:spLocks xmlns:a="http://schemas.openxmlformats.org/drawingml/2006/main" noGrp="1"/>
          </p:cNvSpPr>
          <p:nvPr/>
        </p:nvSpPr>
        <p:spPr>
          <a:xfrm xmlns:a="http://schemas.openxmlformats.org/drawingml/2006/main">
            <a:off x="6515100" y="458152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C</a:t>
            </a:r>
          </a:p>
        </p:txBody>
      </p:sp>
      <p:sp>
        <p:nvSpPr>
          <p:cNvPr id="32" name="">
            <a:extLst xmlns:a="http://schemas.openxmlformats.org/drawingml/2006/main">
              <a:ext uri="{FF2B5EF4-FFF2-40B4-BE49-F238E27FC236}">
                <a16:creationId xmlns:a16="http://schemas.microsoft.com/office/drawing/2014/main" id="{71F9D462-D6A2-46FD-9603-FCA33B5FB61C}"/>
              </a:ext>
            </a:extLst>
          </p:cNvPr>
          <p:cNvSpPr>
            <a:spLocks xmlns:a="http://schemas.openxmlformats.org/drawingml/2006/main" noGrp="1"/>
          </p:cNvSpPr>
          <p:nvPr/>
        </p:nvSpPr>
        <p:spPr>
          <a:xfrm xmlns:a="http://schemas.openxmlformats.org/drawingml/2006/main">
            <a:off x="8429625" y="421957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33" name="">
            <a:extLst xmlns:a="http://schemas.openxmlformats.org/drawingml/2006/main">
              <a:ext uri="{FF2B5EF4-FFF2-40B4-BE49-F238E27FC236}">
                <a16:creationId xmlns:a16="http://schemas.microsoft.com/office/drawing/2014/main" id="{ADF886A4-137B-45E7-9A8E-45303018012E}"/>
              </a:ext>
            </a:extLst>
          </p:cNvPr>
          <p:cNvSpPr>
            <a:spLocks xmlns:a="http://schemas.openxmlformats.org/drawingml/2006/main" noGrp="1"/>
          </p:cNvSpPr>
          <p:nvPr/>
        </p:nvSpPr>
        <p:spPr>
          <a:xfrm xmlns:a="http://schemas.openxmlformats.org/drawingml/2006/main">
            <a:off x="8324850" y="458152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D</a:t>
            </a:r>
          </a:p>
        </p:txBody>
      </p:sp>
      <p:sp>
        <p:nvSpPr>
          <p:cNvPr id="34" name="">
            <a:extLst xmlns:a="http://schemas.openxmlformats.org/drawingml/2006/main">
              <a:ext uri="{FF2B5EF4-FFF2-40B4-BE49-F238E27FC236}">
                <a16:creationId xmlns:a16="http://schemas.microsoft.com/office/drawing/2014/main" id="{D89CE0AB-497A-45C7-9A60-5F662586F210}"/>
              </a:ext>
            </a:extLst>
          </p:cNvPr>
          <p:cNvSpPr>
            <a:spLocks xmlns:a="http://schemas.openxmlformats.org/drawingml/2006/main" noGrp="1"/>
          </p:cNvSpPr>
          <p:nvPr/>
        </p:nvSpPr>
        <p:spPr>
          <a:xfrm xmlns:a="http://schemas.openxmlformats.org/drawingml/2006/main">
            <a:off x="10239375" y="421957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35" name="">
            <a:extLst xmlns:a="http://schemas.openxmlformats.org/drawingml/2006/main">
              <a:ext uri="{FF2B5EF4-FFF2-40B4-BE49-F238E27FC236}">
                <a16:creationId xmlns:a16="http://schemas.microsoft.com/office/drawing/2014/main" id="{87C6D98F-6730-4B94-B05A-EDC3BFBC0E7A}"/>
              </a:ext>
            </a:extLst>
          </p:cNvPr>
          <p:cNvSpPr>
            <a:spLocks xmlns:a="http://schemas.openxmlformats.org/drawingml/2006/main" noGrp="1"/>
          </p:cNvSpPr>
          <p:nvPr/>
        </p:nvSpPr>
        <p:spPr>
          <a:xfrm xmlns:a="http://schemas.openxmlformats.org/drawingml/2006/main">
            <a:off x="10134600" y="458152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E</a:t>
            </a:r>
          </a:p>
        </p:txBody>
      </p:sp>
      <p:sp>
        <p:nvSpPr>
          <p:cNvPr id="36" name="">
            <a:extLst xmlns:a="http://schemas.openxmlformats.org/drawingml/2006/main">
              <a:ext uri="{FF2B5EF4-FFF2-40B4-BE49-F238E27FC236}">
                <a16:creationId xmlns:a16="http://schemas.microsoft.com/office/drawing/2014/main" id="{4F7DA3C6-85DE-493E-B25D-B1F70A87A6AA}"/>
              </a:ext>
            </a:extLst>
          </p:cNvPr>
          <p:cNvSpPr>
            <a:spLocks xmlns:a="http://schemas.openxmlformats.org/drawingml/2006/main" noGrp="1"/>
          </p:cNvSpPr>
          <p:nvPr/>
        </p:nvSpPr>
        <p:spPr>
          <a:xfrm xmlns:a="http://schemas.openxmlformats.org/drawingml/2006/main">
            <a:off x="3714750" y="361950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D77824"/>
                </a:solidFill>
                <a:latin typeface="Yu Gothic"/>
                <a:ea typeface="Yu Gothic"/>
                <a:cs typeface="Yu Gothic"/>
              </a:defRPr>
            </a:pPr>
            <a:r>
              <a:rPr sz="1875" b="1">
                <a:solidFill>
                  <a:srgbClr val="D77824"/>
                </a:solidFill>
                <a:latin typeface="Yu Gothic"/>
                <a:ea typeface="Yu Gothic"/>
                <a:cs typeface="Yu Gothic"/>
              </a:rPr>
              <a:t>検出</a:t>
            </a:r>
          </a:p>
        </p:txBody>
      </p:sp>
      <p:sp>
        <p:nvSpPr>
          <p:cNvPr id="37" name="">
            <a:extLst xmlns:a="http://schemas.openxmlformats.org/drawingml/2006/main">
              <a:ext uri="{FF2B5EF4-FFF2-40B4-BE49-F238E27FC236}">
                <a16:creationId xmlns:a16="http://schemas.microsoft.com/office/drawing/2014/main" id="{4C9B40EB-D179-4ABB-80C1-B72C3357F29C}"/>
              </a:ext>
            </a:extLst>
          </p:cNvPr>
          <p:cNvSpPr>
            <a:spLocks xmlns:a="http://schemas.openxmlformats.org/drawingml/2006/main" noGrp="1"/>
          </p:cNvSpPr>
          <p:nvPr/>
        </p:nvSpPr>
        <p:spPr>
          <a:xfrm xmlns:a="http://schemas.openxmlformats.org/drawingml/2006/main">
            <a:off x="5524500" y="361950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647987"/>
                </a:solidFill>
                <a:latin typeface="Yu Gothic"/>
                <a:ea typeface="Yu Gothic"/>
                <a:cs typeface="Yu Gothic"/>
              </a:defRPr>
            </a:pPr>
            <a:r>
              <a:rPr sz="1875" b="1">
                <a:solidFill>
                  <a:srgbClr val="647987"/>
                </a:solidFill>
                <a:latin typeface="Yu Gothic"/>
                <a:ea typeface="Yu Gothic"/>
                <a:cs typeface="Yu Gothic"/>
              </a:rPr>
              <a:t>見逃し</a:t>
            </a:r>
          </a:p>
        </p:txBody>
      </p:sp>
      <p:sp>
        <p:nvSpPr>
          <p:cNvPr id="38" name="">
            <a:extLst xmlns:a="http://schemas.openxmlformats.org/drawingml/2006/main">
              <a:ext uri="{FF2B5EF4-FFF2-40B4-BE49-F238E27FC236}">
                <a16:creationId xmlns:a16="http://schemas.microsoft.com/office/drawing/2014/main" id="{5A0C07D7-53D1-41A3-A08E-5F778A89A495}"/>
              </a:ext>
            </a:extLst>
          </p:cNvPr>
          <p:cNvSpPr>
            <a:spLocks xmlns:a="http://schemas.openxmlformats.org/drawingml/2006/main" noGrp="1"/>
          </p:cNvSpPr>
          <p:nvPr/>
        </p:nvSpPr>
        <p:spPr>
          <a:xfrm xmlns:a="http://schemas.openxmlformats.org/drawingml/2006/main">
            <a:off x="7334250" y="361950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D77824"/>
                </a:solidFill>
                <a:latin typeface="Yu Gothic"/>
                <a:ea typeface="Yu Gothic"/>
                <a:cs typeface="Yu Gothic"/>
              </a:defRPr>
            </a:pPr>
            <a:r>
              <a:rPr sz="1875" b="1">
                <a:solidFill>
                  <a:srgbClr val="D77824"/>
                </a:solidFill>
                <a:latin typeface="Yu Gothic"/>
                <a:ea typeface="Yu Gothic"/>
                <a:cs typeface="Yu Gothic"/>
              </a:rPr>
              <a:t>検出</a:t>
            </a:r>
          </a:p>
        </p:txBody>
      </p:sp>
      <p:sp>
        <p:nvSpPr>
          <p:cNvPr id="39" name="">
            <a:extLst xmlns:a="http://schemas.openxmlformats.org/drawingml/2006/main">
              <a:ext uri="{FF2B5EF4-FFF2-40B4-BE49-F238E27FC236}">
                <a16:creationId xmlns:a16="http://schemas.microsoft.com/office/drawing/2014/main" id="{9164D1A8-0EC3-448C-8995-87CF8F509E1F}"/>
              </a:ext>
            </a:extLst>
          </p:cNvPr>
          <p:cNvSpPr>
            <a:spLocks xmlns:a="http://schemas.openxmlformats.org/drawingml/2006/main" noGrp="1"/>
          </p:cNvSpPr>
          <p:nvPr/>
        </p:nvSpPr>
        <p:spPr>
          <a:xfrm xmlns:a="http://schemas.openxmlformats.org/drawingml/2006/main">
            <a:off x="571500" y="51244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0">
                <a:solidFill>
                  <a:srgbClr val="17354A"/>
                </a:solidFill>
                <a:latin typeface="Yu Gothic"/>
                <a:ea typeface="Yu Gothic"/>
                <a:cs typeface="Yu Gothic"/>
              </a:defRPr>
            </a:pPr>
            <a:r>
              <a:rPr sz="2250" b="0">
                <a:solidFill>
                  <a:srgbClr val="17354A"/>
                </a:solidFill>
                <a:latin typeface="Yu Gothic"/>
                <a:ea typeface="Yu Gothic"/>
                <a:cs typeface="Yu Gothic"/>
              </a:rPr>
              <a:t>経路上：独立に確率 p で検出</a:t>
            </a:r>
          </a:p>
        </p:txBody>
      </p:sp>
      <p:sp>
        <p:nvSpPr>
          <p:cNvPr id="40" name="">
            <a:extLst xmlns:a="http://schemas.openxmlformats.org/drawingml/2006/main">
              <a:ext uri="{FF2B5EF4-FFF2-40B4-BE49-F238E27FC236}">
                <a16:creationId xmlns:a16="http://schemas.microsoft.com/office/drawing/2014/main" id="{656246E9-9D21-4AC1-A377-5FBFE25B98DC}"/>
              </a:ext>
            </a:extLst>
          </p:cNvPr>
          <p:cNvSpPr>
            <a:spLocks xmlns:a="http://schemas.openxmlformats.org/drawingml/2006/main" noGrp="1"/>
          </p:cNvSpPr>
          <p:nvPr/>
        </p:nvSpPr>
        <p:spPr>
          <a:xfrm xmlns:a="http://schemas.openxmlformats.org/drawingml/2006/main">
            <a:off x="6858000" y="51244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0">
                <a:solidFill>
                  <a:srgbClr val="17354A"/>
                </a:solidFill>
                <a:latin typeface="Yu Gothic"/>
                <a:ea typeface="Yu Gothic"/>
                <a:cs typeface="Yu Gothic"/>
              </a:defRPr>
            </a:pPr>
            <a:r>
              <a:rPr sz="2250" b="0">
                <a:solidFill>
                  <a:srgbClr val="17354A"/>
                </a:solidFill>
                <a:latin typeface="Yu Gothic"/>
                <a:ea typeface="Yu Gothic"/>
                <a:cs typeface="Yu Gothic"/>
              </a:rPr>
              <a:t>経路外：誤検出 0</a:t>
            </a:r>
          </a:p>
        </p:txBody>
      </p:sp>
      <p:sp>
        <p:nvSpPr>
          <p:cNvPr id="41" name="">
            <a:extLst xmlns:a="http://schemas.openxmlformats.org/drawingml/2006/main">
              <a:ext uri="{FF2B5EF4-FFF2-40B4-BE49-F238E27FC236}">
                <a16:creationId xmlns:a16="http://schemas.microsoft.com/office/drawing/2014/main" id="{8379C917-44C4-4AB4-B5DE-3391C52C9635}"/>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O = {AB, CD}　観測の順序・時刻・移動方向は用いない</a:t>
            </a:r>
          </a:p>
        </p:txBody>
      </p:sp>
    </p:spTree>
    <p:extLst>
      <p:ext uri="{BB962C8B-B14F-4D97-AF65-F5344CB8AC3E}">
        <p14:creationId xmlns:p14="http://schemas.microsoft.com/office/powerpoint/2010/main" val="2178250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
            <a:extLst xmlns:a="http://schemas.openxmlformats.org/drawingml/2006/main">
              <a:ext uri="{FF2B5EF4-FFF2-40B4-BE49-F238E27FC236}">
                <a16:creationId xmlns:a16="http://schemas.microsoft.com/office/drawing/2014/main" id="{7A768471-0E11-49F2-BDCA-1C8E26929836}"/>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同じ観測を説明するODは複数ある</a:t>
            </a:r>
          </a:p>
        </p:txBody>
      </p:sp>
      <p:sp>
        <p:nvSpPr>
          <p:cNvPr id="2" name="">
            <a:extLst xmlns:a="http://schemas.openxmlformats.org/drawingml/2006/main">
              <a:ext uri="{FF2B5EF4-FFF2-40B4-BE49-F238E27FC236}">
                <a16:creationId xmlns:a16="http://schemas.microsoft.com/office/drawing/2014/main" id="{BA00B1CC-8427-4C63-A74C-D094A9709402}"/>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CA7E62-3FC2-430F-A354-4A8992CC3758}"/>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05</a:t>
            </a:r>
          </a:p>
        </p:txBody>
      </p:sp>
      <p:sp>
        <p:nvSpPr>
          <p:cNvPr id="4" name="">
            <a:extLst xmlns:a="http://schemas.openxmlformats.org/drawingml/2006/main">
              <a:ext uri="{FF2B5EF4-FFF2-40B4-BE49-F238E27FC236}">
                <a16:creationId xmlns:a16="http://schemas.microsoft.com/office/drawing/2014/main" id="{B6D76CEC-7855-401E-B5D0-CE01D12D64B7}"/>
              </a:ext>
            </a:extLst>
          </p:cNvPr>
          <p:cNvSpPr>
            <a:spLocks xmlns:a="http://schemas.openxmlformats.org/drawingml/2006/main" noGrp="1"/>
          </p:cNvSpPr>
          <p:nvPr/>
        </p:nvSpPr>
        <p:spPr>
          <a:xfrm xmlns:a="http://schemas.openxmlformats.org/drawingml/2006/main">
            <a:off x="571500" y="144780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75" b="1">
                <a:solidFill>
                  <a:srgbClr val="D77824"/>
                </a:solidFill>
                <a:latin typeface="Yu Gothic"/>
                <a:ea typeface="Yu Gothic"/>
                <a:cs typeface="Yu Gothic"/>
              </a:defRPr>
            </a:pPr>
            <a:r>
              <a:rPr sz="2475" b="1">
                <a:solidFill>
                  <a:srgbClr val="D77824"/>
                </a:solidFill>
                <a:latin typeface="Yu Gothic"/>
                <a:ea typeface="Yu Gothic"/>
                <a:cs typeface="Yu Gothic"/>
              </a:rPr>
              <a:t>観測 O = {BC, CD}</a:t>
            </a:r>
          </a:p>
        </p:txBody>
      </p:sp>
      <p:sp>
        <p:nvSpPr>
          <p:cNvPr id="5" name="">
            <a:extLst xmlns:a="http://schemas.openxmlformats.org/drawingml/2006/main">
              <a:ext uri="{FF2B5EF4-FFF2-40B4-BE49-F238E27FC236}">
                <a16:creationId xmlns:a16="http://schemas.microsoft.com/office/drawing/2014/main" id="{C0CDAA78-AC36-448C-A5F8-003BCBDA4C5E}"/>
              </a:ext>
            </a:extLst>
          </p:cNvPr>
          <p:cNvSpPr>
            <a:spLocks xmlns:a="http://schemas.openxmlformats.org/drawingml/2006/main" noGrp="1"/>
          </p:cNvSpPr>
          <p:nvPr/>
        </p:nvSpPr>
        <p:spPr>
          <a:xfrm xmlns:a="http://schemas.openxmlformats.org/drawingml/2006/main">
            <a:off x="571500" y="238125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候補① B→D</a:t>
            </a:r>
          </a:p>
        </p:txBody>
      </p:sp>
      <p:sp>
        <p:nvSpPr>
          <p:cNvPr id="6" name="">
            <a:extLst xmlns:a="http://schemas.openxmlformats.org/drawingml/2006/main">
              <a:ext uri="{FF2B5EF4-FFF2-40B4-BE49-F238E27FC236}">
                <a16:creationId xmlns:a16="http://schemas.microsoft.com/office/drawing/2014/main" id="{5725721A-6FEF-4FFE-8955-8E4F97D608B6}"/>
              </a:ext>
            </a:extLst>
          </p:cNvPr>
          <p:cNvSpPr>
            <a:spLocks xmlns:a="http://schemas.openxmlformats.org/drawingml/2006/main" noGrp="1"/>
          </p:cNvSpPr>
          <p:nvPr/>
        </p:nvSpPr>
        <p:spPr>
          <a:xfrm xmlns:a="http://schemas.openxmlformats.org/drawingml/2006/main">
            <a:off x="571500" y="361950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候補② A→E</a:t>
            </a:r>
          </a:p>
        </p:txBody>
      </p:sp>
      <p:sp>
        <p:nvSpPr>
          <p:cNvPr id="7" name="">
            <a:extLst xmlns:a="http://schemas.openxmlformats.org/drawingml/2006/main">
              <a:ext uri="{FF2B5EF4-FFF2-40B4-BE49-F238E27FC236}">
                <a16:creationId xmlns:a16="http://schemas.microsoft.com/office/drawing/2014/main" id="{1EF5DE39-8DF8-4729-935E-E38E6C8900A5}"/>
              </a:ext>
            </a:extLst>
          </p:cNvPr>
          <p:cNvSpPr>
            <a:spLocks xmlns:a="http://schemas.openxmlformats.org/drawingml/2006/main" noGrp="1"/>
          </p:cNvSpPr>
          <p:nvPr/>
        </p:nvSpPr>
        <p:spPr>
          <a:xfrm xmlns:a="http://schemas.openxmlformats.org/drawingml/2006/main">
            <a:off x="571500" y="4857750"/>
            <a:ext cx="261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候補③ A→C</a:t>
            </a:r>
          </a:p>
        </p:txBody>
      </p:sp>
      <p:sp>
        <p:nvSpPr>
          <p:cNvPr id="8" name="">
            <a:extLst xmlns:a="http://schemas.openxmlformats.org/drawingml/2006/main">
              <a:ext uri="{FF2B5EF4-FFF2-40B4-BE49-F238E27FC236}">
                <a16:creationId xmlns:a16="http://schemas.microsoft.com/office/drawing/2014/main" id="{098D56EE-53D7-4A90-99F1-F35F8F36D361}"/>
              </a:ext>
            </a:extLst>
          </p:cNvPr>
          <p:cNvSpPr>
            <a:spLocks xmlns:a="http://schemas.openxmlformats.org/drawingml/2006/main" noGrp="1"/>
          </p:cNvSpPr>
          <p:nvPr/>
        </p:nvSpPr>
        <p:spPr>
          <a:xfrm xmlns:a="http://schemas.openxmlformats.org/drawingml/2006/main">
            <a:off x="3905250" y="2590800"/>
            <a:ext cx="1381125" cy="57150"/>
          </a:xfrm>
          <a:prstGeom xmlns:a="http://schemas.openxmlformats.org/drawingml/2006/main" prst="rect">
            <a:avLst/>
          </a:prstGeom>
          <a:solidFill xmlns:a="http://schemas.openxmlformats.org/drawingml/2006/main">
            <a:srgbClr val="D7DFE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E81BC77-DC60-4443-AF55-AA6F9EB6CA8D}"/>
              </a:ext>
            </a:extLst>
          </p:cNvPr>
          <p:cNvSpPr>
            <a:spLocks xmlns:a="http://schemas.openxmlformats.org/drawingml/2006/main" noGrp="1"/>
          </p:cNvSpPr>
          <p:nvPr/>
        </p:nvSpPr>
        <p:spPr>
          <a:xfrm xmlns:a="http://schemas.openxmlformats.org/drawingml/2006/main">
            <a:off x="5286375" y="2590800"/>
            <a:ext cx="1381125"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F8B6968-A0EC-43CF-8616-C80DAACC2E36}"/>
              </a:ext>
            </a:extLst>
          </p:cNvPr>
          <p:cNvSpPr>
            <a:spLocks xmlns:a="http://schemas.openxmlformats.org/drawingml/2006/main" noGrp="1"/>
          </p:cNvSpPr>
          <p:nvPr/>
        </p:nvSpPr>
        <p:spPr>
          <a:xfrm xmlns:a="http://schemas.openxmlformats.org/drawingml/2006/main">
            <a:off x="5834063" y="2476500"/>
            <a:ext cx="285750" cy="285750"/>
          </a:xfrm>
          <a:prstGeom xmlns:a="http://schemas.openxmlformats.org/drawingml/2006/main" prst="ellipse">
            <a:avLst/>
          </a:prstGeom>
          <a:solidFill xmlns:a="http://schemas.openxmlformats.org/drawingml/2006/main">
            <a:srgbClr val="D7782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22C66AF-4097-4580-9D5A-B4C9CBC90CE4}"/>
              </a:ext>
            </a:extLst>
          </p:cNvPr>
          <p:cNvSpPr>
            <a:spLocks xmlns:a="http://schemas.openxmlformats.org/drawingml/2006/main" noGrp="1"/>
          </p:cNvSpPr>
          <p:nvPr/>
        </p:nvSpPr>
        <p:spPr>
          <a:xfrm xmlns:a="http://schemas.openxmlformats.org/drawingml/2006/main">
            <a:off x="6667500" y="2590800"/>
            <a:ext cx="1381125"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1E7FF99-4C7D-4A66-9C70-526BD28F5BDE}"/>
              </a:ext>
            </a:extLst>
          </p:cNvPr>
          <p:cNvSpPr>
            <a:spLocks xmlns:a="http://schemas.openxmlformats.org/drawingml/2006/main" noGrp="1"/>
          </p:cNvSpPr>
          <p:nvPr/>
        </p:nvSpPr>
        <p:spPr>
          <a:xfrm xmlns:a="http://schemas.openxmlformats.org/drawingml/2006/main">
            <a:off x="7215188" y="2476500"/>
            <a:ext cx="285750" cy="285750"/>
          </a:xfrm>
          <a:prstGeom xmlns:a="http://schemas.openxmlformats.org/drawingml/2006/main" prst="ellipse">
            <a:avLst/>
          </a:prstGeom>
          <a:solidFill xmlns:a="http://schemas.openxmlformats.org/drawingml/2006/main">
            <a:srgbClr val="D7782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4E75DEA-4741-4058-AD8D-180D25A2056C}"/>
              </a:ext>
            </a:extLst>
          </p:cNvPr>
          <p:cNvSpPr>
            <a:spLocks xmlns:a="http://schemas.openxmlformats.org/drawingml/2006/main" noGrp="1"/>
          </p:cNvSpPr>
          <p:nvPr/>
        </p:nvSpPr>
        <p:spPr>
          <a:xfrm xmlns:a="http://schemas.openxmlformats.org/drawingml/2006/main">
            <a:off x="8048625" y="2590800"/>
            <a:ext cx="1381125" cy="57150"/>
          </a:xfrm>
          <a:prstGeom xmlns:a="http://schemas.openxmlformats.org/drawingml/2006/main" prst="rect">
            <a:avLst/>
          </a:prstGeom>
          <a:solidFill xmlns:a="http://schemas.openxmlformats.org/drawingml/2006/main">
            <a:srgbClr val="D7DFE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541E0C8-A19F-47DB-BCDB-65F50B321535}"/>
              </a:ext>
            </a:extLst>
          </p:cNvPr>
          <p:cNvSpPr>
            <a:spLocks xmlns:a="http://schemas.openxmlformats.org/drawingml/2006/main" noGrp="1"/>
          </p:cNvSpPr>
          <p:nvPr/>
        </p:nvSpPr>
        <p:spPr>
          <a:xfrm xmlns:a="http://schemas.openxmlformats.org/drawingml/2006/main">
            <a:off x="3762375" y="24765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5" name="">
            <a:extLst xmlns:a="http://schemas.openxmlformats.org/drawingml/2006/main">
              <a:ext uri="{FF2B5EF4-FFF2-40B4-BE49-F238E27FC236}">
                <a16:creationId xmlns:a16="http://schemas.microsoft.com/office/drawing/2014/main" id="{2E15D597-22C5-4133-BA51-F324C9E31F46}"/>
              </a:ext>
            </a:extLst>
          </p:cNvPr>
          <p:cNvSpPr>
            <a:spLocks xmlns:a="http://schemas.openxmlformats.org/drawingml/2006/main" noGrp="1"/>
          </p:cNvSpPr>
          <p:nvPr/>
        </p:nvSpPr>
        <p:spPr>
          <a:xfrm xmlns:a="http://schemas.openxmlformats.org/drawingml/2006/main">
            <a:off x="3657600" y="28384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A</a:t>
            </a:r>
          </a:p>
        </p:txBody>
      </p:sp>
      <p:sp>
        <p:nvSpPr>
          <p:cNvPr id="16" name="">
            <a:extLst xmlns:a="http://schemas.openxmlformats.org/drawingml/2006/main">
              <a:ext uri="{FF2B5EF4-FFF2-40B4-BE49-F238E27FC236}">
                <a16:creationId xmlns:a16="http://schemas.microsoft.com/office/drawing/2014/main" id="{E40A00DA-B8F0-4AC2-A443-7C4FFE08E8CD}"/>
              </a:ext>
            </a:extLst>
          </p:cNvPr>
          <p:cNvSpPr>
            <a:spLocks xmlns:a="http://schemas.openxmlformats.org/drawingml/2006/main" noGrp="1"/>
          </p:cNvSpPr>
          <p:nvPr/>
        </p:nvSpPr>
        <p:spPr>
          <a:xfrm xmlns:a="http://schemas.openxmlformats.org/drawingml/2006/main">
            <a:off x="5143500" y="24765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7" name="">
            <a:extLst xmlns:a="http://schemas.openxmlformats.org/drawingml/2006/main">
              <a:ext uri="{FF2B5EF4-FFF2-40B4-BE49-F238E27FC236}">
                <a16:creationId xmlns:a16="http://schemas.microsoft.com/office/drawing/2014/main" id="{14F64C37-006B-4161-B393-AECCF34E7A7C}"/>
              </a:ext>
            </a:extLst>
          </p:cNvPr>
          <p:cNvSpPr>
            <a:spLocks xmlns:a="http://schemas.openxmlformats.org/drawingml/2006/main" noGrp="1"/>
          </p:cNvSpPr>
          <p:nvPr/>
        </p:nvSpPr>
        <p:spPr>
          <a:xfrm xmlns:a="http://schemas.openxmlformats.org/drawingml/2006/main">
            <a:off x="5038725" y="28384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B</a:t>
            </a:r>
          </a:p>
        </p:txBody>
      </p:sp>
      <p:sp>
        <p:nvSpPr>
          <p:cNvPr id="18" name="">
            <a:extLst xmlns:a="http://schemas.openxmlformats.org/drawingml/2006/main">
              <a:ext uri="{FF2B5EF4-FFF2-40B4-BE49-F238E27FC236}">
                <a16:creationId xmlns:a16="http://schemas.microsoft.com/office/drawing/2014/main" id="{338CCA0C-335E-4AD3-8247-EDC5AC209F12}"/>
              </a:ext>
            </a:extLst>
          </p:cNvPr>
          <p:cNvSpPr>
            <a:spLocks xmlns:a="http://schemas.openxmlformats.org/drawingml/2006/main" noGrp="1"/>
          </p:cNvSpPr>
          <p:nvPr/>
        </p:nvSpPr>
        <p:spPr>
          <a:xfrm xmlns:a="http://schemas.openxmlformats.org/drawingml/2006/main">
            <a:off x="6524625" y="24765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9" name="">
            <a:extLst xmlns:a="http://schemas.openxmlformats.org/drawingml/2006/main">
              <a:ext uri="{FF2B5EF4-FFF2-40B4-BE49-F238E27FC236}">
                <a16:creationId xmlns:a16="http://schemas.microsoft.com/office/drawing/2014/main" id="{8E21B7B4-B2CC-45F6-A879-135BBAD80730}"/>
              </a:ext>
            </a:extLst>
          </p:cNvPr>
          <p:cNvSpPr>
            <a:spLocks xmlns:a="http://schemas.openxmlformats.org/drawingml/2006/main" noGrp="1"/>
          </p:cNvSpPr>
          <p:nvPr/>
        </p:nvSpPr>
        <p:spPr>
          <a:xfrm xmlns:a="http://schemas.openxmlformats.org/drawingml/2006/main">
            <a:off x="6419850" y="28384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C</a:t>
            </a:r>
          </a:p>
        </p:txBody>
      </p:sp>
      <p:sp>
        <p:nvSpPr>
          <p:cNvPr id="20" name="">
            <a:extLst xmlns:a="http://schemas.openxmlformats.org/drawingml/2006/main">
              <a:ext uri="{FF2B5EF4-FFF2-40B4-BE49-F238E27FC236}">
                <a16:creationId xmlns:a16="http://schemas.microsoft.com/office/drawing/2014/main" id="{D688281C-526A-44A4-AC09-16C38FC459E8}"/>
              </a:ext>
            </a:extLst>
          </p:cNvPr>
          <p:cNvSpPr>
            <a:spLocks xmlns:a="http://schemas.openxmlformats.org/drawingml/2006/main" noGrp="1"/>
          </p:cNvSpPr>
          <p:nvPr/>
        </p:nvSpPr>
        <p:spPr>
          <a:xfrm xmlns:a="http://schemas.openxmlformats.org/drawingml/2006/main">
            <a:off x="7905750" y="24765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21" name="">
            <a:extLst xmlns:a="http://schemas.openxmlformats.org/drawingml/2006/main">
              <a:ext uri="{FF2B5EF4-FFF2-40B4-BE49-F238E27FC236}">
                <a16:creationId xmlns:a16="http://schemas.microsoft.com/office/drawing/2014/main" id="{E2F5EE9F-65EB-4E04-A1B9-28F0E516577C}"/>
              </a:ext>
            </a:extLst>
          </p:cNvPr>
          <p:cNvSpPr>
            <a:spLocks xmlns:a="http://schemas.openxmlformats.org/drawingml/2006/main" noGrp="1"/>
          </p:cNvSpPr>
          <p:nvPr/>
        </p:nvSpPr>
        <p:spPr>
          <a:xfrm xmlns:a="http://schemas.openxmlformats.org/drawingml/2006/main">
            <a:off x="7800975" y="28384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D</a:t>
            </a:r>
          </a:p>
        </p:txBody>
      </p:sp>
      <p:sp>
        <p:nvSpPr>
          <p:cNvPr id="22" name="">
            <a:extLst xmlns:a="http://schemas.openxmlformats.org/drawingml/2006/main">
              <a:ext uri="{FF2B5EF4-FFF2-40B4-BE49-F238E27FC236}">
                <a16:creationId xmlns:a16="http://schemas.microsoft.com/office/drawing/2014/main" id="{D66391F2-CC20-45F3-99FB-F259A72A980B}"/>
              </a:ext>
            </a:extLst>
          </p:cNvPr>
          <p:cNvSpPr>
            <a:spLocks xmlns:a="http://schemas.openxmlformats.org/drawingml/2006/main" noGrp="1"/>
          </p:cNvSpPr>
          <p:nvPr/>
        </p:nvSpPr>
        <p:spPr>
          <a:xfrm xmlns:a="http://schemas.openxmlformats.org/drawingml/2006/main">
            <a:off x="9286875" y="24765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23" name="">
            <a:extLst xmlns:a="http://schemas.openxmlformats.org/drawingml/2006/main">
              <a:ext uri="{FF2B5EF4-FFF2-40B4-BE49-F238E27FC236}">
                <a16:creationId xmlns:a16="http://schemas.microsoft.com/office/drawing/2014/main" id="{9790BBD5-5B8A-42FC-B9A5-A29CBAB4066B}"/>
              </a:ext>
            </a:extLst>
          </p:cNvPr>
          <p:cNvSpPr>
            <a:spLocks xmlns:a="http://schemas.openxmlformats.org/drawingml/2006/main" noGrp="1"/>
          </p:cNvSpPr>
          <p:nvPr/>
        </p:nvSpPr>
        <p:spPr>
          <a:xfrm xmlns:a="http://schemas.openxmlformats.org/drawingml/2006/main">
            <a:off x="9182100" y="28384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E</a:t>
            </a:r>
          </a:p>
        </p:txBody>
      </p:sp>
      <p:sp>
        <p:nvSpPr>
          <p:cNvPr id="24" name="">
            <a:extLst xmlns:a="http://schemas.openxmlformats.org/drawingml/2006/main">
              <a:ext uri="{FF2B5EF4-FFF2-40B4-BE49-F238E27FC236}">
                <a16:creationId xmlns:a16="http://schemas.microsoft.com/office/drawing/2014/main" id="{CF6D3732-D1F2-43E2-9625-3B55B2946ABA}"/>
              </a:ext>
            </a:extLst>
          </p:cNvPr>
          <p:cNvSpPr>
            <a:spLocks xmlns:a="http://schemas.openxmlformats.org/drawingml/2006/main" noGrp="1"/>
          </p:cNvSpPr>
          <p:nvPr/>
        </p:nvSpPr>
        <p:spPr>
          <a:xfrm xmlns:a="http://schemas.openxmlformats.org/drawingml/2006/main">
            <a:off x="3905250" y="3829050"/>
            <a:ext cx="1381125"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42ED1C3-2BAB-481D-9116-CD2FAF333BE5}"/>
              </a:ext>
            </a:extLst>
          </p:cNvPr>
          <p:cNvSpPr>
            <a:spLocks xmlns:a="http://schemas.openxmlformats.org/drawingml/2006/main" noGrp="1"/>
          </p:cNvSpPr>
          <p:nvPr/>
        </p:nvSpPr>
        <p:spPr>
          <a:xfrm xmlns:a="http://schemas.openxmlformats.org/drawingml/2006/main">
            <a:off x="5286375" y="3829050"/>
            <a:ext cx="1381125"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1773256-087C-4D24-8C6D-6E374DC6501E}"/>
              </a:ext>
            </a:extLst>
          </p:cNvPr>
          <p:cNvSpPr>
            <a:spLocks xmlns:a="http://schemas.openxmlformats.org/drawingml/2006/main" noGrp="1"/>
          </p:cNvSpPr>
          <p:nvPr/>
        </p:nvSpPr>
        <p:spPr>
          <a:xfrm xmlns:a="http://schemas.openxmlformats.org/drawingml/2006/main">
            <a:off x="5834063" y="3714750"/>
            <a:ext cx="285750" cy="285750"/>
          </a:xfrm>
          <a:prstGeom xmlns:a="http://schemas.openxmlformats.org/drawingml/2006/main" prst="ellipse">
            <a:avLst/>
          </a:prstGeom>
          <a:solidFill xmlns:a="http://schemas.openxmlformats.org/drawingml/2006/main">
            <a:srgbClr val="D7782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9CC8694-D349-4BFB-B3F4-1231A97D36C9}"/>
              </a:ext>
            </a:extLst>
          </p:cNvPr>
          <p:cNvSpPr>
            <a:spLocks xmlns:a="http://schemas.openxmlformats.org/drawingml/2006/main" noGrp="1"/>
          </p:cNvSpPr>
          <p:nvPr/>
        </p:nvSpPr>
        <p:spPr>
          <a:xfrm xmlns:a="http://schemas.openxmlformats.org/drawingml/2006/main">
            <a:off x="6667500" y="3829050"/>
            <a:ext cx="1381125"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59734C2-D5B4-483C-8F5E-CDD5C3A1015B}"/>
              </a:ext>
            </a:extLst>
          </p:cNvPr>
          <p:cNvSpPr>
            <a:spLocks xmlns:a="http://schemas.openxmlformats.org/drawingml/2006/main" noGrp="1"/>
          </p:cNvSpPr>
          <p:nvPr/>
        </p:nvSpPr>
        <p:spPr>
          <a:xfrm xmlns:a="http://schemas.openxmlformats.org/drawingml/2006/main">
            <a:off x="7215188" y="3714750"/>
            <a:ext cx="285750" cy="285750"/>
          </a:xfrm>
          <a:prstGeom xmlns:a="http://schemas.openxmlformats.org/drawingml/2006/main" prst="ellipse">
            <a:avLst/>
          </a:prstGeom>
          <a:solidFill xmlns:a="http://schemas.openxmlformats.org/drawingml/2006/main">
            <a:srgbClr val="D7782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2AA77EB-C760-4820-A943-45BA6FFBD849}"/>
              </a:ext>
            </a:extLst>
          </p:cNvPr>
          <p:cNvSpPr>
            <a:spLocks xmlns:a="http://schemas.openxmlformats.org/drawingml/2006/main" noGrp="1"/>
          </p:cNvSpPr>
          <p:nvPr/>
        </p:nvSpPr>
        <p:spPr>
          <a:xfrm xmlns:a="http://schemas.openxmlformats.org/drawingml/2006/main">
            <a:off x="8048625" y="3829050"/>
            <a:ext cx="1381125"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E5598A3-4088-49A2-9BBD-EA533B20A5AC}"/>
              </a:ext>
            </a:extLst>
          </p:cNvPr>
          <p:cNvSpPr>
            <a:spLocks xmlns:a="http://schemas.openxmlformats.org/drawingml/2006/main" noGrp="1"/>
          </p:cNvSpPr>
          <p:nvPr/>
        </p:nvSpPr>
        <p:spPr>
          <a:xfrm xmlns:a="http://schemas.openxmlformats.org/drawingml/2006/main">
            <a:off x="3762375" y="371475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31" name="">
            <a:extLst xmlns:a="http://schemas.openxmlformats.org/drawingml/2006/main">
              <a:ext uri="{FF2B5EF4-FFF2-40B4-BE49-F238E27FC236}">
                <a16:creationId xmlns:a16="http://schemas.microsoft.com/office/drawing/2014/main" id="{65A6EBDC-0670-43F5-829B-2727DFC135AB}"/>
              </a:ext>
            </a:extLst>
          </p:cNvPr>
          <p:cNvSpPr>
            <a:spLocks xmlns:a="http://schemas.openxmlformats.org/drawingml/2006/main" noGrp="1"/>
          </p:cNvSpPr>
          <p:nvPr/>
        </p:nvSpPr>
        <p:spPr>
          <a:xfrm xmlns:a="http://schemas.openxmlformats.org/drawingml/2006/main">
            <a:off x="3657600" y="407670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A</a:t>
            </a:r>
          </a:p>
        </p:txBody>
      </p:sp>
      <p:sp>
        <p:nvSpPr>
          <p:cNvPr id="32" name="">
            <a:extLst xmlns:a="http://schemas.openxmlformats.org/drawingml/2006/main">
              <a:ext uri="{FF2B5EF4-FFF2-40B4-BE49-F238E27FC236}">
                <a16:creationId xmlns:a16="http://schemas.microsoft.com/office/drawing/2014/main" id="{472DEC26-E396-4525-811C-5700587145F9}"/>
              </a:ext>
            </a:extLst>
          </p:cNvPr>
          <p:cNvSpPr>
            <a:spLocks xmlns:a="http://schemas.openxmlformats.org/drawingml/2006/main" noGrp="1"/>
          </p:cNvSpPr>
          <p:nvPr/>
        </p:nvSpPr>
        <p:spPr>
          <a:xfrm xmlns:a="http://schemas.openxmlformats.org/drawingml/2006/main">
            <a:off x="5143500" y="371475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33" name="">
            <a:extLst xmlns:a="http://schemas.openxmlformats.org/drawingml/2006/main">
              <a:ext uri="{FF2B5EF4-FFF2-40B4-BE49-F238E27FC236}">
                <a16:creationId xmlns:a16="http://schemas.microsoft.com/office/drawing/2014/main" id="{5B555450-69CF-4530-8994-A5C78604C099}"/>
              </a:ext>
            </a:extLst>
          </p:cNvPr>
          <p:cNvSpPr>
            <a:spLocks xmlns:a="http://schemas.openxmlformats.org/drawingml/2006/main" noGrp="1"/>
          </p:cNvSpPr>
          <p:nvPr/>
        </p:nvSpPr>
        <p:spPr>
          <a:xfrm xmlns:a="http://schemas.openxmlformats.org/drawingml/2006/main">
            <a:off x="5038725" y="407670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B</a:t>
            </a:r>
          </a:p>
        </p:txBody>
      </p:sp>
      <p:sp>
        <p:nvSpPr>
          <p:cNvPr id="34" name="">
            <a:extLst xmlns:a="http://schemas.openxmlformats.org/drawingml/2006/main">
              <a:ext uri="{FF2B5EF4-FFF2-40B4-BE49-F238E27FC236}">
                <a16:creationId xmlns:a16="http://schemas.microsoft.com/office/drawing/2014/main" id="{96C73362-1D1C-411A-BBED-8FA86C75F587}"/>
              </a:ext>
            </a:extLst>
          </p:cNvPr>
          <p:cNvSpPr>
            <a:spLocks xmlns:a="http://schemas.openxmlformats.org/drawingml/2006/main" noGrp="1"/>
          </p:cNvSpPr>
          <p:nvPr/>
        </p:nvSpPr>
        <p:spPr>
          <a:xfrm xmlns:a="http://schemas.openxmlformats.org/drawingml/2006/main">
            <a:off x="6524625" y="371475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35" name="">
            <a:extLst xmlns:a="http://schemas.openxmlformats.org/drawingml/2006/main">
              <a:ext uri="{FF2B5EF4-FFF2-40B4-BE49-F238E27FC236}">
                <a16:creationId xmlns:a16="http://schemas.microsoft.com/office/drawing/2014/main" id="{38C987AB-B085-490F-8A5E-2A116159ACC6}"/>
              </a:ext>
            </a:extLst>
          </p:cNvPr>
          <p:cNvSpPr>
            <a:spLocks xmlns:a="http://schemas.openxmlformats.org/drawingml/2006/main" noGrp="1"/>
          </p:cNvSpPr>
          <p:nvPr/>
        </p:nvSpPr>
        <p:spPr>
          <a:xfrm xmlns:a="http://schemas.openxmlformats.org/drawingml/2006/main">
            <a:off x="6419850" y="407670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C</a:t>
            </a:r>
          </a:p>
        </p:txBody>
      </p:sp>
      <p:sp>
        <p:nvSpPr>
          <p:cNvPr id="36" name="">
            <a:extLst xmlns:a="http://schemas.openxmlformats.org/drawingml/2006/main">
              <a:ext uri="{FF2B5EF4-FFF2-40B4-BE49-F238E27FC236}">
                <a16:creationId xmlns:a16="http://schemas.microsoft.com/office/drawing/2014/main" id="{A26E601A-CDC3-4882-A296-866676AE24A2}"/>
              </a:ext>
            </a:extLst>
          </p:cNvPr>
          <p:cNvSpPr>
            <a:spLocks xmlns:a="http://schemas.openxmlformats.org/drawingml/2006/main" noGrp="1"/>
          </p:cNvSpPr>
          <p:nvPr/>
        </p:nvSpPr>
        <p:spPr>
          <a:xfrm xmlns:a="http://schemas.openxmlformats.org/drawingml/2006/main">
            <a:off x="7905750" y="371475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37" name="">
            <a:extLst xmlns:a="http://schemas.openxmlformats.org/drawingml/2006/main">
              <a:ext uri="{FF2B5EF4-FFF2-40B4-BE49-F238E27FC236}">
                <a16:creationId xmlns:a16="http://schemas.microsoft.com/office/drawing/2014/main" id="{8F3E0D2A-8EB1-4F7D-B960-4D6400AB0899}"/>
              </a:ext>
            </a:extLst>
          </p:cNvPr>
          <p:cNvSpPr>
            <a:spLocks xmlns:a="http://schemas.openxmlformats.org/drawingml/2006/main" noGrp="1"/>
          </p:cNvSpPr>
          <p:nvPr/>
        </p:nvSpPr>
        <p:spPr>
          <a:xfrm xmlns:a="http://schemas.openxmlformats.org/drawingml/2006/main">
            <a:off x="7800975" y="407670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D</a:t>
            </a:r>
          </a:p>
        </p:txBody>
      </p:sp>
      <p:sp>
        <p:nvSpPr>
          <p:cNvPr id="38" name="">
            <a:extLst xmlns:a="http://schemas.openxmlformats.org/drawingml/2006/main">
              <a:ext uri="{FF2B5EF4-FFF2-40B4-BE49-F238E27FC236}">
                <a16:creationId xmlns:a16="http://schemas.microsoft.com/office/drawing/2014/main" id="{32A6D689-694E-4488-AD5A-B86CB14C8B4A}"/>
              </a:ext>
            </a:extLst>
          </p:cNvPr>
          <p:cNvSpPr>
            <a:spLocks xmlns:a="http://schemas.openxmlformats.org/drawingml/2006/main" noGrp="1"/>
          </p:cNvSpPr>
          <p:nvPr/>
        </p:nvSpPr>
        <p:spPr>
          <a:xfrm xmlns:a="http://schemas.openxmlformats.org/drawingml/2006/main">
            <a:off x="9286875" y="371475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39" name="">
            <a:extLst xmlns:a="http://schemas.openxmlformats.org/drawingml/2006/main">
              <a:ext uri="{FF2B5EF4-FFF2-40B4-BE49-F238E27FC236}">
                <a16:creationId xmlns:a16="http://schemas.microsoft.com/office/drawing/2014/main" id="{2EE32B3D-7746-4BC5-A878-14B6F6A3E884}"/>
              </a:ext>
            </a:extLst>
          </p:cNvPr>
          <p:cNvSpPr>
            <a:spLocks xmlns:a="http://schemas.openxmlformats.org/drawingml/2006/main" noGrp="1"/>
          </p:cNvSpPr>
          <p:nvPr/>
        </p:nvSpPr>
        <p:spPr>
          <a:xfrm xmlns:a="http://schemas.openxmlformats.org/drawingml/2006/main">
            <a:off x="9182100" y="407670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E</a:t>
            </a:r>
          </a:p>
        </p:txBody>
      </p:sp>
      <p:sp>
        <p:nvSpPr>
          <p:cNvPr id="40" name="">
            <a:extLst xmlns:a="http://schemas.openxmlformats.org/drawingml/2006/main">
              <a:ext uri="{FF2B5EF4-FFF2-40B4-BE49-F238E27FC236}">
                <a16:creationId xmlns:a16="http://schemas.microsoft.com/office/drawing/2014/main" id="{672794D5-3F50-4D87-8E00-42DC32EC967F}"/>
              </a:ext>
            </a:extLst>
          </p:cNvPr>
          <p:cNvSpPr>
            <a:spLocks xmlns:a="http://schemas.openxmlformats.org/drawingml/2006/main" noGrp="1"/>
          </p:cNvSpPr>
          <p:nvPr/>
        </p:nvSpPr>
        <p:spPr>
          <a:xfrm xmlns:a="http://schemas.openxmlformats.org/drawingml/2006/main">
            <a:off x="3905250" y="5067300"/>
            <a:ext cx="1381125"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66040471-B7B5-4CB9-99B8-B699B3B999F2}"/>
              </a:ext>
            </a:extLst>
          </p:cNvPr>
          <p:cNvSpPr>
            <a:spLocks xmlns:a="http://schemas.openxmlformats.org/drawingml/2006/main" noGrp="1"/>
          </p:cNvSpPr>
          <p:nvPr/>
        </p:nvSpPr>
        <p:spPr>
          <a:xfrm xmlns:a="http://schemas.openxmlformats.org/drawingml/2006/main">
            <a:off x="5286375" y="5067300"/>
            <a:ext cx="1381125"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3DD6807-0A15-43F4-ADB1-7AE17BFECA79}"/>
              </a:ext>
            </a:extLst>
          </p:cNvPr>
          <p:cNvSpPr>
            <a:spLocks xmlns:a="http://schemas.openxmlformats.org/drawingml/2006/main" noGrp="1"/>
          </p:cNvSpPr>
          <p:nvPr/>
        </p:nvSpPr>
        <p:spPr>
          <a:xfrm xmlns:a="http://schemas.openxmlformats.org/drawingml/2006/main">
            <a:off x="5834063" y="4953000"/>
            <a:ext cx="285750" cy="285750"/>
          </a:xfrm>
          <a:prstGeom xmlns:a="http://schemas.openxmlformats.org/drawingml/2006/main" prst="ellipse">
            <a:avLst/>
          </a:prstGeom>
          <a:solidFill xmlns:a="http://schemas.openxmlformats.org/drawingml/2006/main">
            <a:srgbClr val="D7782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CA4192C-7892-4DF4-8874-E44626151194}"/>
              </a:ext>
            </a:extLst>
          </p:cNvPr>
          <p:cNvSpPr>
            <a:spLocks xmlns:a="http://schemas.openxmlformats.org/drawingml/2006/main" noGrp="1"/>
          </p:cNvSpPr>
          <p:nvPr/>
        </p:nvSpPr>
        <p:spPr>
          <a:xfrm xmlns:a="http://schemas.openxmlformats.org/drawingml/2006/main">
            <a:off x="6667500" y="5067300"/>
            <a:ext cx="1381125" cy="57150"/>
          </a:xfrm>
          <a:prstGeom xmlns:a="http://schemas.openxmlformats.org/drawingml/2006/main" prst="rect">
            <a:avLst/>
          </a:prstGeom>
          <a:solidFill xmlns:a="http://schemas.openxmlformats.org/drawingml/2006/main">
            <a:srgbClr val="D7DFE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9D416E9-DCD7-4F0D-AE9E-89C6196C85B3}"/>
              </a:ext>
            </a:extLst>
          </p:cNvPr>
          <p:cNvSpPr>
            <a:spLocks xmlns:a="http://schemas.openxmlformats.org/drawingml/2006/main" noGrp="1"/>
          </p:cNvSpPr>
          <p:nvPr/>
        </p:nvSpPr>
        <p:spPr>
          <a:xfrm xmlns:a="http://schemas.openxmlformats.org/drawingml/2006/main">
            <a:off x="7215188" y="4953000"/>
            <a:ext cx="285750" cy="285750"/>
          </a:xfrm>
          <a:prstGeom xmlns:a="http://schemas.openxmlformats.org/drawingml/2006/main" prst="ellipse">
            <a:avLst/>
          </a:prstGeom>
          <a:solidFill xmlns:a="http://schemas.openxmlformats.org/drawingml/2006/main">
            <a:srgbClr val="D77824"/>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513C262A-DD7E-41DF-8EAB-698ED48D9120}"/>
              </a:ext>
            </a:extLst>
          </p:cNvPr>
          <p:cNvSpPr>
            <a:spLocks xmlns:a="http://schemas.openxmlformats.org/drawingml/2006/main" noGrp="1"/>
          </p:cNvSpPr>
          <p:nvPr/>
        </p:nvSpPr>
        <p:spPr>
          <a:xfrm xmlns:a="http://schemas.openxmlformats.org/drawingml/2006/main">
            <a:off x="8048625" y="5067300"/>
            <a:ext cx="1381125" cy="57150"/>
          </a:xfrm>
          <a:prstGeom xmlns:a="http://schemas.openxmlformats.org/drawingml/2006/main" prst="rect">
            <a:avLst/>
          </a:prstGeom>
          <a:solidFill xmlns:a="http://schemas.openxmlformats.org/drawingml/2006/main">
            <a:srgbClr val="D7DFE4"/>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27A02C5-FBA2-46AE-BCB9-A48F7FD00BD0}"/>
              </a:ext>
            </a:extLst>
          </p:cNvPr>
          <p:cNvSpPr>
            <a:spLocks xmlns:a="http://schemas.openxmlformats.org/drawingml/2006/main" noGrp="1"/>
          </p:cNvSpPr>
          <p:nvPr/>
        </p:nvSpPr>
        <p:spPr>
          <a:xfrm xmlns:a="http://schemas.openxmlformats.org/drawingml/2006/main">
            <a:off x="3762375" y="49530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47" name="">
            <a:extLst xmlns:a="http://schemas.openxmlformats.org/drawingml/2006/main">
              <a:ext uri="{FF2B5EF4-FFF2-40B4-BE49-F238E27FC236}">
                <a16:creationId xmlns:a16="http://schemas.microsoft.com/office/drawing/2014/main" id="{D9498ACE-59C1-4C17-8452-B54E7F1494FA}"/>
              </a:ext>
            </a:extLst>
          </p:cNvPr>
          <p:cNvSpPr>
            <a:spLocks xmlns:a="http://schemas.openxmlformats.org/drawingml/2006/main" noGrp="1"/>
          </p:cNvSpPr>
          <p:nvPr/>
        </p:nvSpPr>
        <p:spPr>
          <a:xfrm xmlns:a="http://schemas.openxmlformats.org/drawingml/2006/main">
            <a:off x="3657600" y="53149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A</a:t>
            </a:r>
          </a:p>
        </p:txBody>
      </p:sp>
      <p:sp>
        <p:nvSpPr>
          <p:cNvPr id="48" name="">
            <a:extLst xmlns:a="http://schemas.openxmlformats.org/drawingml/2006/main">
              <a:ext uri="{FF2B5EF4-FFF2-40B4-BE49-F238E27FC236}">
                <a16:creationId xmlns:a16="http://schemas.microsoft.com/office/drawing/2014/main" id="{D4F4AE48-A332-4716-85A5-656079840420}"/>
              </a:ext>
            </a:extLst>
          </p:cNvPr>
          <p:cNvSpPr>
            <a:spLocks xmlns:a="http://schemas.openxmlformats.org/drawingml/2006/main" noGrp="1"/>
          </p:cNvSpPr>
          <p:nvPr/>
        </p:nvSpPr>
        <p:spPr>
          <a:xfrm xmlns:a="http://schemas.openxmlformats.org/drawingml/2006/main">
            <a:off x="5143500" y="49530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49" name="">
            <a:extLst xmlns:a="http://schemas.openxmlformats.org/drawingml/2006/main">
              <a:ext uri="{FF2B5EF4-FFF2-40B4-BE49-F238E27FC236}">
                <a16:creationId xmlns:a16="http://schemas.microsoft.com/office/drawing/2014/main" id="{AF191AE5-4F85-49BC-BEB4-5E3489963689}"/>
              </a:ext>
            </a:extLst>
          </p:cNvPr>
          <p:cNvSpPr>
            <a:spLocks xmlns:a="http://schemas.openxmlformats.org/drawingml/2006/main" noGrp="1"/>
          </p:cNvSpPr>
          <p:nvPr/>
        </p:nvSpPr>
        <p:spPr>
          <a:xfrm xmlns:a="http://schemas.openxmlformats.org/drawingml/2006/main">
            <a:off x="5038725" y="53149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B</a:t>
            </a:r>
          </a:p>
        </p:txBody>
      </p:sp>
      <p:sp>
        <p:nvSpPr>
          <p:cNvPr id="50" name="">
            <a:extLst xmlns:a="http://schemas.openxmlformats.org/drawingml/2006/main">
              <a:ext uri="{FF2B5EF4-FFF2-40B4-BE49-F238E27FC236}">
                <a16:creationId xmlns:a16="http://schemas.microsoft.com/office/drawing/2014/main" id="{E3330D81-B3C5-4BFE-A062-91E3AF8A0953}"/>
              </a:ext>
            </a:extLst>
          </p:cNvPr>
          <p:cNvSpPr>
            <a:spLocks xmlns:a="http://schemas.openxmlformats.org/drawingml/2006/main" noGrp="1"/>
          </p:cNvSpPr>
          <p:nvPr/>
        </p:nvSpPr>
        <p:spPr>
          <a:xfrm xmlns:a="http://schemas.openxmlformats.org/drawingml/2006/main">
            <a:off x="6524625" y="49530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51" name="">
            <a:extLst xmlns:a="http://schemas.openxmlformats.org/drawingml/2006/main">
              <a:ext uri="{FF2B5EF4-FFF2-40B4-BE49-F238E27FC236}">
                <a16:creationId xmlns:a16="http://schemas.microsoft.com/office/drawing/2014/main" id="{A7F0EFFF-7BF1-422E-8C25-7A4B74EEFCC4}"/>
              </a:ext>
            </a:extLst>
          </p:cNvPr>
          <p:cNvSpPr>
            <a:spLocks xmlns:a="http://schemas.openxmlformats.org/drawingml/2006/main" noGrp="1"/>
          </p:cNvSpPr>
          <p:nvPr/>
        </p:nvSpPr>
        <p:spPr>
          <a:xfrm xmlns:a="http://schemas.openxmlformats.org/drawingml/2006/main">
            <a:off x="6419850" y="53149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C</a:t>
            </a:r>
          </a:p>
        </p:txBody>
      </p:sp>
      <p:sp>
        <p:nvSpPr>
          <p:cNvPr id="52" name="">
            <a:extLst xmlns:a="http://schemas.openxmlformats.org/drawingml/2006/main">
              <a:ext uri="{FF2B5EF4-FFF2-40B4-BE49-F238E27FC236}">
                <a16:creationId xmlns:a16="http://schemas.microsoft.com/office/drawing/2014/main" id="{9B965439-08E0-48FF-BD7F-D1D61388C6C7}"/>
              </a:ext>
            </a:extLst>
          </p:cNvPr>
          <p:cNvSpPr>
            <a:spLocks xmlns:a="http://schemas.openxmlformats.org/drawingml/2006/main" noGrp="1"/>
          </p:cNvSpPr>
          <p:nvPr/>
        </p:nvSpPr>
        <p:spPr>
          <a:xfrm xmlns:a="http://schemas.openxmlformats.org/drawingml/2006/main">
            <a:off x="7905750" y="49530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53" name="">
            <a:extLst xmlns:a="http://schemas.openxmlformats.org/drawingml/2006/main">
              <a:ext uri="{FF2B5EF4-FFF2-40B4-BE49-F238E27FC236}">
                <a16:creationId xmlns:a16="http://schemas.microsoft.com/office/drawing/2014/main" id="{8E6A5B4A-B0C6-4510-8594-0E1674294BB8}"/>
              </a:ext>
            </a:extLst>
          </p:cNvPr>
          <p:cNvSpPr>
            <a:spLocks xmlns:a="http://schemas.openxmlformats.org/drawingml/2006/main" noGrp="1"/>
          </p:cNvSpPr>
          <p:nvPr/>
        </p:nvSpPr>
        <p:spPr>
          <a:xfrm xmlns:a="http://schemas.openxmlformats.org/drawingml/2006/main">
            <a:off x="7800975" y="53149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D</a:t>
            </a:r>
          </a:p>
        </p:txBody>
      </p:sp>
      <p:sp>
        <p:nvSpPr>
          <p:cNvPr id="54" name="">
            <a:extLst xmlns:a="http://schemas.openxmlformats.org/drawingml/2006/main">
              <a:ext uri="{FF2B5EF4-FFF2-40B4-BE49-F238E27FC236}">
                <a16:creationId xmlns:a16="http://schemas.microsoft.com/office/drawing/2014/main" id="{92356551-C166-4F19-822C-97A950F4792B}"/>
              </a:ext>
            </a:extLst>
          </p:cNvPr>
          <p:cNvSpPr>
            <a:spLocks xmlns:a="http://schemas.openxmlformats.org/drawingml/2006/main" noGrp="1"/>
          </p:cNvSpPr>
          <p:nvPr/>
        </p:nvSpPr>
        <p:spPr>
          <a:xfrm xmlns:a="http://schemas.openxmlformats.org/drawingml/2006/main">
            <a:off x="9286875" y="4953000"/>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55" name="">
            <a:extLst xmlns:a="http://schemas.openxmlformats.org/drawingml/2006/main">
              <a:ext uri="{FF2B5EF4-FFF2-40B4-BE49-F238E27FC236}">
                <a16:creationId xmlns:a16="http://schemas.microsoft.com/office/drawing/2014/main" id="{86B0D96B-89EA-4AEA-9B35-AD315B5EFC80}"/>
              </a:ext>
            </a:extLst>
          </p:cNvPr>
          <p:cNvSpPr>
            <a:spLocks xmlns:a="http://schemas.openxmlformats.org/drawingml/2006/main" noGrp="1"/>
          </p:cNvSpPr>
          <p:nvPr/>
        </p:nvSpPr>
        <p:spPr>
          <a:xfrm xmlns:a="http://schemas.openxmlformats.org/drawingml/2006/main">
            <a:off x="9182100" y="5314950"/>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E</a:t>
            </a:r>
          </a:p>
        </p:txBody>
      </p:sp>
      <p:sp>
        <p:nvSpPr>
          <p:cNvPr id="56" name="">
            <a:extLst xmlns:a="http://schemas.openxmlformats.org/drawingml/2006/main">
              <a:ext uri="{FF2B5EF4-FFF2-40B4-BE49-F238E27FC236}">
                <a16:creationId xmlns:a16="http://schemas.microsoft.com/office/drawing/2014/main" id="{7B7297E4-2C22-4DC7-99AF-08D1D9B7A76F}"/>
              </a:ext>
            </a:extLst>
          </p:cNvPr>
          <p:cNvSpPr>
            <a:spLocks xmlns:a="http://schemas.openxmlformats.org/drawingml/2006/main" noGrp="1"/>
          </p:cNvSpPr>
          <p:nvPr/>
        </p:nvSpPr>
        <p:spPr>
          <a:xfrm xmlns:a="http://schemas.openxmlformats.org/drawingml/2006/main">
            <a:off x="9715500" y="22860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0">
                <a:solidFill>
                  <a:srgbClr val="087FBA"/>
                </a:solidFill>
                <a:latin typeface="Yu Gothic"/>
                <a:ea typeface="Yu Gothic"/>
                <a:cs typeface="Yu Gothic"/>
              </a:defRPr>
            </a:pPr>
            <a:r>
              <a:rPr sz="1950" b="0">
                <a:solidFill>
                  <a:srgbClr val="087FBA"/>
                </a:solidFill>
                <a:latin typeface="Yu Gothic"/>
                <a:ea typeface="Yu Gothic"/>
                <a:cs typeface="Yu Gothic"/>
              </a:rPr>
              <a:t>見逃し 0</a:t>
            </a:r>
          </a:p>
        </p:txBody>
      </p:sp>
      <p:sp>
        <p:nvSpPr>
          <p:cNvPr id="57" name="">
            <a:extLst xmlns:a="http://schemas.openxmlformats.org/drawingml/2006/main">
              <a:ext uri="{FF2B5EF4-FFF2-40B4-BE49-F238E27FC236}">
                <a16:creationId xmlns:a16="http://schemas.microsoft.com/office/drawing/2014/main" id="{AEC3C217-2DB5-402E-A97F-53C6C204EAA1}"/>
              </a:ext>
            </a:extLst>
          </p:cNvPr>
          <p:cNvSpPr>
            <a:spLocks xmlns:a="http://schemas.openxmlformats.org/drawingml/2006/main" noGrp="1"/>
          </p:cNvSpPr>
          <p:nvPr/>
        </p:nvSpPr>
        <p:spPr>
          <a:xfrm xmlns:a="http://schemas.openxmlformats.org/drawingml/2006/main">
            <a:off x="9715500" y="352425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0">
                <a:solidFill>
                  <a:srgbClr val="087FBA"/>
                </a:solidFill>
                <a:latin typeface="Yu Gothic"/>
                <a:ea typeface="Yu Gothic"/>
                <a:cs typeface="Yu Gothic"/>
              </a:defRPr>
            </a:pPr>
            <a:r>
              <a:rPr sz="1950" b="0">
                <a:solidFill>
                  <a:srgbClr val="087FBA"/>
                </a:solidFill>
                <a:latin typeface="Yu Gothic"/>
                <a:ea typeface="Yu Gothic"/>
                <a:cs typeface="Yu Gothic"/>
              </a:rPr>
              <a:t>見逃し 2</a:t>
            </a:r>
          </a:p>
        </p:txBody>
      </p:sp>
      <p:sp>
        <p:nvSpPr>
          <p:cNvPr id="58" name="">
            <a:extLst xmlns:a="http://schemas.openxmlformats.org/drawingml/2006/main">
              <a:ext uri="{FF2B5EF4-FFF2-40B4-BE49-F238E27FC236}">
                <a16:creationId xmlns:a16="http://schemas.microsoft.com/office/drawing/2014/main" id="{577569B1-0609-4365-B23A-5D5BC5964AB8}"/>
              </a:ext>
            </a:extLst>
          </p:cNvPr>
          <p:cNvSpPr>
            <a:spLocks xmlns:a="http://schemas.openxmlformats.org/drawingml/2006/main" noGrp="1"/>
          </p:cNvSpPr>
          <p:nvPr/>
        </p:nvSpPr>
        <p:spPr>
          <a:xfrm xmlns:a="http://schemas.openxmlformats.org/drawingml/2006/main">
            <a:off x="9715500" y="47625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0">
                <a:solidFill>
                  <a:srgbClr val="B64343"/>
                </a:solidFill>
                <a:latin typeface="Yu Gothic"/>
                <a:ea typeface="Yu Gothic"/>
                <a:cs typeface="Yu Gothic"/>
              </a:defRPr>
            </a:pPr>
            <a:r>
              <a:rPr sz="1950" b="0">
                <a:solidFill>
                  <a:srgbClr val="B64343"/>
                </a:solidFill>
                <a:latin typeface="Yu Gothic"/>
                <a:ea typeface="Yu Gothic"/>
                <a:cs typeface="Yu Gothic"/>
              </a:rPr>
              <a:t>CDが経路外</a:t>
            </a:r>
          </a:p>
        </p:txBody>
      </p:sp>
      <p:sp>
        <p:nvSpPr>
          <p:cNvPr id="59" name="">
            <a:extLst xmlns:a="http://schemas.openxmlformats.org/drawingml/2006/main">
              <a:ext uri="{FF2B5EF4-FFF2-40B4-BE49-F238E27FC236}">
                <a16:creationId xmlns:a16="http://schemas.microsoft.com/office/drawing/2014/main" id="{D260B07D-EBBD-47F6-9DBD-7920838B7D01}"/>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観測との一致だけでなく、ODの発生しやすさも比較する</a:t>
            </a:r>
          </a:p>
        </p:txBody>
      </p:sp>
    </p:spTree>
    <p:extLst>
      <p:ext uri="{BB962C8B-B14F-4D97-AF65-F5344CB8AC3E}">
        <p14:creationId xmlns:p14="http://schemas.microsoft.com/office/powerpoint/2010/main" val="19440530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D4C0A4F-F752-4A61-982C-81125B282E3C}"/>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MAP推定：事前確率と尤度を掛け合わせる</a:t>
            </a:r>
          </a:p>
        </p:txBody>
      </p:sp>
      <p:sp>
        <p:nvSpPr>
          <p:cNvPr id="2" name="">
            <a:extLst xmlns:a="http://schemas.openxmlformats.org/drawingml/2006/main">
              <a:ext uri="{FF2B5EF4-FFF2-40B4-BE49-F238E27FC236}">
                <a16:creationId xmlns:a16="http://schemas.microsoft.com/office/drawing/2014/main" id="{BCCB66D7-F91C-44AB-9919-6C96FC6AD0A8}"/>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604758-368D-4BC2-942F-54CEE5CEFB0B}"/>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06</a:t>
            </a:r>
          </a:p>
        </p:txBody>
      </p:sp>
      <p:sp>
        <p:nvSpPr>
          <p:cNvPr id="4" name="">
            <a:extLst xmlns:a="http://schemas.openxmlformats.org/drawingml/2006/main">
              <a:ext uri="{FF2B5EF4-FFF2-40B4-BE49-F238E27FC236}">
                <a16:creationId xmlns:a16="http://schemas.microsoft.com/office/drawing/2014/main" id="{2A85D0C6-22A2-4F25-AC5E-50934AF44571}"/>
              </a:ext>
            </a:extLst>
          </p:cNvPr>
          <p:cNvSpPr>
            <a:spLocks xmlns:a="http://schemas.openxmlformats.org/drawingml/2006/main" noGrp="1"/>
          </p:cNvSpPr>
          <p:nvPr/>
        </p:nvSpPr>
        <p:spPr>
          <a:xfrm xmlns:a="http://schemas.openxmlformats.org/drawingml/2006/main">
            <a:off x="571500" y="1809750"/>
            <a:ext cx="4476750" cy="128587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5" name="">
            <a:extLst xmlns:a="http://schemas.openxmlformats.org/drawingml/2006/main">
              <a:ext uri="{FF2B5EF4-FFF2-40B4-BE49-F238E27FC236}">
                <a16:creationId xmlns:a16="http://schemas.microsoft.com/office/drawing/2014/main" id="{300B0106-AC35-41A1-8E2C-A166E769D0FD}"/>
              </a:ext>
            </a:extLst>
          </p:cNvPr>
          <p:cNvSpPr>
            <a:spLocks xmlns:a="http://schemas.openxmlformats.org/drawingml/2006/main" noGrp="1"/>
          </p:cNvSpPr>
          <p:nvPr/>
        </p:nvSpPr>
        <p:spPr>
          <a:xfrm xmlns:a="http://schemas.openxmlformats.org/drawingml/2006/main">
            <a:off x="714375" y="1924050"/>
            <a:ext cx="4191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事前確率 πₕ</a:t>
            </a:r>
          </a:p>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そのODの起こりやすさ</a:t>
            </a:r>
          </a:p>
        </p:txBody>
      </p:sp>
      <p:sp>
        <p:nvSpPr>
          <p:cNvPr id="6" name="">
            <a:extLst xmlns:a="http://schemas.openxmlformats.org/drawingml/2006/main">
              <a:ext uri="{FF2B5EF4-FFF2-40B4-BE49-F238E27FC236}">
                <a16:creationId xmlns:a16="http://schemas.microsoft.com/office/drawing/2014/main" id="{F931D907-710C-4A2C-8915-F03AA728159E}"/>
              </a:ext>
            </a:extLst>
          </p:cNvPr>
          <p:cNvSpPr>
            <a:spLocks xmlns:a="http://schemas.openxmlformats.org/drawingml/2006/main" noGrp="1"/>
          </p:cNvSpPr>
          <p:nvPr/>
        </p:nvSpPr>
        <p:spPr>
          <a:xfrm xmlns:a="http://schemas.openxmlformats.org/drawingml/2006/main">
            <a:off x="5334000" y="2143125"/>
            <a:ext cx="714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900" b="1">
                <a:solidFill>
                  <a:srgbClr val="087FBA"/>
                </a:solidFill>
                <a:latin typeface="Yu Gothic"/>
                <a:ea typeface="Yu Gothic"/>
                <a:cs typeface="Yu Gothic"/>
              </a:defRPr>
            </a:pPr>
            <a:r>
              <a:rPr sz="3900" b="1">
                <a:solidFill>
                  <a:srgbClr val="087FBA"/>
                </a:solidFill>
                <a:latin typeface="Yu Gothic"/>
                <a:ea typeface="Yu Gothic"/>
                <a:cs typeface="Yu Gothic"/>
              </a:rPr>
              <a:t>×</a:t>
            </a:r>
          </a:p>
        </p:txBody>
      </p:sp>
      <p:sp>
        <p:nvSpPr>
          <p:cNvPr id="7" name="">
            <a:extLst xmlns:a="http://schemas.openxmlformats.org/drawingml/2006/main">
              <a:ext uri="{FF2B5EF4-FFF2-40B4-BE49-F238E27FC236}">
                <a16:creationId xmlns:a16="http://schemas.microsoft.com/office/drawing/2014/main" id="{2BA2AD4B-D900-4115-8DE2-86A890177DEF}"/>
              </a:ext>
            </a:extLst>
          </p:cNvPr>
          <p:cNvSpPr>
            <a:spLocks xmlns:a="http://schemas.openxmlformats.org/drawingml/2006/main" noGrp="1"/>
          </p:cNvSpPr>
          <p:nvPr/>
        </p:nvSpPr>
        <p:spPr>
          <a:xfrm xmlns:a="http://schemas.openxmlformats.org/drawingml/2006/main">
            <a:off x="6477000" y="1809750"/>
            <a:ext cx="5048250" cy="128587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8" name="">
            <a:extLst xmlns:a="http://schemas.openxmlformats.org/drawingml/2006/main">
              <a:ext uri="{FF2B5EF4-FFF2-40B4-BE49-F238E27FC236}">
                <a16:creationId xmlns:a16="http://schemas.microsoft.com/office/drawing/2014/main" id="{0330CC5C-1378-4B30-BFEC-2EFF7AB38A97}"/>
              </a:ext>
            </a:extLst>
          </p:cNvPr>
          <p:cNvSpPr>
            <a:spLocks xmlns:a="http://schemas.openxmlformats.org/drawingml/2006/main" noGrp="1"/>
          </p:cNvSpPr>
          <p:nvPr/>
        </p:nvSpPr>
        <p:spPr>
          <a:xfrm xmlns:a="http://schemas.openxmlformats.org/drawingml/2006/main">
            <a:off x="6619875" y="1924050"/>
            <a:ext cx="4762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尤度 P(O｜h)</a:t>
            </a:r>
          </a:p>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その観測の出やすさ</a:t>
            </a:r>
          </a:p>
        </p:txBody>
      </p:sp>
      <p:sp>
        <p:nvSpPr>
          <p:cNvPr id="9" name="">
            <a:extLst xmlns:a="http://schemas.openxmlformats.org/drawingml/2006/main">
              <a:ext uri="{FF2B5EF4-FFF2-40B4-BE49-F238E27FC236}">
                <a16:creationId xmlns:a16="http://schemas.microsoft.com/office/drawing/2014/main" id="{C54F43DE-6D12-46B3-B2C7-B9B6C785DC4F}"/>
              </a:ext>
            </a:extLst>
          </p:cNvPr>
          <p:cNvSpPr>
            <a:spLocks xmlns:a="http://schemas.openxmlformats.org/drawingml/2006/main" noGrp="1"/>
          </p:cNvSpPr>
          <p:nvPr/>
        </p:nvSpPr>
        <p:spPr>
          <a:xfrm xmlns:a="http://schemas.openxmlformats.org/drawingml/2006/main">
            <a:off x="666750" y="32575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0">
                <a:solidFill>
                  <a:srgbClr val="17354A"/>
                </a:solidFill>
                <a:latin typeface="Yu Gothic"/>
                <a:ea typeface="Yu Gothic"/>
                <a:cs typeface="Yu Gothic"/>
              </a:defRPr>
            </a:pPr>
            <a:r>
              <a:rPr sz="2100" b="0">
                <a:solidFill>
                  <a:srgbClr val="17354A"/>
                </a:solidFill>
                <a:latin typeface="Yu Gothic"/>
                <a:ea typeface="Yu Gothic"/>
                <a:cs typeface="Yu Gothic"/>
              </a:rPr>
              <a:t>公開ODデータから設定</a:t>
            </a:r>
          </a:p>
        </p:txBody>
      </p:sp>
      <p:sp>
        <p:nvSpPr>
          <p:cNvPr id="10" name="">
            <a:extLst xmlns:a="http://schemas.openxmlformats.org/drawingml/2006/main">
              <a:ext uri="{FF2B5EF4-FFF2-40B4-BE49-F238E27FC236}">
                <a16:creationId xmlns:a16="http://schemas.microsoft.com/office/drawing/2014/main" id="{6A29FE6A-09B4-436D-A3FC-5AF5E27857CE}"/>
              </a:ext>
            </a:extLst>
          </p:cNvPr>
          <p:cNvSpPr>
            <a:spLocks xmlns:a="http://schemas.openxmlformats.org/drawingml/2006/main" noGrp="1"/>
          </p:cNvSpPr>
          <p:nvPr/>
        </p:nvSpPr>
        <p:spPr>
          <a:xfrm xmlns:a="http://schemas.openxmlformats.org/drawingml/2006/main">
            <a:off x="6572250" y="32575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0">
                <a:solidFill>
                  <a:srgbClr val="17354A"/>
                </a:solidFill>
                <a:latin typeface="Yu Gothic"/>
                <a:ea typeface="Yu Gothic"/>
                <a:cs typeface="Yu Gothic"/>
              </a:defRPr>
            </a:pPr>
            <a:r>
              <a:rPr sz="2100" b="0">
                <a:solidFill>
                  <a:srgbClr val="17354A"/>
                </a:solidFill>
                <a:latin typeface="Yu Gothic"/>
                <a:ea typeface="Yu Gothic"/>
                <a:cs typeface="Yu Gothic"/>
              </a:rPr>
              <a:t>検出・見逃しを組み合わせる</a:t>
            </a:r>
          </a:p>
        </p:txBody>
      </p:sp>
      <p:sp>
        <p:nvSpPr>
          <p:cNvPr id="11" name="">
            <a:extLst xmlns:a="http://schemas.openxmlformats.org/drawingml/2006/main">
              <a:ext uri="{FF2B5EF4-FFF2-40B4-BE49-F238E27FC236}">
                <a16:creationId xmlns:a16="http://schemas.microsoft.com/office/drawing/2014/main" id="{DE4D8746-4128-4A87-BFE3-F0B5704D6C3A}"/>
              </a:ext>
            </a:extLst>
          </p:cNvPr>
          <p:cNvSpPr>
            <a:spLocks xmlns:a="http://schemas.openxmlformats.org/drawingml/2006/main" noGrp="1"/>
          </p:cNvSpPr>
          <p:nvPr/>
        </p:nvSpPr>
        <p:spPr>
          <a:xfrm xmlns:a="http://schemas.openxmlformats.org/drawingml/2006/main">
            <a:off x="1143000" y="4162425"/>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775" b="1">
                <a:solidFill>
                  <a:srgbClr val="087FBA"/>
                </a:solidFill>
                <a:latin typeface="Yu Gothic"/>
                <a:ea typeface="Yu Gothic"/>
                <a:cs typeface="Yu Gothic"/>
              </a:defRPr>
            </a:pPr>
            <a:r>
              <a:rPr sz="2775" b="1">
                <a:solidFill>
                  <a:srgbClr val="087FBA"/>
                </a:solidFill>
                <a:latin typeface="Yu Gothic"/>
                <a:ea typeface="Yu Gothic"/>
                <a:cs typeface="Yu Gothic"/>
              </a:rPr>
              <a:t>各候補のスコアを比較し、最大のODを選ぶ</a:t>
            </a:r>
          </a:p>
        </p:txBody>
      </p:sp>
      <p:sp>
        <p:nvSpPr>
          <p:cNvPr id="12" name="">
            <a:extLst xmlns:a="http://schemas.openxmlformats.org/drawingml/2006/main">
              <a:ext uri="{FF2B5EF4-FFF2-40B4-BE49-F238E27FC236}">
                <a16:creationId xmlns:a16="http://schemas.microsoft.com/office/drawing/2014/main" id="{A83D6903-6B64-4C42-8D1D-05715119832B}"/>
              </a:ext>
            </a:extLst>
          </p:cNvPr>
          <p:cNvSpPr>
            <a:spLocks xmlns:a="http://schemas.openxmlformats.org/drawingml/2006/main" noGrp="1"/>
          </p:cNvSpPr>
          <p:nvPr/>
        </p:nvSpPr>
        <p:spPr>
          <a:xfrm xmlns:a="http://schemas.openxmlformats.org/drawingml/2006/main">
            <a:off x="619125" y="514350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0">
                <a:solidFill>
                  <a:srgbClr val="17354A"/>
                </a:solidFill>
                <a:latin typeface="Yu Gothic"/>
                <a:ea typeface="Yu Gothic"/>
                <a:cs typeface="Yu Gothic"/>
              </a:defRPr>
            </a:pPr>
            <a:r>
              <a:rPr sz="2250" b="0">
                <a:solidFill>
                  <a:srgbClr val="17354A"/>
                </a:solidFill>
                <a:latin typeface="Yu Gothic"/>
                <a:ea typeface="Yu Gothic"/>
                <a:cs typeface="Yu Gothic"/>
              </a:rPr>
              <a:t>生成側：経路外の誤検出 0</a:t>
            </a:r>
          </a:p>
        </p:txBody>
      </p:sp>
      <p:sp>
        <p:nvSpPr>
          <p:cNvPr id="13" name="">
            <a:extLst xmlns:a="http://schemas.openxmlformats.org/drawingml/2006/main">
              <a:ext uri="{FF2B5EF4-FFF2-40B4-BE49-F238E27FC236}">
                <a16:creationId xmlns:a16="http://schemas.microsoft.com/office/drawing/2014/main" id="{E9C1BEDC-A6E2-419A-94D1-7221A3D3AEAC}"/>
              </a:ext>
            </a:extLst>
          </p:cNvPr>
          <p:cNvSpPr>
            <a:spLocks xmlns:a="http://schemas.openxmlformats.org/drawingml/2006/main" noGrp="1"/>
          </p:cNvSpPr>
          <p:nvPr/>
        </p:nvSpPr>
        <p:spPr>
          <a:xfrm xmlns:a="http://schemas.openxmlformats.org/drawingml/2006/main">
            <a:off x="6953250" y="514350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D77824"/>
                </a:solidFill>
                <a:latin typeface="Yu Gothic"/>
                <a:ea typeface="Yu Gothic"/>
                <a:cs typeface="Yu Gothic"/>
              </a:defRPr>
            </a:pPr>
            <a:r>
              <a:rPr sz="2250" b="1">
                <a:solidFill>
                  <a:srgbClr val="D77824"/>
                </a:solidFill>
                <a:latin typeface="Yu Gothic"/>
                <a:ea typeface="Yu Gothic"/>
                <a:cs typeface="Yu Gothic"/>
              </a:rPr>
              <a:t>推定側：q = 10⁻⁴</a:t>
            </a:r>
          </a:p>
        </p:txBody>
      </p:sp>
      <p:sp>
        <p:nvSpPr>
          <p:cNvPr id="14" name="">
            <a:extLst xmlns:a="http://schemas.openxmlformats.org/drawingml/2006/main">
              <a:ext uri="{FF2B5EF4-FFF2-40B4-BE49-F238E27FC236}">
                <a16:creationId xmlns:a16="http://schemas.microsoft.com/office/drawing/2014/main" id="{9624C1D7-FD67-4FAF-8DBD-DFC36C13255F}"/>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q &gt; 0 なので、経路外の観測がある候補も尤度を厳密に0にしない</a:t>
            </a:r>
          </a:p>
        </p:txBody>
      </p:sp>
    </p:spTree>
    <p:extLst>
      <p:ext uri="{BB962C8B-B14F-4D97-AF65-F5344CB8AC3E}">
        <p14:creationId xmlns:p14="http://schemas.microsoft.com/office/powerpoint/2010/main" val="1211458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36DDDE8-CC4C-4FBC-A8B4-115981F2AB21}"/>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課金の分岐は「観測があるか」</a:t>
            </a:r>
          </a:p>
        </p:txBody>
      </p:sp>
      <p:sp>
        <p:nvSpPr>
          <p:cNvPr id="2" name="">
            <a:extLst xmlns:a="http://schemas.openxmlformats.org/drawingml/2006/main">
              <a:ext uri="{FF2B5EF4-FFF2-40B4-BE49-F238E27FC236}">
                <a16:creationId xmlns:a16="http://schemas.microsoft.com/office/drawing/2014/main" id="{585E6C23-FED4-4BA4-A727-B77C4535901E}"/>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587810-E004-4650-BFEF-1D4AAD9E5AF9}"/>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07</a:t>
            </a:r>
          </a:p>
        </p:txBody>
      </p:sp>
      <p:sp>
        <p:nvSpPr>
          <p:cNvPr id="4" name="">
            <a:extLst xmlns:a="http://schemas.openxmlformats.org/drawingml/2006/main">
              <a:ext uri="{FF2B5EF4-FFF2-40B4-BE49-F238E27FC236}">
                <a16:creationId xmlns:a16="http://schemas.microsoft.com/office/drawing/2014/main" id="{E989C986-8D02-4AF9-A736-740CEB9CC222}"/>
              </a:ext>
            </a:extLst>
          </p:cNvPr>
          <p:cNvSpPr>
            <a:spLocks xmlns:a="http://schemas.openxmlformats.org/drawingml/2006/main" noGrp="1"/>
          </p:cNvSpPr>
          <p:nvPr/>
        </p:nvSpPr>
        <p:spPr>
          <a:xfrm xmlns:a="http://schemas.openxmlformats.org/drawingml/2006/main">
            <a:off x="619125" y="2876550"/>
            <a:ext cx="2095500" cy="952500"/>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5" name="">
            <a:extLst xmlns:a="http://schemas.openxmlformats.org/drawingml/2006/main">
              <a:ext uri="{FF2B5EF4-FFF2-40B4-BE49-F238E27FC236}">
                <a16:creationId xmlns:a16="http://schemas.microsoft.com/office/drawing/2014/main" id="{EDB2545C-BEA0-4D17-A60B-1FD3AECCC6BF}"/>
              </a:ext>
            </a:extLst>
          </p:cNvPr>
          <p:cNvSpPr>
            <a:spLocks xmlns:a="http://schemas.openxmlformats.org/drawingml/2006/main" noGrp="1"/>
          </p:cNvSpPr>
          <p:nvPr/>
        </p:nvSpPr>
        <p:spPr>
          <a:xfrm xmlns:a="http://schemas.openxmlformats.org/drawingml/2006/main">
            <a:off x="762000" y="2990850"/>
            <a:ext cx="180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1回の利用</a:t>
            </a:r>
          </a:p>
        </p:txBody>
      </p:sp>
      <p:sp>
        <p:nvSpPr>
          <p:cNvPr id="6" name="">
            <a:extLst xmlns:a="http://schemas.openxmlformats.org/drawingml/2006/main">
              <a:ext uri="{FF2B5EF4-FFF2-40B4-BE49-F238E27FC236}">
                <a16:creationId xmlns:a16="http://schemas.microsoft.com/office/drawing/2014/main" id="{6133CFF5-4B6D-4290-B282-13DBA5254E33}"/>
              </a:ext>
            </a:extLst>
          </p:cNvPr>
          <p:cNvSpPr>
            <a:spLocks xmlns:a="http://schemas.openxmlformats.org/drawingml/2006/main" noGrp="1"/>
          </p:cNvSpPr>
          <p:nvPr/>
        </p:nvSpPr>
        <p:spPr>
          <a:xfrm xmlns:a="http://schemas.openxmlformats.org/drawingml/2006/main">
            <a:off x="2714625" y="3333750"/>
            <a:ext cx="619125" cy="3810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8F6D6CF-A1FA-4DCA-B581-C08DC665831F}"/>
              </a:ext>
            </a:extLst>
          </p:cNvPr>
          <p:cNvSpPr>
            <a:spLocks xmlns:a="http://schemas.openxmlformats.org/drawingml/2006/main" noGrp="1"/>
          </p:cNvSpPr>
          <p:nvPr/>
        </p:nvSpPr>
        <p:spPr>
          <a:xfrm xmlns:a="http://schemas.openxmlformats.org/drawingml/2006/main">
            <a:off x="3314700" y="2381250"/>
            <a:ext cx="38100" cy="21907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F504A42-FCFB-4FB3-887A-89BD137500AB}"/>
              </a:ext>
            </a:extLst>
          </p:cNvPr>
          <p:cNvSpPr>
            <a:spLocks xmlns:a="http://schemas.openxmlformats.org/drawingml/2006/main" noGrp="1"/>
          </p:cNvSpPr>
          <p:nvPr/>
        </p:nvSpPr>
        <p:spPr>
          <a:xfrm xmlns:a="http://schemas.openxmlformats.org/drawingml/2006/main">
            <a:off x="3333750" y="2266950"/>
            <a:ext cx="552450"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A0B7A08-9331-4B33-BC83-F8C571DDC523}"/>
              </a:ext>
            </a:extLst>
          </p:cNvPr>
          <p:cNvSpPr>
            <a:spLocks xmlns:a="http://schemas.openxmlformats.org/drawingml/2006/main" noGrp="1"/>
          </p:cNvSpPr>
          <p:nvPr/>
        </p:nvSpPr>
        <p:spPr>
          <a:xfrm xmlns:a="http://schemas.openxmlformats.org/drawingml/2006/main">
            <a:off x="3333750" y="4438650"/>
            <a:ext cx="552450"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1E96B12-6FEF-40F5-9D48-F9E79C876CCF}"/>
              </a:ext>
            </a:extLst>
          </p:cNvPr>
          <p:cNvSpPr>
            <a:spLocks xmlns:a="http://schemas.openxmlformats.org/drawingml/2006/main" noGrp="1"/>
          </p:cNvSpPr>
          <p:nvPr/>
        </p:nvSpPr>
        <p:spPr>
          <a:xfrm xmlns:a="http://schemas.openxmlformats.org/drawingml/2006/main">
            <a:off x="3905250" y="1809750"/>
            <a:ext cx="2524125" cy="119062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11" name="">
            <a:extLst xmlns:a="http://schemas.openxmlformats.org/drawingml/2006/main">
              <a:ext uri="{FF2B5EF4-FFF2-40B4-BE49-F238E27FC236}">
                <a16:creationId xmlns:a16="http://schemas.microsoft.com/office/drawing/2014/main" id="{909DD091-5733-4922-BB57-F0E4E9D47614}"/>
              </a:ext>
            </a:extLst>
          </p:cNvPr>
          <p:cNvSpPr>
            <a:spLocks xmlns:a="http://schemas.openxmlformats.org/drawingml/2006/main" noGrp="1"/>
          </p:cNvSpPr>
          <p:nvPr/>
        </p:nvSpPr>
        <p:spPr>
          <a:xfrm xmlns:a="http://schemas.openxmlformats.org/drawingml/2006/main">
            <a:off x="4048125" y="1924050"/>
            <a:ext cx="2238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観測あり</a:t>
            </a:r>
          </a:p>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O ≠ ∅</a:t>
            </a:r>
          </a:p>
        </p:txBody>
      </p:sp>
      <p:sp>
        <p:nvSpPr>
          <p:cNvPr id="12" name="">
            <a:extLst xmlns:a="http://schemas.openxmlformats.org/drawingml/2006/main">
              <a:ext uri="{FF2B5EF4-FFF2-40B4-BE49-F238E27FC236}">
                <a16:creationId xmlns:a16="http://schemas.microsoft.com/office/drawing/2014/main" id="{D1DAE2AB-7AAC-43A7-BB12-4F9999B9F5DE}"/>
              </a:ext>
            </a:extLst>
          </p:cNvPr>
          <p:cNvSpPr>
            <a:spLocks xmlns:a="http://schemas.openxmlformats.org/drawingml/2006/main" noGrp="1"/>
          </p:cNvSpPr>
          <p:nvPr/>
        </p:nvSpPr>
        <p:spPr>
          <a:xfrm xmlns:a="http://schemas.openxmlformats.org/drawingml/2006/main">
            <a:off x="6667500" y="2286000"/>
            <a:ext cx="666750"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AC71256-28C8-4AD7-B26C-E0C1F8AE6538}"/>
              </a:ext>
            </a:extLst>
          </p:cNvPr>
          <p:cNvSpPr>
            <a:spLocks xmlns:a="http://schemas.openxmlformats.org/drawingml/2006/main" noGrp="1"/>
          </p:cNvSpPr>
          <p:nvPr/>
        </p:nvSpPr>
        <p:spPr>
          <a:xfrm xmlns:a="http://schemas.openxmlformats.org/drawingml/2006/main">
            <a:off x="7715250" y="1809750"/>
            <a:ext cx="3810000" cy="119062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14" name="">
            <a:extLst xmlns:a="http://schemas.openxmlformats.org/drawingml/2006/main">
              <a:ext uri="{FF2B5EF4-FFF2-40B4-BE49-F238E27FC236}">
                <a16:creationId xmlns:a16="http://schemas.microsoft.com/office/drawing/2014/main" id="{59EEA7DC-7784-434E-8FAB-5DAF85E43546}"/>
              </a:ext>
            </a:extLst>
          </p:cNvPr>
          <p:cNvSpPr>
            <a:spLocks xmlns:a="http://schemas.openxmlformats.org/drawingml/2006/main" noGrp="1"/>
          </p:cNvSpPr>
          <p:nvPr/>
        </p:nvSpPr>
        <p:spPr>
          <a:xfrm xmlns:a="http://schemas.openxmlformats.org/drawingml/2006/main">
            <a:off x="7858125" y="1924050"/>
            <a:ext cx="3524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MAP推定した</a:t>
            </a:r>
          </a:p>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ODの運賃を課金</a:t>
            </a:r>
          </a:p>
        </p:txBody>
      </p:sp>
      <p:sp>
        <p:nvSpPr>
          <p:cNvPr id="15" name="">
            <a:extLst xmlns:a="http://schemas.openxmlformats.org/drawingml/2006/main">
              <a:ext uri="{FF2B5EF4-FFF2-40B4-BE49-F238E27FC236}">
                <a16:creationId xmlns:a16="http://schemas.microsoft.com/office/drawing/2014/main" id="{8B8C233A-67EA-4BA4-9B0E-1BDA11A5C3EC}"/>
              </a:ext>
            </a:extLst>
          </p:cNvPr>
          <p:cNvSpPr>
            <a:spLocks xmlns:a="http://schemas.openxmlformats.org/drawingml/2006/main" noGrp="1"/>
          </p:cNvSpPr>
          <p:nvPr/>
        </p:nvSpPr>
        <p:spPr>
          <a:xfrm xmlns:a="http://schemas.openxmlformats.org/drawingml/2006/main">
            <a:off x="3905250" y="4000500"/>
            <a:ext cx="2524125" cy="119062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16" name="">
            <a:extLst xmlns:a="http://schemas.openxmlformats.org/drawingml/2006/main">
              <a:ext uri="{FF2B5EF4-FFF2-40B4-BE49-F238E27FC236}">
                <a16:creationId xmlns:a16="http://schemas.microsoft.com/office/drawing/2014/main" id="{C4F6DDA2-47C1-4BE7-BDF2-A78D6AF3E6D1}"/>
              </a:ext>
            </a:extLst>
          </p:cNvPr>
          <p:cNvSpPr>
            <a:spLocks xmlns:a="http://schemas.openxmlformats.org/drawingml/2006/main" noGrp="1"/>
          </p:cNvSpPr>
          <p:nvPr/>
        </p:nvSpPr>
        <p:spPr>
          <a:xfrm xmlns:a="http://schemas.openxmlformats.org/drawingml/2006/main">
            <a:off x="4048125" y="4114800"/>
            <a:ext cx="2238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全未検出</a:t>
            </a:r>
          </a:p>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O = ∅</a:t>
            </a:r>
          </a:p>
        </p:txBody>
      </p:sp>
      <p:sp>
        <p:nvSpPr>
          <p:cNvPr id="17" name="">
            <a:extLst xmlns:a="http://schemas.openxmlformats.org/drawingml/2006/main">
              <a:ext uri="{FF2B5EF4-FFF2-40B4-BE49-F238E27FC236}">
                <a16:creationId xmlns:a16="http://schemas.microsoft.com/office/drawing/2014/main" id="{D9C7FA50-AE9B-42D1-95C0-AC1BAD4F0905}"/>
              </a:ext>
            </a:extLst>
          </p:cNvPr>
          <p:cNvSpPr>
            <a:spLocks xmlns:a="http://schemas.openxmlformats.org/drawingml/2006/main" noGrp="1"/>
          </p:cNvSpPr>
          <p:nvPr/>
        </p:nvSpPr>
        <p:spPr>
          <a:xfrm xmlns:a="http://schemas.openxmlformats.org/drawingml/2006/main">
            <a:off x="6667500" y="4429125"/>
            <a:ext cx="666750"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847C2BC-BEFE-4035-A8C5-1E836E406045}"/>
              </a:ext>
            </a:extLst>
          </p:cNvPr>
          <p:cNvSpPr>
            <a:spLocks xmlns:a="http://schemas.openxmlformats.org/drawingml/2006/main" noGrp="1"/>
          </p:cNvSpPr>
          <p:nvPr/>
        </p:nvSpPr>
        <p:spPr>
          <a:xfrm xmlns:a="http://schemas.openxmlformats.org/drawingml/2006/main">
            <a:off x="7715250" y="4000500"/>
            <a:ext cx="3810000" cy="119062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19" name="">
            <a:extLst xmlns:a="http://schemas.openxmlformats.org/drawingml/2006/main">
              <a:ext uri="{FF2B5EF4-FFF2-40B4-BE49-F238E27FC236}">
                <a16:creationId xmlns:a16="http://schemas.microsoft.com/office/drawing/2014/main" id="{9758E34F-971D-48E2-8E58-A4DC121C78B6}"/>
              </a:ext>
            </a:extLst>
          </p:cNvPr>
          <p:cNvSpPr>
            <a:spLocks xmlns:a="http://schemas.openxmlformats.org/drawingml/2006/main" noGrp="1"/>
          </p:cNvSpPr>
          <p:nvPr/>
        </p:nvSpPr>
        <p:spPr>
          <a:xfrm xmlns:a="http://schemas.openxmlformats.org/drawingml/2006/main">
            <a:off x="7858125" y="4114800"/>
            <a:ext cx="35242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徴収額 0円</a:t>
            </a:r>
          </a:p>
        </p:txBody>
      </p:sp>
      <p:sp>
        <p:nvSpPr>
          <p:cNvPr id="20" name="">
            <a:extLst xmlns:a="http://schemas.openxmlformats.org/drawingml/2006/main">
              <a:ext uri="{FF2B5EF4-FFF2-40B4-BE49-F238E27FC236}">
                <a16:creationId xmlns:a16="http://schemas.microsoft.com/office/drawing/2014/main" id="{833A4C2E-2016-4DB2-9761-7D14A405E09C}"/>
              </a:ext>
            </a:extLst>
          </p:cNvPr>
          <p:cNvSpPr>
            <a:spLocks xmlns:a="http://schemas.openxmlformats.org/drawingml/2006/main" noGrp="1"/>
          </p:cNvSpPr>
          <p:nvPr/>
        </p:nvSpPr>
        <p:spPr>
          <a:xfrm xmlns:a="http://schemas.openxmlformats.org/drawingml/2006/main">
            <a:off x="4000500" y="321945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1">
                <a:solidFill>
                  <a:srgbClr val="087FBA"/>
                </a:solidFill>
                <a:latin typeface="Yu Gothic"/>
                <a:ea typeface="Yu Gothic"/>
                <a:cs typeface="Yu Gothic"/>
              </a:defRPr>
            </a:pPr>
            <a:r>
              <a:rPr sz="2400" b="1">
                <a:solidFill>
                  <a:srgbClr val="087FBA"/>
                </a:solidFill>
                <a:latin typeface="Yu Gothic"/>
                <a:ea typeface="Yu Gothic"/>
                <a:cs typeface="Yu Gothic"/>
              </a:rPr>
              <a:t>非空観測には信頼度閾値を設けない</a:t>
            </a:r>
          </a:p>
        </p:txBody>
      </p:sp>
      <p:sp>
        <p:nvSpPr>
          <p:cNvPr id="21" name="">
            <a:extLst xmlns:a="http://schemas.openxmlformats.org/drawingml/2006/main">
              <a:ext uri="{FF2B5EF4-FFF2-40B4-BE49-F238E27FC236}">
                <a16:creationId xmlns:a16="http://schemas.microsoft.com/office/drawing/2014/main" id="{2BF3E600-1AA6-45CB-B77E-411AF5CAB66F}"/>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0円は全未検出の場合。低信頼度による「判定不能0円」は使わない</a:t>
            </a:r>
          </a:p>
        </p:txBody>
      </p:sp>
    </p:spTree>
    <p:extLst>
      <p:ext uri="{BB962C8B-B14F-4D97-AF65-F5344CB8AC3E}">
        <p14:creationId xmlns:p14="http://schemas.microsoft.com/office/powerpoint/2010/main" val="143257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6712C7D-23CE-40D4-A21F-9F726156BF8D}"/>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運賃回収率は「収入総額の比」</a:t>
            </a:r>
          </a:p>
        </p:txBody>
      </p:sp>
      <p:sp>
        <p:nvSpPr>
          <p:cNvPr id="2" name="">
            <a:extLst xmlns:a="http://schemas.openxmlformats.org/drawingml/2006/main">
              <a:ext uri="{FF2B5EF4-FFF2-40B4-BE49-F238E27FC236}">
                <a16:creationId xmlns:a16="http://schemas.microsoft.com/office/drawing/2014/main" id="{1EC39847-642B-4916-993F-A56F9C85A4AD}"/>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46F444-E4B3-4A65-940C-FEE5F4DEF755}"/>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08</a:t>
            </a:r>
          </a:p>
        </p:txBody>
      </p:sp>
      <p:sp>
        <p:nvSpPr>
          <p:cNvPr id="4" name="">
            <a:extLst xmlns:a="http://schemas.openxmlformats.org/drawingml/2006/main">
              <a:ext uri="{FF2B5EF4-FFF2-40B4-BE49-F238E27FC236}">
                <a16:creationId xmlns:a16="http://schemas.microsoft.com/office/drawing/2014/main" id="{79C1E6E3-FB35-44A6-8F44-69A26231B6A9}"/>
              </a:ext>
            </a:extLst>
          </p:cNvPr>
          <p:cNvSpPr>
            <a:spLocks xmlns:a="http://schemas.openxmlformats.org/drawingml/2006/main" noGrp="1"/>
          </p:cNvSpPr>
          <p:nvPr/>
        </p:nvSpPr>
        <p:spPr>
          <a:xfrm xmlns:a="http://schemas.openxmlformats.org/drawingml/2006/main">
            <a:off x="666750" y="14954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925" b="1">
                <a:solidFill>
                  <a:srgbClr val="087FBA"/>
                </a:solidFill>
                <a:latin typeface="Yu Gothic"/>
                <a:ea typeface="Yu Gothic"/>
                <a:cs typeface="Yu Gothic"/>
              </a:defRPr>
            </a:pPr>
            <a:r>
              <a:rPr sz="2925" b="1">
                <a:solidFill>
                  <a:srgbClr val="087FBA"/>
                </a:solidFill>
                <a:latin typeface="Yu Gothic"/>
                <a:ea typeface="Yu Gothic"/>
                <a:cs typeface="Yu Gothic"/>
              </a:rPr>
              <a:t>R ＝ 徴収額の合計 ÷ 本来の運賃の合計</a:t>
            </a:r>
          </a:p>
        </p:txBody>
      </p:sp>
      <p:sp>
        <p:nvSpPr>
          <p:cNvPr id="5" name="">
            <a:extLst xmlns:a="http://schemas.openxmlformats.org/drawingml/2006/main">
              <a:ext uri="{FF2B5EF4-FFF2-40B4-BE49-F238E27FC236}">
                <a16:creationId xmlns:a16="http://schemas.microsoft.com/office/drawing/2014/main" id="{A57740C2-F6E2-4D5A-ACAC-4E33389793AC}"/>
              </a:ext>
            </a:extLst>
          </p:cNvPr>
          <p:cNvSpPr>
            <a:spLocks xmlns:a="http://schemas.openxmlformats.org/drawingml/2006/main" noGrp="1"/>
          </p:cNvSpPr>
          <p:nvPr/>
        </p:nvSpPr>
        <p:spPr>
          <a:xfrm xmlns:a="http://schemas.openxmlformats.org/drawingml/2006/main">
            <a:off x="762000" y="257175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説明例</a:t>
            </a:r>
          </a:p>
        </p:txBody>
      </p:sp>
      <p:sp>
        <p:nvSpPr>
          <p:cNvPr id="6" name="">
            <a:extLst xmlns:a="http://schemas.openxmlformats.org/drawingml/2006/main">
              <a:ext uri="{FF2B5EF4-FFF2-40B4-BE49-F238E27FC236}">
                <a16:creationId xmlns:a16="http://schemas.microsoft.com/office/drawing/2014/main" id="{F524D5B4-082E-40D0-B74E-75C0646F14EF}"/>
              </a:ext>
            </a:extLst>
          </p:cNvPr>
          <p:cNvSpPr>
            <a:spLocks xmlns:a="http://schemas.openxmlformats.org/drawingml/2006/main" noGrp="1"/>
          </p:cNvSpPr>
          <p:nvPr/>
        </p:nvSpPr>
        <p:spPr>
          <a:xfrm xmlns:a="http://schemas.openxmlformats.org/drawingml/2006/main">
            <a:off x="4953000" y="257175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本来の運賃</a:t>
            </a:r>
          </a:p>
        </p:txBody>
      </p:sp>
      <p:sp>
        <p:nvSpPr>
          <p:cNvPr id="7" name="">
            <a:extLst xmlns:a="http://schemas.openxmlformats.org/drawingml/2006/main">
              <a:ext uri="{FF2B5EF4-FFF2-40B4-BE49-F238E27FC236}">
                <a16:creationId xmlns:a16="http://schemas.microsoft.com/office/drawing/2014/main" id="{BA05EE2E-3B17-477B-AE22-43C050A375BE}"/>
              </a:ext>
            </a:extLst>
          </p:cNvPr>
          <p:cNvSpPr>
            <a:spLocks xmlns:a="http://schemas.openxmlformats.org/drawingml/2006/main" noGrp="1"/>
          </p:cNvSpPr>
          <p:nvPr/>
        </p:nvSpPr>
        <p:spPr>
          <a:xfrm xmlns:a="http://schemas.openxmlformats.org/drawingml/2006/main">
            <a:off x="8096250" y="2571750"/>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徴収額</a:t>
            </a:r>
          </a:p>
        </p:txBody>
      </p:sp>
      <p:sp>
        <p:nvSpPr>
          <p:cNvPr id="8" name="">
            <a:extLst xmlns:a="http://schemas.openxmlformats.org/drawingml/2006/main">
              <a:ext uri="{FF2B5EF4-FFF2-40B4-BE49-F238E27FC236}">
                <a16:creationId xmlns:a16="http://schemas.microsoft.com/office/drawing/2014/main" id="{F85D7616-DD2C-4582-9875-82835D533EB5}"/>
              </a:ext>
            </a:extLst>
          </p:cNvPr>
          <p:cNvSpPr>
            <a:spLocks xmlns:a="http://schemas.openxmlformats.org/drawingml/2006/main" noGrp="1"/>
          </p:cNvSpPr>
          <p:nvPr/>
        </p:nvSpPr>
        <p:spPr>
          <a:xfrm xmlns:a="http://schemas.openxmlformats.org/drawingml/2006/main">
            <a:off x="666750" y="3124200"/>
            <a:ext cx="10668000" cy="19050"/>
          </a:xfrm>
          <a:prstGeom xmlns:a="http://schemas.openxmlformats.org/drawingml/2006/main" prst="rect">
            <a:avLst/>
          </a:prstGeom>
          <a:solidFill xmlns:a="http://schemas.openxmlformats.org/drawingml/2006/main">
            <a:srgbClr val="A7BC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6B37572-9E72-493F-84EA-F9F02246189C}"/>
              </a:ext>
            </a:extLst>
          </p:cNvPr>
          <p:cNvSpPr>
            <a:spLocks xmlns:a="http://schemas.openxmlformats.org/drawingml/2006/main" noGrp="1"/>
          </p:cNvSpPr>
          <p:nvPr/>
        </p:nvSpPr>
        <p:spPr>
          <a:xfrm xmlns:a="http://schemas.openxmlformats.org/drawingml/2006/main">
            <a:off x="762000" y="34290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0">
                <a:solidFill>
                  <a:srgbClr val="17354A"/>
                </a:solidFill>
                <a:latin typeface="Yu Gothic"/>
                <a:ea typeface="Yu Gothic"/>
                <a:cs typeface="Yu Gothic"/>
              </a:defRPr>
            </a:pPr>
            <a:r>
              <a:rPr sz="2250" b="0">
                <a:solidFill>
                  <a:srgbClr val="17354A"/>
                </a:solidFill>
                <a:latin typeface="Yu Gothic"/>
                <a:ea typeface="Yu Gothic"/>
                <a:cs typeface="Yu Gothic"/>
              </a:rPr>
              <a:t>利用者A：観測あり</a:t>
            </a:r>
          </a:p>
        </p:txBody>
      </p:sp>
      <p:sp>
        <p:nvSpPr>
          <p:cNvPr id="10" name="">
            <a:extLst xmlns:a="http://schemas.openxmlformats.org/drawingml/2006/main">
              <a:ext uri="{FF2B5EF4-FFF2-40B4-BE49-F238E27FC236}">
                <a16:creationId xmlns:a16="http://schemas.microsoft.com/office/drawing/2014/main" id="{DEDC994B-8EC7-4E76-B489-6E4B6EBF4DEB}"/>
              </a:ext>
            </a:extLst>
          </p:cNvPr>
          <p:cNvSpPr>
            <a:spLocks xmlns:a="http://schemas.openxmlformats.org/drawingml/2006/main" noGrp="1"/>
          </p:cNvSpPr>
          <p:nvPr/>
        </p:nvSpPr>
        <p:spPr>
          <a:xfrm xmlns:a="http://schemas.openxmlformats.org/drawingml/2006/main">
            <a:off x="4953000" y="342900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0">
                <a:solidFill>
                  <a:srgbClr val="17354A"/>
                </a:solidFill>
                <a:latin typeface="Yu Gothic"/>
                <a:ea typeface="Yu Gothic"/>
                <a:cs typeface="Yu Gothic"/>
              </a:defRPr>
            </a:pPr>
            <a:r>
              <a:rPr sz="2250" b="0">
                <a:solidFill>
                  <a:srgbClr val="17354A"/>
                </a:solidFill>
                <a:latin typeface="Yu Gothic"/>
                <a:ea typeface="Yu Gothic"/>
                <a:cs typeface="Yu Gothic"/>
              </a:rPr>
              <a:t>240円</a:t>
            </a:r>
          </a:p>
        </p:txBody>
      </p:sp>
      <p:sp>
        <p:nvSpPr>
          <p:cNvPr id="11" name="">
            <a:extLst xmlns:a="http://schemas.openxmlformats.org/drawingml/2006/main">
              <a:ext uri="{FF2B5EF4-FFF2-40B4-BE49-F238E27FC236}">
                <a16:creationId xmlns:a16="http://schemas.microsoft.com/office/drawing/2014/main" id="{0FA0960B-7A77-44D6-9040-C9E5DE7CF214}"/>
              </a:ext>
            </a:extLst>
          </p:cNvPr>
          <p:cNvSpPr>
            <a:spLocks xmlns:a="http://schemas.openxmlformats.org/drawingml/2006/main" noGrp="1"/>
          </p:cNvSpPr>
          <p:nvPr/>
        </p:nvSpPr>
        <p:spPr>
          <a:xfrm xmlns:a="http://schemas.openxmlformats.org/drawingml/2006/main">
            <a:off x="8096250" y="342900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0">
                <a:solidFill>
                  <a:srgbClr val="17354A"/>
                </a:solidFill>
                <a:latin typeface="Yu Gothic"/>
                <a:ea typeface="Yu Gothic"/>
                <a:cs typeface="Yu Gothic"/>
              </a:defRPr>
            </a:pPr>
            <a:r>
              <a:rPr sz="2250" b="0">
                <a:solidFill>
                  <a:srgbClr val="17354A"/>
                </a:solidFill>
                <a:latin typeface="Yu Gothic"/>
                <a:ea typeface="Yu Gothic"/>
                <a:cs typeface="Yu Gothic"/>
              </a:rPr>
              <a:t>210円</a:t>
            </a:r>
          </a:p>
        </p:txBody>
      </p:sp>
      <p:sp>
        <p:nvSpPr>
          <p:cNvPr id="12" name="">
            <a:extLst xmlns:a="http://schemas.openxmlformats.org/drawingml/2006/main">
              <a:ext uri="{FF2B5EF4-FFF2-40B4-BE49-F238E27FC236}">
                <a16:creationId xmlns:a16="http://schemas.microsoft.com/office/drawing/2014/main" id="{A2A008EF-8BF2-4797-B352-C09ABA0F9959}"/>
              </a:ext>
            </a:extLst>
          </p:cNvPr>
          <p:cNvSpPr>
            <a:spLocks xmlns:a="http://schemas.openxmlformats.org/drawingml/2006/main" noGrp="1"/>
          </p:cNvSpPr>
          <p:nvPr/>
        </p:nvSpPr>
        <p:spPr>
          <a:xfrm xmlns:a="http://schemas.openxmlformats.org/drawingml/2006/main">
            <a:off x="762000" y="41910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0">
                <a:solidFill>
                  <a:srgbClr val="17354A"/>
                </a:solidFill>
                <a:latin typeface="Yu Gothic"/>
                <a:ea typeface="Yu Gothic"/>
                <a:cs typeface="Yu Gothic"/>
              </a:defRPr>
            </a:pPr>
            <a:r>
              <a:rPr sz="2250" b="0">
                <a:solidFill>
                  <a:srgbClr val="17354A"/>
                </a:solidFill>
                <a:latin typeface="Yu Gothic"/>
                <a:ea typeface="Yu Gothic"/>
                <a:cs typeface="Yu Gothic"/>
              </a:rPr>
              <a:t>利用者B：全未検出</a:t>
            </a:r>
          </a:p>
        </p:txBody>
      </p:sp>
      <p:sp>
        <p:nvSpPr>
          <p:cNvPr id="13" name="">
            <a:extLst xmlns:a="http://schemas.openxmlformats.org/drawingml/2006/main">
              <a:ext uri="{FF2B5EF4-FFF2-40B4-BE49-F238E27FC236}">
                <a16:creationId xmlns:a16="http://schemas.microsoft.com/office/drawing/2014/main" id="{22D137EA-FC73-47C6-A835-5571C9BBA0E9}"/>
              </a:ext>
            </a:extLst>
          </p:cNvPr>
          <p:cNvSpPr>
            <a:spLocks xmlns:a="http://schemas.openxmlformats.org/drawingml/2006/main" noGrp="1"/>
          </p:cNvSpPr>
          <p:nvPr/>
        </p:nvSpPr>
        <p:spPr>
          <a:xfrm xmlns:a="http://schemas.openxmlformats.org/drawingml/2006/main">
            <a:off x="4953000" y="419100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0">
                <a:solidFill>
                  <a:srgbClr val="17354A"/>
                </a:solidFill>
                <a:latin typeface="Yu Gothic"/>
                <a:ea typeface="Yu Gothic"/>
                <a:cs typeface="Yu Gothic"/>
              </a:defRPr>
            </a:pPr>
            <a:r>
              <a:rPr sz="2250" b="0">
                <a:solidFill>
                  <a:srgbClr val="17354A"/>
                </a:solidFill>
                <a:latin typeface="Yu Gothic"/>
                <a:ea typeface="Yu Gothic"/>
                <a:cs typeface="Yu Gothic"/>
              </a:rPr>
              <a:t>210円</a:t>
            </a:r>
          </a:p>
        </p:txBody>
      </p:sp>
      <p:sp>
        <p:nvSpPr>
          <p:cNvPr id="14" name="">
            <a:extLst xmlns:a="http://schemas.openxmlformats.org/drawingml/2006/main">
              <a:ext uri="{FF2B5EF4-FFF2-40B4-BE49-F238E27FC236}">
                <a16:creationId xmlns:a16="http://schemas.microsoft.com/office/drawing/2014/main" id="{40A50821-EEBA-4468-B4D2-DEFC95941988}"/>
              </a:ext>
            </a:extLst>
          </p:cNvPr>
          <p:cNvSpPr>
            <a:spLocks xmlns:a="http://schemas.openxmlformats.org/drawingml/2006/main" noGrp="1"/>
          </p:cNvSpPr>
          <p:nvPr/>
        </p:nvSpPr>
        <p:spPr>
          <a:xfrm xmlns:a="http://schemas.openxmlformats.org/drawingml/2006/main">
            <a:off x="8096250" y="4191000"/>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0">
                <a:solidFill>
                  <a:srgbClr val="17354A"/>
                </a:solidFill>
                <a:latin typeface="Yu Gothic"/>
                <a:ea typeface="Yu Gothic"/>
                <a:cs typeface="Yu Gothic"/>
              </a:defRPr>
            </a:pPr>
            <a:r>
              <a:rPr sz="2250" b="0">
                <a:solidFill>
                  <a:srgbClr val="17354A"/>
                </a:solidFill>
                <a:latin typeface="Yu Gothic"/>
                <a:ea typeface="Yu Gothic"/>
                <a:cs typeface="Yu Gothic"/>
              </a:rPr>
              <a:t>0円</a:t>
            </a:r>
          </a:p>
        </p:txBody>
      </p:sp>
      <p:sp>
        <p:nvSpPr>
          <p:cNvPr id="15" name="">
            <a:extLst xmlns:a="http://schemas.openxmlformats.org/drawingml/2006/main">
              <a:ext uri="{FF2B5EF4-FFF2-40B4-BE49-F238E27FC236}">
                <a16:creationId xmlns:a16="http://schemas.microsoft.com/office/drawing/2014/main" id="{44F96988-5617-48C7-8113-CE2125448F6F}"/>
              </a:ext>
            </a:extLst>
          </p:cNvPr>
          <p:cNvSpPr>
            <a:spLocks xmlns:a="http://schemas.openxmlformats.org/drawingml/2006/main" noGrp="1"/>
          </p:cNvSpPr>
          <p:nvPr/>
        </p:nvSpPr>
        <p:spPr>
          <a:xfrm xmlns:a="http://schemas.openxmlformats.org/drawingml/2006/main">
            <a:off x="1762125" y="5095875"/>
            <a:ext cx="904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925" b="1">
                <a:solidFill>
                  <a:srgbClr val="087FBA"/>
                </a:solidFill>
                <a:latin typeface="Yu Gothic"/>
                <a:ea typeface="Yu Gothic"/>
                <a:cs typeface="Yu Gothic"/>
              </a:defRPr>
            </a:pPr>
            <a:r>
              <a:rPr sz="2925" b="1">
                <a:solidFill>
                  <a:srgbClr val="087FBA"/>
                </a:solidFill>
                <a:latin typeface="Yu Gothic"/>
                <a:ea typeface="Yu Gothic"/>
                <a:cs typeface="Yu Gothic"/>
              </a:rPr>
              <a:t>210 ÷ (240 + 210) ≈ 46.7%</a:t>
            </a:r>
          </a:p>
        </p:txBody>
      </p:sp>
      <p:sp>
        <p:nvSpPr>
          <p:cNvPr id="16" name="">
            <a:extLst xmlns:a="http://schemas.openxmlformats.org/drawingml/2006/main">
              <a:ext uri="{FF2B5EF4-FFF2-40B4-BE49-F238E27FC236}">
                <a16:creationId xmlns:a16="http://schemas.microsoft.com/office/drawing/2014/main" id="{8C163BCE-D630-4387-8255-22A63CCE2C55}"/>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全未検出者の本来運賃も分母に含む</a:t>
            </a:r>
          </a:p>
        </p:txBody>
      </p:sp>
    </p:spTree>
    <p:extLst>
      <p:ext uri="{BB962C8B-B14F-4D97-AF65-F5344CB8AC3E}">
        <p14:creationId xmlns:p14="http://schemas.microsoft.com/office/powerpoint/2010/main" val="8119071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2A40446-765C-4723-99F1-0A9499F298B9}"/>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公開ODデータを路線内の経路に割り当てる</a:t>
            </a:r>
          </a:p>
        </p:txBody>
      </p:sp>
      <p:sp>
        <p:nvSpPr>
          <p:cNvPr id="2" name="">
            <a:extLst xmlns:a="http://schemas.openxmlformats.org/drawingml/2006/main">
              <a:ext uri="{FF2B5EF4-FFF2-40B4-BE49-F238E27FC236}">
                <a16:creationId xmlns:a16="http://schemas.microsoft.com/office/drawing/2014/main" id="{3CC38418-976A-4614-B067-3D521D668039}"/>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A644CD-B5E9-42D3-A0A0-4D0AB5859FD8}"/>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09</a:t>
            </a:r>
          </a:p>
        </p:txBody>
      </p:sp>
      <p:sp>
        <p:nvSpPr>
          <p:cNvPr id="4" name="">
            <a:extLst xmlns:a="http://schemas.openxmlformats.org/drawingml/2006/main">
              <a:ext uri="{FF2B5EF4-FFF2-40B4-BE49-F238E27FC236}">
                <a16:creationId xmlns:a16="http://schemas.microsoft.com/office/drawing/2014/main" id="{3CA0EC7C-358C-4268-BCE2-4944DE1C264E}"/>
              </a:ext>
            </a:extLst>
          </p:cNvPr>
          <p:cNvSpPr>
            <a:spLocks xmlns:a="http://schemas.openxmlformats.org/drawingml/2006/main" noGrp="1"/>
          </p:cNvSpPr>
          <p:nvPr/>
        </p:nvSpPr>
        <p:spPr>
          <a:xfrm xmlns:a="http://schemas.openxmlformats.org/drawingml/2006/main">
            <a:off x="666750" y="1543050"/>
            <a:ext cx="2809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087FBA"/>
                </a:solidFill>
                <a:latin typeface="Yu Gothic"/>
                <a:ea typeface="Yu Gothic"/>
                <a:cs typeface="Yu Gothic"/>
              </a:defRPr>
            </a:pPr>
            <a:r>
              <a:rPr sz="2250" b="1">
                <a:solidFill>
                  <a:srgbClr val="087FBA"/>
                </a:solidFill>
                <a:latin typeface="Yu Gothic"/>
                <a:ea typeface="Yu Gothic"/>
                <a:cs typeface="Yu Gothic"/>
              </a:rPr>
              <a:t>東山線</a:t>
            </a:r>
          </a:p>
        </p:txBody>
      </p:sp>
      <p:sp>
        <p:nvSpPr>
          <p:cNvPr id="5" name="">
            <a:extLst xmlns:a="http://schemas.openxmlformats.org/drawingml/2006/main">
              <a:ext uri="{FF2B5EF4-FFF2-40B4-BE49-F238E27FC236}">
                <a16:creationId xmlns:a16="http://schemas.microsoft.com/office/drawing/2014/main" id="{6AF153D2-5550-48B6-A99D-266B0AE190F4}"/>
              </a:ext>
            </a:extLst>
          </p:cNvPr>
          <p:cNvSpPr>
            <a:spLocks xmlns:a="http://schemas.openxmlformats.org/drawingml/2006/main" noGrp="1"/>
          </p:cNvSpPr>
          <p:nvPr/>
        </p:nvSpPr>
        <p:spPr>
          <a:xfrm xmlns:a="http://schemas.openxmlformats.org/drawingml/2006/main">
            <a:off x="3552825" y="1543050"/>
            <a:ext cx="2809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087FBA"/>
                </a:solidFill>
                <a:latin typeface="Yu Gothic"/>
                <a:ea typeface="Yu Gothic"/>
                <a:cs typeface="Yu Gothic"/>
              </a:defRPr>
            </a:pPr>
            <a:r>
              <a:rPr sz="2250" b="1">
                <a:solidFill>
                  <a:srgbClr val="087FBA"/>
                </a:solidFill>
                <a:latin typeface="Yu Gothic"/>
                <a:ea typeface="Yu Gothic"/>
                <a:cs typeface="Yu Gothic"/>
              </a:rPr>
              <a:t>鶴舞線</a:t>
            </a:r>
          </a:p>
        </p:txBody>
      </p:sp>
      <p:sp>
        <p:nvSpPr>
          <p:cNvPr id="6" name="">
            <a:extLst xmlns:a="http://schemas.openxmlformats.org/drawingml/2006/main">
              <a:ext uri="{FF2B5EF4-FFF2-40B4-BE49-F238E27FC236}">
                <a16:creationId xmlns:a16="http://schemas.microsoft.com/office/drawing/2014/main" id="{8F4594E0-34DF-4B5F-B48B-BB33B0B0113C}"/>
              </a:ext>
            </a:extLst>
          </p:cNvPr>
          <p:cNvSpPr>
            <a:spLocks xmlns:a="http://schemas.openxmlformats.org/drawingml/2006/main" noGrp="1"/>
          </p:cNvSpPr>
          <p:nvPr/>
        </p:nvSpPr>
        <p:spPr>
          <a:xfrm xmlns:a="http://schemas.openxmlformats.org/drawingml/2006/main">
            <a:off x="6438900" y="1543050"/>
            <a:ext cx="2809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087FBA"/>
                </a:solidFill>
                <a:latin typeface="Yu Gothic"/>
                <a:ea typeface="Yu Gothic"/>
                <a:cs typeface="Yu Gothic"/>
              </a:defRPr>
            </a:pPr>
            <a:r>
              <a:rPr sz="2250" b="1">
                <a:solidFill>
                  <a:srgbClr val="087FBA"/>
                </a:solidFill>
                <a:latin typeface="Yu Gothic"/>
                <a:ea typeface="Yu Gothic"/>
                <a:cs typeface="Yu Gothic"/>
              </a:rPr>
              <a:t>桜通線</a:t>
            </a:r>
          </a:p>
        </p:txBody>
      </p:sp>
      <p:sp>
        <p:nvSpPr>
          <p:cNvPr id="7" name="">
            <a:extLst xmlns:a="http://schemas.openxmlformats.org/drawingml/2006/main">
              <a:ext uri="{FF2B5EF4-FFF2-40B4-BE49-F238E27FC236}">
                <a16:creationId xmlns:a16="http://schemas.microsoft.com/office/drawing/2014/main" id="{718C9F9E-79E3-473D-871C-DCC2366D21E9}"/>
              </a:ext>
            </a:extLst>
          </p:cNvPr>
          <p:cNvSpPr>
            <a:spLocks xmlns:a="http://schemas.openxmlformats.org/drawingml/2006/main" noGrp="1"/>
          </p:cNvSpPr>
          <p:nvPr/>
        </p:nvSpPr>
        <p:spPr>
          <a:xfrm xmlns:a="http://schemas.openxmlformats.org/drawingml/2006/main">
            <a:off x="9324975" y="1543050"/>
            <a:ext cx="2809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087FBA"/>
                </a:solidFill>
                <a:latin typeface="Yu Gothic"/>
                <a:ea typeface="Yu Gothic"/>
                <a:cs typeface="Yu Gothic"/>
              </a:defRPr>
            </a:pPr>
            <a:r>
              <a:rPr sz="2250" b="1">
                <a:solidFill>
                  <a:srgbClr val="087FBA"/>
                </a:solidFill>
                <a:latin typeface="Yu Gothic"/>
                <a:ea typeface="Yu Gothic"/>
                <a:cs typeface="Yu Gothic"/>
              </a:rPr>
              <a:t>名城線・名港線</a:t>
            </a:r>
          </a:p>
        </p:txBody>
      </p:sp>
      <p:sp>
        <p:nvSpPr>
          <p:cNvPr id="8" name="">
            <a:extLst xmlns:a="http://schemas.openxmlformats.org/drawingml/2006/main">
              <a:ext uri="{FF2B5EF4-FFF2-40B4-BE49-F238E27FC236}">
                <a16:creationId xmlns:a16="http://schemas.microsoft.com/office/drawing/2014/main" id="{26B90FD2-6E2F-4E4D-87EE-3D6401C631C2}"/>
              </a:ext>
            </a:extLst>
          </p:cNvPr>
          <p:cNvSpPr>
            <a:spLocks xmlns:a="http://schemas.openxmlformats.org/drawingml/2006/main" noGrp="1"/>
          </p:cNvSpPr>
          <p:nvPr/>
        </p:nvSpPr>
        <p:spPr>
          <a:xfrm xmlns:a="http://schemas.openxmlformats.org/drawingml/2006/main">
            <a:off x="619125" y="2762250"/>
            <a:ext cx="2905125" cy="119062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9" name="">
            <a:extLst xmlns:a="http://schemas.openxmlformats.org/drawingml/2006/main">
              <a:ext uri="{FF2B5EF4-FFF2-40B4-BE49-F238E27FC236}">
                <a16:creationId xmlns:a16="http://schemas.microsoft.com/office/drawing/2014/main" id="{48D9FE2F-BD1A-4494-8899-DAF33D49C60C}"/>
              </a:ext>
            </a:extLst>
          </p:cNvPr>
          <p:cNvSpPr>
            <a:spLocks xmlns:a="http://schemas.openxmlformats.org/drawingml/2006/main" noGrp="1"/>
          </p:cNvSpPr>
          <p:nvPr/>
        </p:nvSpPr>
        <p:spPr>
          <a:xfrm xmlns:a="http://schemas.openxmlformats.org/drawingml/2006/main">
            <a:off x="762000" y="2876550"/>
            <a:ext cx="2619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公開OD人数</a:t>
            </a:r>
          </a:p>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両端駅が路線内</a:t>
            </a:r>
          </a:p>
        </p:txBody>
      </p:sp>
      <p:sp>
        <p:nvSpPr>
          <p:cNvPr id="10" name="">
            <a:extLst xmlns:a="http://schemas.openxmlformats.org/drawingml/2006/main">
              <a:ext uri="{FF2B5EF4-FFF2-40B4-BE49-F238E27FC236}">
                <a16:creationId xmlns:a16="http://schemas.microsoft.com/office/drawing/2014/main" id="{D6CEEA53-FB6D-4E7F-8E70-9E10EBBD3E91}"/>
              </a:ext>
            </a:extLst>
          </p:cNvPr>
          <p:cNvSpPr>
            <a:spLocks xmlns:a="http://schemas.openxmlformats.org/drawingml/2006/main" noGrp="1"/>
          </p:cNvSpPr>
          <p:nvPr/>
        </p:nvSpPr>
        <p:spPr>
          <a:xfrm xmlns:a="http://schemas.openxmlformats.org/drawingml/2006/main">
            <a:off x="3724275" y="3238500"/>
            <a:ext cx="619125"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59400B1-34F2-42B1-ACFB-BC9691C59CBE}"/>
              </a:ext>
            </a:extLst>
          </p:cNvPr>
          <p:cNvSpPr>
            <a:spLocks xmlns:a="http://schemas.openxmlformats.org/drawingml/2006/main" noGrp="1"/>
          </p:cNvSpPr>
          <p:nvPr/>
        </p:nvSpPr>
        <p:spPr>
          <a:xfrm xmlns:a="http://schemas.openxmlformats.org/drawingml/2006/main">
            <a:off x="4619625" y="2762250"/>
            <a:ext cx="2905125" cy="119062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12" name="">
            <a:extLst xmlns:a="http://schemas.openxmlformats.org/drawingml/2006/main">
              <a:ext uri="{FF2B5EF4-FFF2-40B4-BE49-F238E27FC236}">
                <a16:creationId xmlns:a16="http://schemas.microsoft.com/office/drawing/2014/main" id="{009CCC12-FA6B-4300-A7BE-1AD481579855}"/>
              </a:ext>
            </a:extLst>
          </p:cNvPr>
          <p:cNvSpPr>
            <a:spLocks xmlns:a="http://schemas.openxmlformats.org/drawingml/2006/main" noGrp="1"/>
          </p:cNvSpPr>
          <p:nvPr/>
        </p:nvSpPr>
        <p:spPr>
          <a:xfrm xmlns:a="http://schemas.openxmlformats.org/drawingml/2006/main">
            <a:off x="4762500" y="2876550"/>
            <a:ext cx="2619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正規化</a:t>
            </a:r>
          </a:p>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OD分布 πₕ</a:t>
            </a:r>
          </a:p>
        </p:txBody>
      </p:sp>
      <p:sp>
        <p:nvSpPr>
          <p:cNvPr id="13" name="">
            <a:extLst xmlns:a="http://schemas.openxmlformats.org/drawingml/2006/main">
              <a:ext uri="{FF2B5EF4-FFF2-40B4-BE49-F238E27FC236}">
                <a16:creationId xmlns:a16="http://schemas.microsoft.com/office/drawing/2014/main" id="{CE8090EB-EEF3-4DA6-8D6A-A11CD8BFAC00}"/>
              </a:ext>
            </a:extLst>
          </p:cNvPr>
          <p:cNvSpPr>
            <a:spLocks xmlns:a="http://schemas.openxmlformats.org/drawingml/2006/main" noGrp="1"/>
          </p:cNvSpPr>
          <p:nvPr/>
        </p:nvSpPr>
        <p:spPr>
          <a:xfrm xmlns:a="http://schemas.openxmlformats.org/drawingml/2006/main">
            <a:off x="7715250" y="3238500"/>
            <a:ext cx="619125"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328FCAA-6469-444A-87AE-011C83EEDCE6}"/>
              </a:ext>
            </a:extLst>
          </p:cNvPr>
          <p:cNvSpPr>
            <a:spLocks xmlns:a="http://schemas.openxmlformats.org/drawingml/2006/main" noGrp="1"/>
          </p:cNvSpPr>
          <p:nvPr/>
        </p:nvSpPr>
        <p:spPr>
          <a:xfrm xmlns:a="http://schemas.openxmlformats.org/drawingml/2006/main">
            <a:off x="8620125" y="2762250"/>
            <a:ext cx="2905125" cy="1190625"/>
          </a:xfrm>
          <a:prstGeom xmlns:a="http://schemas.openxmlformats.org/drawingml/2006/main" prst="rect">
            <a:avLst/>
          </a:prstGeom>
          <a:solidFill xmlns:a="http://schemas.openxmlformats.org/drawingml/2006/main">
            <a:srgbClr val="E9F4F9"/>
          </a:solidFill>
          <a:ln xmlns:a="http://schemas.openxmlformats.org/drawingml/2006/main" w="19050">
            <a:solidFill>
              <a:srgbClr val="31B5DF"/>
            </a:solidFill>
          </a:ln>
        </p:spPr>
      </p:sp>
      <p:sp>
        <p:nvSpPr>
          <p:cNvPr id="15" name="">
            <a:extLst xmlns:a="http://schemas.openxmlformats.org/drawingml/2006/main">
              <a:ext uri="{FF2B5EF4-FFF2-40B4-BE49-F238E27FC236}">
                <a16:creationId xmlns:a16="http://schemas.microsoft.com/office/drawing/2014/main" id="{31B61478-4E62-40DB-83CF-2F80D2E89A04}"/>
              </a:ext>
            </a:extLst>
          </p:cNvPr>
          <p:cNvSpPr>
            <a:spLocks xmlns:a="http://schemas.openxmlformats.org/drawingml/2006/main" noGrp="1"/>
          </p:cNvSpPr>
          <p:nvPr/>
        </p:nvSpPr>
        <p:spPr>
          <a:xfrm xmlns:a="http://schemas.openxmlformats.org/drawingml/2006/main">
            <a:off x="8763000" y="2876550"/>
            <a:ext cx="2619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路線内の</a:t>
            </a:r>
          </a:p>
          <a:p xmlns:a="http://schemas.openxmlformats.org/drawingml/2006/main">
            <a:pPr>
              <a:buNone/>
              <a:defRPr sz="2250" b="1">
                <a:solidFill>
                  <a:srgbClr val="17354A"/>
                </a:solidFill>
                <a:latin typeface="Yu Gothic"/>
                <a:ea typeface="Yu Gothic"/>
                <a:cs typeface="Yu Gothic"/>
              </a:defRPr>
            </a:pPr>
            <a:r>
              <a:rPr sz="2250" b="1">
                <a:solidFill>
                  <a:srgbClr val="17354A"/>
                </a:solidFill>
                <a:latin typeface="Yu Gothic"/>
                <a:ea typeface="Yu Gothic"/>
                <a:cs typeface="Yu Gothic"/>
              </a:rPr>
              <a:t>距離最短経路</a:t>
            </a:r>
          </a:p>
        </p:txBody>
      </p:sp>
      <p:sp>
        <p:nvSpPr>
          <p:cNvPr id="16" name="">
            <a:extLst xmlns:a="http://schemas.openxmlformats.org/drawingml/2006/main">
              <a:ext uri="{FF2B5EF4-FFF2-40B4-BE49-F238E27FC236}">
                <a16:creationId xmlns:a16="http://schemas.microsoft.com/office/drawing/2014/main" id="{FD5F3FC0-65E2-41B8-8E74-93E7B43A875A}"/>
              </a:ext>
            </a:extLst>
          </p:cNvPr>
          <p:cNvSpPr>
            <a:spLocks xmlns:a="http://schemas.openxmlformats.org/drawingml/2006/main" noGrp="1"/>
          </p:cNvSpPr>
          <p:nvPr/>
        </p:nvSpPr>
        <p:spPr>
          <a:xfrm xmlns:a="http://schemas.openxmlformats.org/drawingml/2006/main">
            <a:off x="714375" y="44291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625" b="1">
                <a:solidFill>
                  <a:srgbClr val="087FBA"/>
                </a:solidFill>
                <a:latin typeface="Yu Gothic"/>
                <a:ea typeface="Yu Gothic"/>
                <a:cs typeface="Yu Gothic"/>
              </a:defRPr>
            </a:pPr>
            <a:r>
              <a:rPr sz="2625" b="1">
                <a:solidFill>
                  <a:srgbClr val="087FBA"/>
                </a:solidFill>
                <a:latin typeface="Yu Gothic"/>
                <a:ea typeface="Yu Gothic"/>
                <a:cs typeface="Yu Gothic"/>
              </a:rPr>
              <a:t>同じOD分布を「利用者生成」と「推定」に使う</a:t>
            </a:r>
          </a:p>
        </p:txBody>
      </p:sp>
      <p:sp>
        <p:nvSpPr>
          <p:cNvPr id="17" name="">
            <a:extLst xmlns:a="http://schemas.openxmlformats.org/drawingml/2006/main">
              <a:ext uri="{FF2B5EF4-FFF2-40B4-BE49-F238E27FC236}">
                <a16:creationId xmlns:a16="http://schemas.microsoft.com/office/drawing/2014/main" id="{F7D0FDB0-3774-4315-A0DA-6C11D6A15DDD}"/>
              </a:ext>
            </a:extLst>
          </p:cNvPr>
          <p:cNvSpPr>
            <a:spLocks xmlns:a="http://schemas.openxmlformats.org/drawingml/2006/main" noGrp="1"/>
          </p:cNvSpPr>
          <p:nvPr/>
        </p:nvSpPr>
        <p:spPr>
          <a:xfrm xmlns:a="http://schemas.openxmlformats.org/drawingml/2006/main">
            <a:off x="714375" y="51435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0">
                <a:solidFill>
                  <a:srgbClr val="17354A"/>
                </a:solidFill>
                <a:latin typeface="Yu Gothic"/>
                <a:ea typeface="Yu Gothic"/>
                <a:cs typeface="Yu Gothic"/>
              </a:defRPr>
            </a:pPr>
            <a:r>
              <a:rPr sz="2100" b="0">
                <a:solidFill>
                  <a:srgbClr val="17354A"/>
                </a:solidFill>
                <a:latin typeface="Yu Gothic"/>
                <a:ea typeface="Yu Gothic"/>
                <a:cs typeface="Yu Gothic"/>
              </a:rPr>
              <a:t>駅対のデータであり、実際の利用経路を特定するデータではない</a:t>
            </a:r>
          </a:p>
        </p:txBody>
      </p:sp>
      <p:sp>
        <p:nvSpPr>
          <p:cNvPr id="18" name="">
            <a:extLst xmlns:a="http://schemas.openxmlformats.org/drawingml/2006/main">
              <a:ext uri="{FF2B5EF4-FFF2-40B4-BE49-F238E27FC236}">
                <a16:creationId xmlns:a16="http://schemas.microsoft.com/office/drawing/2014/main" id="{F4A1BDCC-3133-4108-963A-F1E6594E070D}"/>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名城線・名港線は一つのネットワークとして評価</a:t>
            </a:r>
          </a:p>
        </p:txBody>
      </p:sp>
    </p:spTree>
    <p:extLst>
      <p:ext uri="{BB962C8B-B14F-4D97-AF65-F5344CB8AC3E}">
        <p14:creationId xmlns:p14="http://schemas.microsoft.com/office/powerpoint/2010/main" val="2047389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F9FEED7-158F-4F62-841D-75733A616617}"/>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検出率3条件を、各300シードで比較</a:t>
            </a:r>
          </a:p>
        </p:txBody>
      </p:sp>
      <p:sp>
        <p:nvSpPr>
          <p:cNvPr id="2" name="">
            <a:extLst xmlns:a="http://schemas.openxmlformats.org/drawingml/2006/main">
              <a:ext uri="{FF2B5EF4-FFF2-40B4-BE49-F238E27FC236}">
                <a16:creationId xmlns:a16="http://schemas.microsoft.com/office/drawing/2014/main" id="{0C88DC12-15D9-4A4E-AC09-EF8ADEE1552B}"/>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DAB12AF-D137-48E7-A1D7-C47BACC9D4D2}"/>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10</a:t>
            </a:r>
          </a:p>
        </p:txBody>
      </p:sp>
      <p:sp>
        <p:nvSpPr>
          <p:cNvPr id="4" name="">
            <a:extLst xmlns:a="http://schemas.openxmlformats.org/drawingml/2006/main">
              <a:ext uri="{FF2B5EF4-FFF2-40B4-BE49-F238E27FC236}">
                <a16:creationId xmlns:a16="http://schemas.microsoft.com/office/drawing/2014/main" id="{FABA225A-D560-4F7F-894F-26BFED821824}"/>
              </a:ext>
            </a:extLst>
          </p:cNvPr>
          <p:cNvSpPr>
            <a:spLocks xmlns:a="http://schemas.openxmlformats.org/drawingml/2006/main" noGrp="1"/>
          </p:cNvSpPr>
          <p:nvPr/>
        </p:nvSpPr>
        <p:spPr>
          <a:xfrm xmlns:a="http://schemas.openxmlformats.org/drawingml/2006/main">
            <a:off x="762000" y="17621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647987"/>
                </a:solidFill>
                <a:latin typeface="Yu Gothic"/>
                <a:ea typeface="Yu Gothic"/>
                <a:cs typeface="Yu Gothic"/>
              </a:defRPr>
            </a:pPr>
            <a:r>
              <a:rPr sz="2175" b="0">
                <a:solidFill>
                  <a:srgbClr val="647987"/>
                </a:solidFill>
                <a:latin typeface="Yu Gothic"/>
                <a:ea typeface="Yu Gothic"/>
                <a:cs typeface="Yu Gothic"/>
              </a:rPr>
              <a:t>検出率 p</a:t>
            </a:r>
          </a:p>
        </p:txBody>
      </p:sp>
      <p:sp>
        <p:nvSpPr>
          <p:cNvPr id="5" name="">
            <a:extLst xmlns:a="http://schemas.openxmlformats.org/drawingml/2006/main">
              <a:ext uri="{FF2B5EF4-FFF2-40B4-BE49-F238E27FC236}">
                <a16:creationId xmlns:a16="http://schemas.microsoft.com/office/drawing/2014/main" id="{0ED60589-D9B5-455F-A6CB-C47CEF650665}"/>
              </a:ext>
            </a:extLst>
          </p:cNvPr>
          <p:cNvSpPr>
            <a:spLocks xmlns:a="http://schemas.openxmlformats.org/drawingml/2006/main" noGrp="1"/>
          </p:cNvSpPr>
          <p:nvPr/>
        </p:nvSpPr>
        <p:spPr>
          <a:xfrm xmlns:a="http://schemas.openxmlformats.org/drawingml/2006/main">
            <a:off x="762000" y="2476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5400" b="1">
                <a:solidFill>
                  <a:srgbClr val="087FBA"/>
                </a:solidFill>
                <a:latin typeface="Yu Gothic"/>
                <a:ea typeface="Yu Gothic"/>
                <a:cs typeface="Yu Gothic"/>
              </a:defRPr>
            </a:pPr>
            <a:r>
              <a:rPr sz="5400" b="1">
                <a:solidFill>
                  <a:srgbClr val="087FBA"/>
                </a:solidFill>
                <a:latin typeface="Yu Gothic"/>
                <a:ea typeface="Yu Gothic"/>
                <a:cs typeface="Yu Gothic"/>
              </a:rPr>
              <a:t>0.65</a:t>
            </a:r>
          </a:p>
        </p:txBody>
      </p:sp>
      <p:sp>
        <p:nvSpPr>
          <p:cNvPr id="6" name="">
            <a:extLst xmlns:a="http://schemas.openxmlformats.org/drawingml/2006/main">
              <a:ext uri="{FF2B5EF4-FFF2-40B4-BE49-F238E27FC236}">
                <a16:creationId xmlns:a16="http://schemas.microsoft.com/office/drawing/2014/main" id="{FADA22F2-C685-4876-9269-FC9BD91047FA}"/>
              </a:ext>
            </a:extLst>
          </p:cNvPr>
          <p:cNvSpPr>
            <a:spLocks xmlns:a="http://schemas.openxmlformats.org/drawingml/2006/main" noGrp="1"/>
          </p:cNvSpPr>
          <p:nvPr/>
        </p:nvSpPr>
        <p:spPr>
          <a:xfrm xmlns:a="http://schemas.openxmlformats.org/drawingml/2006/main">
            <a:off x="762000" y="37147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17354A"/>
                </a:solidFill>
                <a:latin typeface="Yu Gothic"/>
                <a:ea typeface="Yu Gothic"/>
                <a:cs typeface="Yu Gothic"/>
              </a:defRPr>
            </a:pPr>
            <a:r>
              <a:rPr sz="3150" b="1">
                <a:solidFill>
                  <a:srgbClr val="17354A"/>
                </a:solidFill>
                <a:latin typeface="Yu Gothic"/>
                <a:ea typeface="Yu Gothic"/>
                <a:cs typeface="Yu Gothic"/>
              </a:rPr>
              <a:t>300回</a:t>
            </a:r>
          </a:p>
        </p:txBody>
      </p:sp>
      <p:sp>
        <p:nvSpPr>
          <p:cNvPr id="7" name="">
            <a:extLst xmlns:a="http://schemas.openxmlformats.org/drawingml/2006/main">
              <a:ext uri="{FF2B5EF4-FFF2-40B4-BE49-F238E27FC236}">
                <a16:creationId xmlns:a16="http://schemas.microsoft.com/office/drawing/2014/main" id="{38217B2F-9258-4992-8D3E-91275583B5A7}"/>
              </a:ext>
            </a:extLst>
          </p:cNvPr>
          <p:cNvSpPr>
            <a:spLocks xmlns:a="http://schemas.openxmlformats.org/drawingml/2006/main" noGrp="1"/>
          </p:cNvSpPr>
          <p:nvPr/>
        </p:nvSpPr>
        <p:spPr>
          <a:xfrm xmlns:a="http://schemas.openxmlformats.org/drawingml/2006/main">
            <a:off x="4667250" y="17621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647987"/>
                </a:solidFill>
                <a:latin typeface="Yu Gothic"/>
                <a:ea typeface="Yu Gothic"/>
                <a:cs typeface="Yu Gothic"/>
              </a:defRPr>
            </a:pPr>
            <a:r>
              <a:rPr sz="2175" b="0">
                <a:solidFill>
                  <a:srgbClr val="647987"/>
                </a:solidFill>
                <a:latin typeface="Yu Gothic"/>
                <a:ea typeface="Yu Gothic"/>
                <a:cs typeface="Yu Gothic"/>
              </a:rPr>
              <a:t>検出率 p</a:t>
            </a:r>
          </a:p>
        </p:txBody>
      </p:sp>
      <p:sp>
        <p:nvSpPr>
          <p:cNvPr id="8" name="">
            <a:extLst xmlns:a="http://schemas.openxmlformats.org/drawingml/2006/main">
              <a:ext uri="{FF2B5EF4-FFF2-40B4-BE49-F238E27FC236}">
                <a16:creationId xmlns:a16="http://schemas.microsoft.com/office/drawing/2014/main" id="{0D3C7578-4258-4FFA-8DDD-0BDB6EA960AD}"/>
              </a:ext>
            </a:extLst>
          </p:cNvPr>
          <p:cNvSpPr>
            <a:spLocks xmlns:a="http://schemas.openxmlformats.org/drawingml/2006/main" noGrp="1"/>
          </p:cNvSpPr>
          <p:nvPr/>
        </p:nvSpPr>
        <p:spPr>
          <a:xfrm xmlns:a="http://schemas.openxmlformats.org/drawingml/2006/main">
            <a:off x="4667250" y="2476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5400" b="1">
                <a:solidFill>
                  <a:srgbClr val="21864C"/>
                </a:solidFill>
                <a:latin typeface="Yu Gothic"/>
                <a:ea typeface="Yu Gothic"/>
                <a:cs typeface="Yu Gothic"/>
              </a:defRPr>
            </a:pPr>
            <a:r>
              <a:rPr sz="5400" b="1">
                <a:solidFill>
                  <a:srgbClr val="21864C"/>
                </a:solidFill>
                <a:latin typeface="Yu Gothic"/>
                <a:ea typeface="Yu Gothic"/>
                <a:cs typeface="Yu Gothic"/>
              </a:rPr>
              <a:t>0.67</a:t>
            </a:r>
          </a:p>
        </p:txBody>
      </p:sp>
      <p:sp>
        <p:nvSpPr>
          <p:cNvPr id="9" name="">
            <a:extLst xmlns:a="http://schemas.openxmlformats.org/drawingml/2006/main">
              <a:ext uri="{FF2B5EF4-FFF2-40B4-BE49-F238E27FC236}">
                <a16:creationId xmlns:a16="http://schemas.microsoft.com/office/drawing/2014/main" id="{6D5B0177-D94B-4BB2-992A-CDD026DFADD8}"/>
              </a:ext>
            </a:extLst>
          </p:cNvPr>
          <p:cNvSpPr>
            <a:spLocks xmlns:a="http://schemas.openxmlformats.org/drawingml/2006/main" noGrp="1"/>
          </p:cNvSpPr>
          <p:nvPr/>
        </p:nvSpPr>
        <p:spPr>
          <a:xfrm xmlns:a="http://schemas.openxmlformats.org/drawingml/2006/main">
            <a:off x="4667250" y="37147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17354A"/>
                </a:solidFill>
                <a:latin typeface="Yu Gothic"/>
                <a:ea typeface="Yu Gothic"/>
                <a:cs typeface="Yu Gothic"/>
              </a:defRPr>
            </a:pPr>
            <a:r>
              <a:rPr sz="3150" b="1">
                <a:solidFill>
                  <a:srgbClr val="17354A"/>
                </a:solidFill>
                <a:latin typeface="Yu Gothic"/>
                <a:ea typeface="Yu Gothic"/>
                <a:cs typeface="Yu Gothic"/>
              </a:rPr>
              <a:t>300回</a:t>
            </a:r>
          </a:p>
        </p:txBody>
      </p:sp>
      <p:sp>
        <p:nvSpPr>
          <p:cNvPr id="10" name="">
            <a:extLst xmlns:a="http://schemas.openxmlformats.org/drawingml/2006/main">
              <a:ext uri="{FF2B5EF4-FFF2-40B4-BE49-F238E27FC236}">
                <a16:creationId xmlns:a16="http://schemas.microsoft.com/office/drawing/2014/main" id="{50573C22-BFE5-4990-8C8A-3AFBE4D70830}"/>
              </a:ext>
            </a:extLst>
          </p:cNvPr>
          <p:cNvSpPr>
            <a:spLocks xmlns:a="http://schemas.openxmlformats.org/drawingml/2006/main" noGrp="1"/>
          </p:cNvSpPr>
          <p:nvPr/>
        </p:nvSpPr>
        <p:spPr>
          <a:xfrm xmlns:a="http://schemas.openxmlformats.org/drawingml/2006/main">
            <a:off x="8572500" y="17621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647987"/>
                </a:solidFill>
                <a:latin typeface="Yu Gothic"/>
                <a:ea typeface="Yu Gothic"/>
                <a:cs typeface="Yu Gothic"/>
              </a:defRPr>
            </a:pPr>
            <a:r>
              <a:rPr sz="2175" b="0">
                <a:solidFill>
                  <a:srgbClr val="647987"/>
                </a:solidFill>
                <a:latin typeface="Yu Gothic"/>
                <a:ea typeface="Yu Gothic"/>
                <a:cs typeface="Yu Gothic"/>
              </a:rPr>
              <a:t>検出率 p</a:t>
            </a:r>
          </a:p>
        </p:txBody>
      </p:sp>
      <p:sp>
        <p:nvSpPr>
          <p:cNvPr id="11" name="">
            <a:extLst xmlns:a="http://schemas.openxmlformats.org/drawingml/2006/main">
              <a:ext uri="{FF2B5EF4-FFF2-40B4-BE49-F238E27FC236}">
                <a16:creationId xmlns:a16="http://schemas.microsoft.com/office/drawing/2014/main" id="{0279A93E-A4E8-4DCE-99B1-0F53D1714C5F}"/>
              </a:ext>
            </a:extLst>
          </p:cNvPr>
          <p:cNvSpPr>
            <a:spLocks xmlns:a="http://schemas.openxmlformats.org/drawingml/2006/main" noGrp="1"/>
          </p:cNvSpPr>
          <p:nvPr/>
        </p:nvSpPr>
        <p:spPr>
          <a:xfrm xmlns:a="http://schemas.openxmlformats.org/drawingml/2006/main">
            <a:off x="8572500" y="24765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5400" b="1">
                <a:solidFill>
                  <a:srgbClr val="D77824"/>
                </a:solidFill>
                <a:latin typeface="Yu Gothic"/>
                <a:ea typeface="Yu Gothic"/>
                <a:cs typeface="Yu Gothic"/>
              </a:defRPr>
            </a:pPr>
            <a:r>
              <a:rPr sz="5400" b="1">
                <a:solidFill>
                  <a:srgbClr val="D77824"/>
                </a:solidFill>
                <a:latin typeface="Yu Gothic"/>
                <a:ea typeface="Yu Gothic"/>
                <a:cs typeface="Yu Gothic"/>
              </a:rPr>
              <a:t>0.70</a:t>
            </a:r>
          </a:p>
        </p:txBody>
      </p:sp>
      <p:sp>
        <p:nvSpPr>
          <p:cNvPr id="12" name="">
            <a:extLst xmlns:a="http://schemas.openxmlformats.org/drawingml/2006/main">
              <a:ext uri="{FF2B5EF4-FFF2-40B4-BE49-F238E27FC236}">
                <a16:creationId xmlns:a16="http://schemas.microsoft.com/office/drawing/2014/main" id="{C9FEE82A-1872-4953-8AE8-7B418A497C38}"/>
              </a:ext>
            </a:extLst>
          </p:cNvPr>
          <p:cNvSpPr>
            <a:spLocks xmlns:a="http://schemas.openxmlformats.org/drawingml/2006/main" noGrp="1"/>
          </p:cNvSpPr>
          <p:nvPr/>
        </p:nvSpPr>
        <p:spPr>
          <a:xfrm xmlns:a="http://schemas.openxmlformats.org/drawingml/2006/main">
            <a:off x="8572500" y="37147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17354A"/>
                </a:solidFill>
                <a:latin typeface="Yu Gothic"/>
                <a:ea typeface="Yu Gothic"/>
                <a:cs typeface="Yu Gothic"/>
              </a:defRPr>
            </a:pPr>
            <a:r>
              <a:rPr sz="3150" b="1">
                <a:solidFill>
                  <a:srgbClr val="17354A"/>
                </a:solidFill>
                <a:latin typeface="Yu Gothic"/>
                <a:ea typeface="Yu Gothic"/>
                <a:cs typeface="Yu Gothic"/>
              </a:rPr>
              <a:t>300回</a:t>
            </a:r>
          </a:p>
        </p:txBody>
      </p:sp>
      <p:sp>
        <p:nvSpPr>
          <p:cNvPr id="13" name="">
            <a:extLst xmlns:a="http://schemas.openxmlformats.org/drawingml/2006/main">
              <a:ext uri="{FF2B5EF4-FFF2-40B4-BE49-F238E27FC236}">
                <a16:creationId xmlns:a16="http://schemas.microsoft.com/office/drawing/2014/main" id="{C3E6B0C3-E5C3-46FC-9E08-F93FA986C513}"/>
              </a:ext>
            </a:extLst>
          </p:cNvPr>
          <p:cNvSpPr>
            <a:spLocks xmlns:a="http://schemas.openxmlformats.org/drawingml/2006/main" noGrp="1"/>
          </p:cNvSpPr>
          <p:nvPr/>
        </p:nvSpPr>
        <p:spPr>
          <a:xfrm xmlns:a="http://schemas.openxmlformats.org/drawingml/2006/main">
            <a:off x="666750" y="47625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550" b="0">
                <a:solidFill>
                  <a:srgbClr val="17354A"/>
                </a:solidFill>
                <a:latin typeface="Yu Gothic"/>
                <a:ea typeface="Yu Gothic"/>
                <a:cs typeface="Yu Gothic"/>
              </a:defRPr>
            </a:pPr>
            <a:r>
              <a:rPr sz="2550" b="0">
                <a:solidFill>
                  <a:srgbClr val="17354A"/>
                </a:solidFill>
                <a:latin typeface="Yu Gothic"/>
                <a:ea typeface="Yu Gothic"/>
                <a:cs typeface="Yu Gothic"/>
              </a:rPr>
              <a:t>乱数シード 0–299</a:t>
            </a:r>
          </a:p>
        </p:txBody>
      </p:sp>
      <p:sp>
        <p:nvSpPr>
          <p:cNvPr id="14" name="">
            <a:extLst xmlns:a="http://schemas.openxmlformats.org/drawingml/2006/main">
              <a:ext uri="{FF2B5EF4-FFF2-40B4-BE49-F238E27FC236}">
                <a16:creationId xmlns:a16="http://schemas.microsoft.com/office/drawing/2014/main" id="{83253937-3AAE-469F-BFCC-512D471C4940}"/>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同一路線では、OD標本と観測生成の乱数列を3条件で共通化</a:t>
            </a:r>
          </a:p>
        </p:txBody>
      </p:sp>
    </p:spTree>
    <p:extLst>
      <p:ext uri="{BB962C8B-B14F-4D97-AF65-F5344CB8AC3E}">
        <p14:creationId xmlns:p14="http://schemas.microsoft.com/office/powerpoint/2010/main" val="1529757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2CB1024-13A1-4A67-A4AB-F318E92784A3}"/>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最混雑リンクの期待人数を約3,300人にそろえる</a:t>
            </a:r>
          </a:p>
        </p:txBody>
      </p:sp>
      <p:sp>
        <p:nvSpPr>
          <p:cNvPr id="2" name="">
            <a:extLst xmlns:a="http://schemas.openxmlformats.org/drawingml/2006/main">
              <a:ext uri="{FF2B5EF4-FFF2-40B4-BE49-F238E27FC236}">
                <a16:creationId xmlns:a16="http://schemas.microsoft.com/office/drawing/2014/main" id="{B5E2D509-4D69-4017-B9CF-8FB324B571DD}"/>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A7E8C81-8FED-4335-A700-36CC2B12BB9C}"/>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11</a:t>
            </a:r>
          </a:p>
        </p:txBody>
      </p:sp>
      <p:sp>
        <p:nvSpPr>
          <p:cNvPr id="4" name="">
            <a:extLst xmlns:a="http://schemas.openxmlformats.org/drawingml/2006/main">
              <a:ext uri="{FF2B5EF4-FFF2-40B4-BE49-F238E27FC236}">
                <a16:creationId xmlns:a16="http://schemas.microsoft.com/office/drawing/2014/main" id="{536982A5-E07B-4EA9-AD4A-44011227690C}"/>
              </a:ext>
            </a:extLst>
          </p:cNvPr>
          <p:cNvSpPr>
            <a:spLocks xmlns:a="http://schemas.openxmlformats.org/drawingml/2006/main" noGrp="1"/>
          </p:cNvSpPr>
          <p:nvPr/>
        </p:nvSpPr>
        <p:spPr>
          <a:xfrm xmlns:a="http://schemas.openxmlformats.org/drawingml/2006/main">
            <a:off x="571500" y="1504950"/>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75" b="0">
                <a:solidFill>
                  <a:srgbClr val="17354A"/>
                </a:solidFill>
                <a:latin typeface="Yu Gothic"/>
                <a:ea typeface="Yu Gothic"/>
                <a:cs typeface="Yu Gothic"/>
              </a:defRPr>
            </a:pPr>
            <a:r>
              <a:rPr sz="2475" b="0">
                <a:solidFill>
                  <a:srgbClr val="17354A"/>
                </a:solidFill>
                <a:latin typeface="Yu Gothic"/>
                <a:ea typeface="Yu Gothic"/>
                <a:cs typeface="Yu Gothic"/>
              </a:rPr>
              <a:t>方向別リンクを通る確率 aₑ をOD分布から計算</a:t>
            </a:r>
          </a:p>
        </p:txBody>
      </p:sp>
      <p:sp>
        <p:nvSpPr>
          <p:cNvPr id="5" name="">
            <a:extLst xmlns:a="http://schemas.openxmlformats.org/drawingml/2006/main">
              <a:ext uri="{FF2B5EF4-FFF2-40B4-BE49-F238E27FC236}">
                <a16:creationId xmlns:a16="http://schemas.microsoft.com/office/drawing/2014/main" id="{69DC63E0-3211-4845-B6C8-D8642EB65CE5}"/>
              </a:ext>
            </a:extLst>
          </p:cNvPr>
          <p:cNvSpPr>
            <a:spLocks xmlns:a="http://schemas.openxmlformats.org/drawingml/2006/main" noGrp="1"/>
          </p:cNvSpPr>
          <p:nvPr/>
        </p:nvSpPr>
        <p:spPr>
          <a:xfrm xmlns:a="http://schemas.openxmlformats.org/drawingml/2006/main">
            <a:off x="1524000" y="2828925"/>
            <a:ext cx="2095500"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48C0A01-FBED-4FB4-8119-547B9DF3FEDC}"/>
              </a:ext>
            </a:extLst>
          </p:cNvPr>
          <p:cNvSpPr>
            <a:spLocks xmlns:a="http://schemas.openxmlformats.org/drawingml/2006/main" noGrp="1"/>
          </p:cNvSpPr>
          <p:nvPr/>
        </p:nvSpPr>
        <p:spPr>
          <a:xfrm xmlns:a="http://schemas.openxmlformats.org/drawingml/2006/main">
            <a:off x="3619500" y="2828925"/>
            <a:ext cx="2095500"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CE6D473-CE99-47B2-9746-0E264DC70D9D}"/>
              </a:ext>
            </a:extLst>
          </p:cNvPr>
          <p:cNvSpPr>
            <a:spLocks xmlns:a="http://schemas.openxmlformats.org/drawingml/2006/main" noGrp="1"/>
          </p:cNvSpPr>
          <p:nvPr/>
        </p:nvSpPr>
        <p:spPr>
          <a:xfrm xmlns:a="http://schemas.openxmlformats.org/drawingml/2006/main">
            <a:off x="5715000" y="2828925"/>
            <a:ext cx="2095500"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FE9B8F0-16D4-489C-BB12-2D01C5583AF3}"/>
              </a:ext>
            </a:extLst>
          </p:cNvPr>
          <p:cNvSpPr>
            <a:spLocks xmlns:a="http://schemas.openxmlformats.org/drawingml/2006/main" noGrp="1"/>
          </p:cNvSpPr>
          <p:nvPr/>
        </p:nvSpPr>
        <p:spPr>
          <a:xfrm xmlns:a="http://schemas.openxmlformats.org/drawingml/2006/main">
            <a:off x="7810500" y="2828925"/>
            <a:ext cx="2095500" cy="57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678D61A-8B7D-40F0-A6AD-C9474621C616}"/>
              </a:ext>
            </a:extLst>
          </p:cNvPr>
          <p:cNvSpPr>
            <a:spLocks xmlns:a="http://schemas.openxmlformats.org/drawingml/2006/main" noGrp="1"/>
          </p:cNvSpPr>
          <p:nvPr/>
        </p:nvSpPr>
        <p:spPr>
          <a:xfrm xmlns:a="http://schemas.openxmlformats.org/drawingml/2006/main">
            <a:off x="1381125" y="27146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0" name="">
            <a:extLst xmlns:a="http://schemas.openxmlformats.org/drawingml/2006/main">
              <a:ext uri="{FF2B5EF4-FFF2-40B4-BE49-F238E27FC236}">
                <a16:creationId xmlns:a16="http://schemas.microsoft.com/office/drawing/2014/main" id="{DD3F799A-9B08-4A8E-92A3-DFE76B603F26}"/>
              </a:ext>
            </a:extLst>
          </p:cNvPr>
          <p:cNvSpPr>
            <a:spLocks xmlns:a="http://schemas.openxmlformats.org/drawingml/2006/main" noGrp="1"/>
          </p:cNvSpPr>
          <p:nvPr/>
        </p:nvSpPr>
        <p:spPr>
          <a:xfrm xmlns:a="http://schemas.openxmlformats.org/drawingml/2006/main">
            <a:off x="1276350" y="30765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A</a:t>
            </a:r>
          </a:p>
        </p:txBody>
      </p:sp>
      <p:sp>
        <p:nvSpPr>
          <p:cNvPr id="11" name="">
            <a:extLst xmlns:a="http://schemas.openxmlformats.org/drawingml/2006/main">
              <a:ext uri="{FF2B5EF4-FFF2-40B4-BE49-F238E27FC236}">
                <a16:creationId xmlns:a16="http://schemas.microsoft.com/office/drawing/2014/main" id="{4604750B-E476-4A44-A9DA-01FC4A6769D9}"/>
              </a:ext>
            </a:extLst>
          </p:cNvPr>
          <p:cNvSpPr>
            <a:spLocks xmlns:a="http://schemas.openxmlformats.org/drawingml/2006/main" noGrp="1"/>
          </p:cNvSpPr>
          <p:nvPr/>
        </p:nvSpPr>
        <p:spPr>
          <a:xfrm xmlns:a="http://schemas.openxmlformats.org/drawingml/2006/main">
            <a:off x="3476625" y="27146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2" name="">
            <a:extLst xmlns:a="http://schemas.openxmlformats.org/drawingml/2006/main">
              <a:ext uri="{FF2B5EF4-FFF2-40B4-BE49-F238E27FC236}">
                <a16:creationId xmlns:a16="http://schemas.microsoft.com/office/drawing/2014/main" id="{897AACC6-517C-4BC4-98B6-E87A7B7F0CAC}"/>
              </a:ext>
            </a:extLst>
          </p:cNvPr>
          <p:cNvSpPr>
            <a:spLocks xmlns:a="http://schemas.openxmlformats.org/drawingml/2006/main" noGrp="1"/>
          </p:cNvSpPr>
          <p:nvPr/>
        </p:nvSpPr>
        <p:spPr>
          <a:xfrm xmlns:a="http://schemas.openxmlformats.org/drawingml/2006/main">
            <a:off x="3371850" y="30765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B</a:t>
            </a:r>
          </a:p>
        </p:txBody>
      </p:sp>
      <p:sp>
        <p:nvSpPr>
          <p:cNvPr id="13" name="">
            <a:extLst xmlns:a="http://schemas.openxmlformats.org/drawingml/2006/main">
              <a:ext uri="{FF2B5EF4-FFF2-40B4-BE49-F238E27FC236}">
                <a16:creationId xmlns:a16="http://schemas.microsoft.com/office/drawing/2014/main" id="{786900FF-3492-4095-AB18-1AF4E8EA1398}"/>
              </a:ext>
            </a:extLst>
          </p:cNvPr>
          <p:cNvSpPr>
            <a:spLocks xmlns:a="http://schemas.openxmlformats.org/drawingml/2006/main" noGrp="1"/>
          </p:cNvSpPr>
          <p:nvPr/>
        </p:nvSpPr>
        <p:spPr>
          <a:xfrm xmlns:a="http://schemas.openxmlformats.org/drawingml/2006/main">
            <a:off x="5572125" y="27146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4" name="">
            <a:extLst xmlns:a="http://schemas.openxmlformats.org/drawingml/2006/main">
              <a:ext uri="{FF2B5EF4-FFF2-40B4-BE49-F238E27FC236}">
                <a16:creationId xmlns:a16="http://schemas.microsoft.com/office/drawing/2014/main" id="{41DA088F-2012-48B3-A2EA-E8E5E7795B93}"/>
              </a:ext>
            </a:extLst>
          </p:cNvPr>
          <p:cNvSpPr>
            <a:spLocks xmlns:a="http://schemas.openxmlformats.org/drawingml/2006/main" noGrp="1"/>
          </p:cNvSpPr>
          <p:nvPr/>
        </p:nvSpPr>
        <p:spPr>
          <a:xfrm xmlns:a="http://schemas.openxmlformats.org/drawingml/2006/main">
            <a:off x="5467350" y="30765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C</a:t>
            </a:r>
          </a:p>
        </p:txBody>
      </p:sp>
      <p:sp>
        <p:nvSpPr>
          <p:cNvPr id="15" name="">
            <a:extLst xmlns:a="http://schemas.openxmlformats.org/drawingml/2006/main">
              <a:ext uri="{FF2B5EF4-FFF2-40B4-BE49-F238E27FC236}">
                <a16:creationId xmlns:a16="http://schemas.microsoft.com/office/drawing/2014/main" id="{88082CBA-86E5-48F6-8354-24D6457FC1B5}"/>
              </a:ext>
            </a:extLst>
          </p:cNvPr>
          <p:cNvSpPr>
            <a:spLocks xmlns:a="http://schemas.openxmlformats.org/drawingml/2006/main" noGrp="1"/>
          </p:cNvSpPr>
          <p:nvPr/>
        </p:nvSpPr>
        <p:spPr>
          <a:xfrm xmlns:a="http://schemas.openxmlformats.org/drawingml/2006/main">
            <a:off x="7667625" y="27146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6" name="">
            <a:extLst xmlns:a="http://schemas.openxmlformats.org/drawingml/2006/main">
              <a:ext uri="{FF2B5EF4-FFF2-40B4-BE49-F238E27FC236}">
                <a16:creationId xmlns:a16="http://schemas.microsoft.com/office/drawing/2014/main" id="{2F2CB795-DB4C-4ED0-AC39-F85B81995C5B}"/>
              </a:ext>
            </a:extLst>
          </p:cNvPr>
          <p:cNvSpPr>
            <a:spLocks xmlns:a="http://schemas.openxmlformats.org/drawingml/2006/main" noGrp="1"/>
          </p:cNvSpPr>
          <p:nvPr/>
        </p:nvSpPr>
        <p:spPr>
          <a:xfrm xmlns:a="http://schemas.openxmlformats.org/drawingml/2006/main">
            <a:off x="7562850" y="30765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D</a:t>
            </a:r>
          </a:p>
        </p:txBody>
      </p:sp>
      <p:sp>
        <p:nvSpPr>
          <p:cNvPr id="17" name="">
            <a:extLst xmlns:a="http://schemas.openxmlformats.org/drawingml/2006/main">
              <a:ext uri="{FF2B5EF4-FFF2-40B4-BE49-F238E27FC236}">
                <a16:creationId xmlns:a16="http://schemas.microsoft.com/office/drawing/2014/main" id="{6065A7EB-1390-4309-842F-6B9FCE441FD9}"/>
              </a:ext>
            </a:extLst>
          </p:cNvPr>
          <p:cNvSpPr>
            <a:spLocks xmlns:a="http://schemas.openxmlformats.org/drawingml/2006/main" noGrp="1"/>
          </p:cNvSpPr>
          <p:nvPr/>
        </p:nvSpPr>
        <p:spPr>
          <a:xfrm xmlns:a="http://schemas.openxmlformats.org/drawingml/2006/main">
            <a:off x="9763125" y="2714625"/>
            <a:ext cx="285750" cy="285750"/>
          </a:xfrm>
          <a:prstGeom xmlns:a="http://schemas.openxmlformats.org/drawingml/2006/main" prst="ellipse">
            <a:avLst/>
          </a:prstGeom>
          <a:solidFill xmlns:a="http://schemas.openxmlformats.org/drawingml/2006/main">
            <a:srgbClr val="FFFFFF"/>
          </a:solidFill>
          <a:ln xmlns:a="http://schemas.openxmlformats.org/drawingml/2006/main" w="38100">
            <a:solidFill>
              <a:srgbClr val="087FBA"/>
            </a:solidFill>
          </a:ln>
        </p:spPr>
      </p:sp>
      <p:sp>
        <p:nvSpPr>
          <p:cNvPr id="18" name="">
            <a:extLst xmlns:a="http://schemas.openxmlformats.org/drawingml/2006/main">
              <a:ext uri="{FF2B5EF4-FFF2-40B4-BE49-F238E27FC236}">
                <a16:creationId xmlns:a16="http://schemas.microsoft.com/office/drawing/2014/main" id="{C4203A80-1AA0-4336-8979-7B833D56FA70}"/>
              </a:ext>
            </a:extLst>
          </p:cNvPr>
          <p:cNvSpPr>
            <a:spLocks xmlns:a="http://schemas.openxmlformats.org/drawingml/2006/main" noGrp="1"/>
          </p:cNvSpPr>
          <p:nvPr/>
        </p:nvSpPr>
        <p:spPr>
          <a:xfrm xmlns:a="http://schemas.openxmlformats.org/drawingml/2006/main">
            <a:off x="9658350" y="3076575"/>
            <a:ext cx="90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1">
                <a:solidFill>
                  <a:srgbClr val="17354A"/>
                </a:solidFill>
                <a:latin typeface="Yu Gothic"/>
                <a:ea typeface="Yu Gothic"/>
                <a:cs typeface="Yu Gothic"/>
              </a:defRPr>
            </a:pPr>
            <a:r>
              <a:rPr sz="1875" b="1">
                <a:solidFill>
                  <a:srgbClr val="17354A"/>
                </a:solidFill>
                <a:latin typeface="Yu Gothic"/>
                <a:ea typeface="Yu Gothic"/>
                <a:cs typeface="Yu Gothic"/>
              </a:rPr>
              <a:t>E</a:t>
            </a:r>
          </a:p>
        </p:txBody>
      </p:sp>
      <p:sp>
        <p:nvSpPr>
          <p:cNvPr id="19" name="">
            <a:extLst xmlns:a="http://schemas.openxmlformats.org/drawingml/2006/main">
              <a:ext uri="{FF2B5EF4-FFF2-40B4-BE49-F238E27FC236}">
                <a16:creationId xmlns:a16="http://schemas.microsoft.com/office/drawing/2014/main" id="{316ACC8E-4EC2-40B3-B405-823479EDFF13}"/>
              </a:ext>
            </a:extLst>
          </p:cNvPr>
          <p:cNvSpPr>
            <a:spLocks xmlns:a="http://schemas.openxmlformats.org/drawingml/2006/main" noGrp="1"/>
          </p:cNvSpPr>
          <p:nvPr/>
        </p:nvSpPr>
        <p:spPr>
          <a:xfrm xmlns:a="http://schemas.openxmlformats.org/drawingml/2006/main">
            <a:off x="952500" y="3619500"/>
            <a:ext cx="233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647987"/>
                </a:solidFill>
                <a:latin typeface="Yu Gothic"/>
                <a:ea typeface="Yu Gothic"/>
                <a:cs typeface="Yu Gothic"/>
              </a:defRPr>
            </a:pPr>
            <a:r>
              <a:rPr sz="1800" b="0">
                <a:solidFill>
                  <a:srgbClr val="647987"/>
                </a:solidFill>
                <a:latin typeface="Yu Gothic"/>
                <a:ea typeface="Yu Gothic"/>
                <a:cs typeface="Yu Gothic"/>
              </a:rPr>
              <a:t>期待 1,500人</a:t>
            </a:r>
          </a:p>
        </p:txBody>
      </p:sp>
      <p:sp>
        <p:nvSpPr>
          <p:cNvPr id="20" name="">
            <a:extLst xmlns:a="http://schemas.openxmlformats.org/drawingml/2006/main">
              <a:ext uri="{FF2B5EF4-FFF2-40B4-BE49-F238E27FC236}">
                <a16:creationId xmlns:a16="http://schemas.microsoft.com/office/drawing/2014/main" id="{72FD7314-7CE2-4C11-BD09-E00E0C5FBF81}"/>
              </a:ext>
            </a:extLst>
          </p:cNvPr>
          <p:cNvSpPr>
            <a:spLocks xmlns:a="http://schemas.openxmlformats.org/drawingml/2006/main" noGrp="1"/>
          </p:cNvSpPr>
          <p:nvPr/>
        </p:nvSpPr>
        <p:spPr>
          <a:xfrm xmlns:a="http://schemas.openxmlformats.org/drawingml/2006/main">
            <a:off x="3048000" y="3619500"/>
            <a:ext cx="233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1">
                <a:solidFill>
                  <a:srgbClr val="D77824"/>
                </a:solidFill>
                <a:latin typeface="Yu Gothic"/>
                <a:ea typeface="Yu Gothic"/>
                <a:cs typeface="Yu Gothic"/>
              </a:defRPr>
            </a:pPr>
            <a:r>
              <a:rPr sz="1800" b="1">
                <a:solidFill>
                  <a:srgbClr val="D77824"/>
                </a:solidFill>
                <a:latin typeface="Yu Gothic"/>
                <a:ea typeface="Yu Gothic"/>
                <a:cs typeface="Yu Gothic"/>
              </a:rPr>
              <a:t>期待 約3,300人</a:t>
            </a:r>
          </a:p>
        </p:txBody>
      </p:sp>
      <p:sp>
        <p:nvSpPr>
          <p:cNvPr id="21" name="">
            <a:extLst xmlns:a="http://schemas.openxmlformats.org/drawingml/2006/main">
              <a:ext uri="{FF2B5EF4-FFF2-40B4-BE49-F238E27FC236}">
                <a16:creationId xmlns:a16="http://schemas.microsoft.com/office/drawing/2014/main" id="{93E10A02-CB5D-49CA-BD14-3FECA21EA343}"/>
              </a:ext>
            </a:extLst>
          </p:cNvPr>
          <p:cNvSpPr>
            <a:spLocks xmlns:a="http://schemas.openxmlformats.org/drawingml/2006/main" noGrp="1"/>
          </p:cNvSpPr>
          <p:nvPr/>
        </p:nvSpPr>
        <p:spPr>
          <a:xfrm xmlns:a="http://schemas.openxmlformats.org/drawingml/2006/main">
            <a:off x="5143500" y="3619500"/>
            <a:ext cx="233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647987"/>
                </a:solidFill>
                <a:latin typeface="Yu Gothic"/>
                <a:ea typeface="Yu Gothic"/>
                <a:cs typeface="Yu Gothic"/>
              </a:defRPr>
            </a:pPr>
            <a:r>
              <a:rPr sz="1800" b="0">
                <a:solidFill>
                  <a:srgbClr val="647987"/>
                </a:solidFill>
                <a:latin typeface="Yu Gothic"/>
                <a:ea typeface="Yu Gothic"/>
                <a:cs typeface="Yu Gothic"/>
              </a:rPr>
              <a:t>期待 2,800人</a:t>
            </a:r>
          </a:p>
        </p:txBody>
      </p:sp>
      <p:sp>
        <p:nvSpPr>
          <p:cNvPr id="22" name="">
            <a:extLst xmlns:a="http://schemas.openxmlformats.org/drawingml/2006/main">
              <a:ext uri="{FF2B5EF4-FFF2-40B4-BE49-F238E27FC236}">
                <a16:creationId xmlns:a16="http://schemas.microsoft.com/office/drawing/2014/main" id="{BDD06214-0CA4-43D5-B3DF-1F6189938FF5}"/>
              </a:ext>
            </a:extLst>
          </p:cNvPr>
          <p:cNvSpPr>
            <a:spLocks xmlns:a="http://schemas.openxmlformats.org/drawingml/2006/main" noGrp="1"/>
          </p:cNvSpPr>
          <p:nvPr/>
        </p:nvSpPr>
        <p:spPr>
          <a:xfrm xmlns:a="http://schemas.openxmlformats.org/drawingml/2006/main">
            <a:off x="7239000" y="3619500"/>
            <a:ext cx="233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647987"/>
                </a:solidFill>
                <a:latin typeface="Yu Gothic"/>
                <a:ea typeface="Yu Gothic"/>
                <a:cs typeface="Yu Gothic"/>
              </a:defRPr>
            </a:pPr>
            <a:r>
              <a:rPr sz="1800" b="0">
                <a:solidFill>
                  <a:srgbClr val="647987"/>
                </a:solidFill>
                <a:latin typeface="Yu Gothic"/>
                <a:ea typeface="Yu Gothic"/>
                <a:cs typeface="Yu Gothic"/>
              </a:rPr>
              <a:t>期待 900人</a:t>
            </a:r>
          </a:p>
        </p:txBody>
      </p:sp>
      <p:sp>
        <p:nvSpPr>
          <p:cNvPr id="23" name="">
            <a:extLst xmlns:a="http://schemas.openxmlformats.org/drawingml/2006/main">
              <a:ext uri="{FF2B5EF4-FFF2-40B4-BE49-F238E27FC236}">
                <a16:creationId xmlns:a16="http://schemas.microsoft.com/office/drawing/2014/main" id="{3EA72699-0E73-48AA-B4BD-4429B510A373}"/>
              </a:ext>
            </a:extLst>
          </p:cNvPr>
          <p:cNvSpPr>
            <a:spLocks xmlns:a="http://schemas.openxmlformats.org/drawingml/2006/main" noGrp="1"/>
          </p:cNvSpPr>
          <p:nvPr/>
        </p:nvSpPr>
        <p:spPr>
          <a:xfrm xmlns:a="http://schemas.openxmlformats.org/drawingml/2006/main">
            <a:off x="762000" y="44481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725" b="0">
                <a:solidFill>
                  <a:srgbClr val="647987"/>
                </a:solidFill>
                <a:latin typeface="Yu Gothic"/>
                <a:ea typeface="Yu Gothic"/>
                <a:cs typeface="Yu Gothic"/>
              </a:defRPr>
            </a:pPr>
            <a:r>
              <a:rPr sz="1725" b="0">
                <a:solidFill>
                  <a:srgbClr val="647987"/>
                </a:solidFill>
                <a:latin typeface="Yu Gothic"/>
                <a:ea typeface="Yu Gothic"/>
                <a:cs typeface="Yu Gothic"/>
              </a:rPr>
              <a:t>説明用の模式例</a:t>
            </a:r>
          </a:p>
        </p:txBody>
      </p:sp>
      <p:sp>
        <p:nvSpPr>
          <p:cNvPr id="24" name="">
            <a:extLst xmlns:a="http://schemas.openxmlformats.org/drawingml/2006/main">
              <a:ext uri="{FF2B5EF4-FFF2-40B4-BE49-F238E27FC236}">
                <a16:creationId xmlns:a16="http://schemas.microsoft.com/office/drawing/2014/main" id="{A9121D98-02E3-4C66-AD6D-E16D0C14E2EE}"/>
              </a:ext>
            </a:extLst>
          </p:cNvPr>
          <p:cNvSpPr>
            <a:spLocks xmlns:a="http://schemas.openxmlformats.org/drawingml/2006/main" noGrp="1"/>
          </p:cNvSpPr>
          <p:nvPr/>
        </p:nvSpPr>
        <p:spPr>
          <a:xfrm xmlns:a="http://schemas.openxmlformats.org/drawingml/2006/main">
            <a:off x="5095875" y="4524375"/>
            <a:ext cx="647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087FBA"/>
                </a:solidFill>
                <a:latin typeface="Yu Gothic"/>
                <a:ea typeface="Yu Gothic"/>
                <a:cs typeface="Yu Gothic"/>
              </a:defRPr>
            </a:pPr>
            <a:r>
              <a:rPr sz="3150" b="1">
                <a:solidFill>
                  <a:srgbClr val="087FBA"/>
                </a:solidFill>
                <a:latin typeface="Yu Gothic"/>
                <a:ea typeface="Yu Gothic"/>
                <a:cs typeface="Yu Gothic"/>
              </a:rPr>
              <a:t>N = ⌈ 3300 / maxₑ aₑ ⌉</a:t>
            </a:r>
          </a:p>
        </p:txBody>
      </p:sp>
      <p:sp>
        <p:nvSpPr>
          <p:cNvPr id="25" name="">
            <a:extLst xmlns:a="http://schemas.openxmlformats.org/drawingml/2006/main">
              <a:ext uri="{FF2B5EF4-FFF2-40B4-BE49-F238E27FC236}">
                <a16:creationId xmlns:a16="http://schemas.microsoft.com/office/drawing/2014/main" id="{495BE687-890E-420A-960B-230DC311B199}"/>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Nは各試行で固定。リンクの実現通過人数はOD標本により変動</a:t>
            </a:r>
          </a:p>
        </p:txBody>
      </p:sp>
    </p:spTree>
    <p:extLst>
      <p:ext uri="{BB962C8B-B14F-4D97-AF65-F5344CB8AC3E}">
        <p14:creationId xmlns:p14="http://schemas.microsoft.com/office/powerpoint/2010/main" val="9356504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2123C8F-C22F-4F85-B107-C6F11E5EA67E}"/>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運賃は距離に応じた5区分</a:t>
            </a:r>
          </a:p>
        </p:txBody>
      </p:sp>
      <p:sp>
        <p:nvSpPr>
          <p:cNvPr id="2" name="">
            <a:extLst xmlns:a="http://schemas.openxmlformats.org/drawingml/2006/main">
              <a:ext uri="{FF2B5EF4-FFF2-40B4-BE49-F238E27FC236}">
                <a16:creationId xmlns:a16="http://schemas.microsoft.com/office/drawing/2014/main" id="{2D8479FF-22A3-4020-8F76-8C6304B8083F}"/>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77417CA-F599-45CD-B218-647B8F04C6A0}"/>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12</a:t>
            </a:r>
          </a:p>
        </p:txBody>
      </p:sp>
      <p:sp>
        <p:nvSpPr>
          <p:cNvPr id="4" name="">
            <a:extLst xmlns:a="http://schemas.openxmlformats.org/drawingml/2006/main">
              <a:ext uri="{FF2B5EF4-FFF2-40B4-BE49-F238E27FC236}">
                <a16:creationId xmlns:a16="http://schemas.microsoft.com/office/drawing/2014/main" id="{217A2022-EE62-4544-A494-20133782C58E}"/>
              </a:ext>
            </a:extLst>
          </p:cNvPr>
          <p:cNvSpPr>
            <a:spLocks xmlns:a="http://schemas.openxmlformats.org/drawingml/2006/main" noGrp="1"/>
          </p:cNvSpPr>
          <p:nvPr/>
        </p:nvSpPr>
        <p:spPr>
          <a:xfrm xmlns:a="http://schemas.openxmlformats.org/drawingml/2006/main">
            <a:off x="571500" y="14763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0">
                <a:solidFill>
                  <a:srgbClr val="17354A"/>
                </a:solidFill>
                <a:latin typeface="Yu Gothic"/>
                <a:ea typeface="Yu Gothic"/>
                <a:cs typeface="Yu Gothic"/>
              </a:defRPr>
            </a:pPr>
            <a:r>
              <a:rPr sz="2400" b="0">
                <a:solidFill>
                  <a:srgbClr val="17354A"/>
                </a:solidFill>
                <a:latin typeface="Yu Gothic"/>
                <a:ea typeface="Yu Gothic"/>
                <a:cs typeface="Yu Gothic"/>
              </a:rPr>
              <a:t>名古屋市営地下鉄の大人普通運賃</a:t>
            </a:r>
          </a:p>
        </p:txBody>
      </p:sp>
      <p:sp>
        <p:nvSpPr>
          <p:cNvPr id="5" name="">
            <a:extLst xmlns:a="http://schemas.openxmlformats.org/drawingml/2006/main">
              <a:ext uri="{FF2B5EF4-FFF2-40B4-BE49-F238E27FC236}">
                <a16:creationId xmlns:a16="http://schemas.microsoft.com/office/drawing/2014/main" id="{BC1D1160-D977-44E9-B9CF-ED3381D49216}"/>
              </a:ext>
            </a:extLst>
          </p:cNvPr>
          <p:cNvSpPr>
            <a:spLocks xmlns:a="http://schemas.openxmlformats.org/drawingml/2006/main" noGrp="1"/>
          </p:cNvSpPr>
          <p:nvPr/>
        </p:nvSpPr>
        <p:spPr>
          <a:xfrm xmlns:a="http://schemas.openxmlformats.org/drawingml/2006/main">
            <a:off x="666750" y="4381500"/>
            <a:ext cx="2095500" cy="7620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01E15B1-79E4-4E16-9F1A-4E56BB651C4A}"/>
              </a:ext>
            </a:extLst>
          </p:cNvPr>
          <p:cNvSpPr>
            <a:spLocks xmlns:a="http://schemas.openxmlformats.org/drawingml/2006/main" noGrp="1"/>
          </p:cNvSpPr>
          <p:nvPr/>
        </p:nvSpPr>
        <p:spPr>
          <a:xfrm xmlns:a="http://schemas.openxmlformats.org/drawingml/2006/main">
            <a:off x="2714625" y="4052888"/>
            <a:ext cx="47625" cy="328613"/>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38F87E1-F336-4776-9691-AB44320268C3}"/>
              </a:ext>
            </a:extLst>
          </p:cNvPr>
          <p:cNvSpPr>
            <a:spLocks xmlns:a="http://schemas.openxmlformats.org/drawingml/2006/main" noGrp="1"/>
          </p:cNvSpPr>
          <p:nvPr/>
        </p:nvSpPr>
        <p:spPr>
          <a:xfrm xmlns:a="http://schemas.openxmlformats.org/drawingml/2006/main">
            <a:off x="857250" y="3733800"/>
            <a:ext cx="1952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087FBA"/>
                </a:solidFill>
                <a:latin typeface="Yu Gothic"/>
                <a:ea typeface="Yu Gothic"/>
                <a:cs typeface="Yu Gothic"/>
              </a:defRPr>
            </a:pPr>
            <a:r>
              <a:rPr sz="3000" b="1">
                <a:solidFill>
                  <a:srgbClr val="087FBA"/>
                </a:solidFill>
                <a:latin typeface="Yu Gothic"/>
                <a:ea typeface="Yu Gothic"/>
                <a:cs typeface="Yu Gothic"/>
              </a:rPr>
              <a:t>210円</a:t>
            </a:r>
          </a:p>
        </p:txBody>
      </p:sp>
      <p:sp>
        <p:nvSpPr>
          <p:cNvPr id="8" name="">
            <a:extLst xmlns:a="http://schemas.openxmlformats.org/drawingml/2006/main">
              <a:ext uri="{FF2B5EF4-FFF2-40B4-BE49-F238E27FC236}">
                <a16:creationId xmlns:a16="http://schemas.microsoft.com/office/drawing/2014/main" id="{91BAF289-766E-4F10-BE96-AA7503C4162F}"/>
              </a:ext>
            </a:extLst>
          </p:cNvPr>
          <p:cNvSpPr>
            <a:spLocks xmlns:a="http://schemas.openxmlformats.org/drawingml/2006/main" noGrp="1"/>
          </p:cNvSpPr>
          <p:nvPr/>
        </p:nvSpPr>
        <p:spPr>
          <a:xfrm xmlns:a="http://schemas.openxmlformats.org/drawingml/2006/main">
            <a:off x="762000" y="4762500"/>
            <a:ext cx="209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0">
                <a:solidFill>
                  <a:srgbClr val="17354A"/>
                </a:solidFill>
                <a:latin typeface="Yu Gothic"/>
                <a:ea typeface="Yu Gothic"/>
                <a:cs typeface="Yu Gothic"/>
              </a:defRPr>
            </a:pPr>
            <a:r>
              <a:rPr sz="2100" b="0">
                <a:solidFill>
                  <a:srgbClr val="17354A"/>
                </a:solidFill>
                <a:latin typeface="Yu Gothic"/>
                <a:ea typeface="Yu Gothic"/>
                <a:cs typeface="Yu Gothic"/>
              </a:rPr>
              <a:t>3 km以下</a:t>
            </a:r>
          </a:p>
        </p:txBody>
      </p:sp>
      <p:sp>
        <p:nvSpPr>
          <p:cNvPr id="9" name="">
            <a:extLst xmlns:a="http://schemas.openxmlformats.org/drawingml/2006/main">
              <a:ext uri="{FF2B5EF4-FFF2-40B4-BE49-F238E27FC236}">
                <a16:creationId xmlns:a16="http://schemas.microsoft.com/office/drawing/2014/main" id="{5329119C-CF6D-4FDD-B41B-9AD496BE611B}"/>
              </a:ext>
            </a:extLst>
          </p:cNvPr>
          <p:cNvSpPr>
            <a:spLocks xmlns:a="http://schemas.openxmlformats.org/drawingml/2006/main" noGrp="1"/>
          </p:cNvSpPr>
          <p:nvPr/>
        </p:nvSpPr>
        <p:spPr>
          <a:xfrm xmlns:a="http://schemas.openxmlformats.org/drawingml/2006/main">
            <a:off x="2905125" y="4052888"/>
            <a:ext cx="2095500" cy="7620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0C06839-C072-490A-AA6D-8356F97C7F96}"/>
              </a:ext>
            </a:extLst>
          </p:cNvPr>
          <p:cNvSpPr>
            <a:spLocks xmlns:a="http://schemas.openxmlformats.org/drawingml/2006/main" noGrp="1"/>
          </p:cNvSpPr>
          <p:nvPr/>
        </p:nvSpPr>
        <p:spPr>
          <a:xfrm xmlns:a="http://schemas.openxmlformats.org/drawingml/2006/main">
            <a:off x="4953000" y="3724275"/>
            <a:ext cx="47625" cy="328613"/>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D93AA2D-DC6F-4F08-8F95-F11552B4542C}"/>
              </a:ext>
            </a:extLst>
          </p:cNvPr>
          <p:cNvSpPr>
            <a:spLocks xmlns:a="http://schemas.openxmlformats.org/drawingml/2006/main" noGrp="1"/>
          </p:cNvSpPr>
          <p:nvPr/>
        </p:nvSpPr>
        <p:spPr>
          <a:xfrm xmlns:a="http://schemas.openxmlformats.org/drawingml/2006/main">
            <a:off x="3095625" y="3405188"/>
            <a:ext cx="1952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087FBA"/>
                </a:solidFill>
                <a:latin typeface="Yu Gothic"/>
                <a:ea typeface="Yu Gothic"/>
                <a:cs typeface="Yu Gothic"/>
              </a:defRPr>
            </a:pPr>
            <a:r>
              <a:rPr sz="3000" b="1">
                <a:solidFill>
                  <a:srgbClr val="087FBA"/>
                </a:solidFill>
                <a:latin typeface="Yu Gothic"/>
                <a:ea typeface="Yu Gothic"/>
                <a:cs typeface="Yu Gothic"/>
              </a:rPr>
              <a:t>240円</a:t>
            </a:r>
          </a:p>
        </p:txBody>
      </p:sp>
      <p:sp>
        <p:nvSpPr>
          <p:cNvPr id="12" name="">
            <a:extLst xmlns:a="http://schemas.openxmlformats.org/drawingml/2006/main">
              <a:ext uri="{FF2B5EF4-FFF2-40B4-BE49-F238E27FC236}">
                <a16:creationId xmlns:a16="http://schemas.microsoft.com/office/drawing/2014/main" id="{5EB2CE25-CC56-4931-BA93-2538D8572E83}"/>
              </a:ext>
            </a:extLst>
          </p:cNvPr>
          <p:cNvSpPr>
            <a:spLocks xmlns:a="http://schemas.openxmlformats.org/drawingml/2006/main" noGrp="1"/>
          </p:cNvSpPr>
          <p:nvPr/>
        </p:nvSpPr>
        <p:spPr>
          <a:xfrm xmlns:a="http://schemas.openxmlformats.org/drawingml/2006/main">
            <a:off x="3000375" y="4762500"/>
            <a:ext cx="209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0">
                <a:solidFill>
                  <a:srgbClr val="17354A"/>
                </a:solidFill>
                <a:latin typeface="Yu Gothic"/>
                <a:ea typeface="Yu Gothic"/>
                <a:cs typeface="Yu Gothic"/>
              </a:defRPr>
            </a:pPr>
            <a:r>
              <a:rPr sz="2100" b="0">
                <a:solidFill>
                  <a:srgbClr val="17354A"/>
                </a:solidFill>
                <a:latin typeface="Yu Gothic"/>
                <a:ea typeface="Yu Gothic"/>
                <a:cs typeface="Yu Gothic"/>
              </a:rPr>
              <a:t>3 km超</a:t>
            </a:r>
          </a:p>
          <a:p xmlns:a="http://schemas.openxmlformats.org/drawingml/2006/main">
            <a:pPr>
              <a:buNone/>
              <a:defRPr sz="2100" b="0">
                <a:solidFill>
                  <a:srgbClr val="17354A"/>
                </a:solidFill>
                <a:latin typeface="Yu Gothic"/>
                <a:ea typeface="Yu Gothic"/>
                <a:cs typeface="Yu Gothic"/>
              </a:defRPr>
            </a:pPr>
            <a:r>
              <a:rPr sz="2100" b="0">
                <a:solidFill>
                  <a:srgbClr val="17354A"/>
                </a:solidFill>
                <a:latin typeface="Yu Gothic"/>
                <a:ea typeface="Yu Gothic"/>
                <a:cs typeface="Yu Gothic"/>
              </a:rPr>
              <a:t>7 km以下</a:t>
            </a:r>
          </a:p>
        </p:txBody>
      </p:sp>
      <p:sp>
        <p:nvSpPr>
          <p:cNvPr id="13" name="">
            <a:extLst xmlns:a="http://schemas.openxmlformats.org/drawingml/2006/main">
              <a:ext uri="{FF2B5EF4-FFF2-40B4-BE49-F238E27FC236}">
                <a16:creationId xmlns:a16="http://schemas.microsoft.com/office/drawing/2014/main" id="{DA3446C7-1721-4992-9E7D-19DBD887176A}"/>
              </a:ext>
            </a:extLst>
          </p:cNvPr>
          <p:cNvSpPr>
            <a:spLocks xmlns:a="http://schemas.openxmlformats.org/drawingml/2006/main" noGrp="1"/>
          </p:cNvSpPr>
          <p:nvPr/>
        </p:nvSpPr>
        <p:spPr>
          <a:xfrm xmlns:a="http://schemas.openxmlformats.org/drawingml/2006/main">
            <a:off x="5143500" y="3724275"/>
            <a:ext cx="2095500" cy="7620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D1BA359-951E-414F-BA6D-99AC24A10F82}"/>
              </a:ext>
            </a:extLst>
          </p:cNvPr>
          <p:cNvSpPr>
            <a:spLocks xmlns:a="http://schemas.openxmlformats.org/drawingml/2006/main" noGrp="1"/>
          </p:cNvSpPr>
          <p:nvPr/>
        </p:nvSpPr>
        <p:spPr>
          <a:xfrm xmlns:a="http://schemas.openxmlformats.org/drawingml/2006/main">
            <a:off x="7191375" y="3286125"/>
            <a:ext cx="47625" cy="43815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AF4A854-B000-4EB8-A2A9-AE0FE26CB892}"/>
              </a:ext>
            </a:extLst>
          </p:cNvPr>
          <p:cNvSpPr>
            <a:spLocks xmlns:a="http://schemas.openxmlformats.org/drawingml/2006/main" noGrp="1"/>
          </p:cNvSpPr>
          <p:nvPr/>
        </p:nvSpPr>
        <p:spPr>
          <a:xfrm xmlns:a="http://schemas.openxmlformats.org/drawingml/2006/main">
            <a:off x="5334000" y="3076575"/>
            <a:ext cx="1952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087FBA"/>
                </a:solidFill>
                <a:latin typeface="Yu Gothic"/>
                <a:ea typeface="Yu Gothic"/>
                <a:cs typeface="Yu Gothic"/>
              </a:defRPr>
            </a:pPr>
            <a:r>
              <a:rPr sz="3000" b="1">
                <a:solidFill>
                  <a:srgbClr val="087FBA"/>
                </a:solidFill>
                <a:latin typeface="Yu Gothic"/>
                <a:ea typeface="Yu Gothic"/>
                <a:cs typeface="Yu Gothic"/>
              </a:rPr>
              <a:t>270円</a:t>
            </a:r>
          </a:p>
        </p:txBody>
      </p:sp>
      <p:sp>
        <p:nvSpPr>
          <p:cNvPr id="16" name="">
            <a:extLst xmlns:a="http://schemas.openxmlformats.org/drawingml/2006/main">
              <a:ext uri="{FF2B5EF4-FFF2-40B4-BE49-F238E27FC236}">
                <a16:creationId xmlns:a16="http://schemas.microsoft.com/office/drawing/2014/main" id="{A8AB8011-D471-4002-BAC7-E937FD302B29}"/>
              </a:ext>
            </a:extLst>
          </p:cNvPr>
          <p:cNvSpPr>
            <a:spLocks xmlns:a="http://schemas.openxmlformats.org/drawingml/2006/main" noGrp="1"/>
          </p:cNvSpPr>
          <p:nvPr/>
        </p:nvSpPr>
        <p:spPr>
          <a:xfrm xmlns:a="http://schemas.openxmlformats.org/drawingml/2006/main">
            <a:off x="5238750" y="4762500"/>
            <a:ext cx="209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0">
                <a:solidFill>
                  <a:srgbClr val="17354A"/>
                </a:solidFill>
                <a:latin typeface="Yu Gothic"/>
                <a:ea typeface="Yu Gothic"/>
                <a:cs typeface="Yu Gothic"/>
              </a:defRPr>
            </a:pPr>
            <a:r>
              <a:rPr sz="2100" b="0">
                <a:solidFill>
                  <a:srgbClr val="17354A"/>
                </a:solidFill>
                <a:latin typeface="Yu Gothic"/>
                <a:ea typeface="Yu Gothic"/>
                <a:cs typeface="Yu Gothic"/>
              </a:rPr>
              <a:t>7 km超</a:t>
            </a:r>
          </a:p>
          <a:p xmlns:a="http://schemas.openxmlformats.org/drawingml/2006/main">
            <a:pPr>
              <a:buNone/>
              <a:defRPr sz="2100" b="0">
                <a:solidFill>
                  <a:srgbClr val="17354A"/>
                </a:solidFill>
                <a:latin typeface="Yu Gothic"/>
                <a:ea typeface="Yu Gothic"/>
                <a:cs typeface="Yu Gothic"/>
              </a:defRPr>
            </a:pPr>
            <a:r>
              <a:rPr sz="2100" b="0">
                <a:solidFill>
                  <a:srgbClr val="17354A"/>
                </a:solidFill>
                <a:latin typeface="Yu Gothic"/>
                <a:ea typeface="Yu Gothic"/>
                <a:cs typeface="Yu Gothic"/>
              </a:rPr>
              <a:t>11 km以下</a:t>
            </a:r>
          </a:p>
        </p:txBody>
      </p:sp>
      <p:sp>
        <p:nvSpPr>
          <p:cNvPr id="17" name="">
            <a:extLst xmlns:a="http://schemas.openxmlformats.org/drawingml/2006/main">
              <a:ext uri="{FF2B5EF4-FFF2-40B4-BE49-F238E27FC236}">
                <a16:creationId xmlns:a16="http://schemas.microsoft.com/office/drawing/2014/main" id="{72F99A38-F913-4CA1-920A-354756024272}"/>
              </a:ext>
            </a:extLst>
          </p:cNvPr>
          <p:cNvSpPr>
            <a:spLocks xmlns:a="http://schemas.openxmlformats.org/drawingml/2006/main" noGrp="1"/>
          </p:cNvSpPr>
          <p:nvPr/>
        </p:nvSpPr>
        <p:spPr>
          <a:xfrm xmlns:a="http://schemas.openxmlformats.org/drawingml/2006/main">
            <a:off x="7381875" y="3286125"/>
            <a:ext cx="2095500" cy="7620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F7DCB09-0F66-4937-8A65-A6ABB841BAAF}"/>
              </a:ext>
            </a:extLst>
          </p:cNvPr>
          <p:cNvSpPr>
            <a:spLocks xmlns:a="http://schemas.openxmlformats.org/drawingml/2006/main" noGrp="1"/>
          </p:cNvSpPr>
          <p:nvPr/>
        </p:nvSpPr>
        <p:spPr>
          <a:xfrm xmlns:a="http://schemas.openxmlformats.org/drawingml/2006/main">
            <a:off x="9429750" y="2957513"/>
            <a:ext cx="47625" cy="328613"/>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3473654-A84D-47C9-9D63-F25BCF2AD7F5}"/>
              </a:ext>
            </a:extLst>
          </p:cNvPr>
          <p:cNvSpPr>
            <a:spLocks xmlns:a="http://schemas.openxmlformats.org/drawingml/2006/main" noGrp="1"/>
          </p:cNvSpPr>
          <p:nvPr/>
        </p:nvSpPr>
        <p:spPr>
          <a:xfrm xmlns:a="http://schemas.openxmlformats.org/drawingml/2006/main">
            <a:off x="7572375" y="2638425"/>
            <a:ext cx="1952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087FBA"/>
                </a:solidFill>
                <a:latin typeface="Yu Gothic"/>
                <a:ea typeface="Yu Gothic"/>
                <a:cs typeface="Yu Gothic"/>
              </a:defRPr>
            </a:pPr>
            <a:r>
              <a:rPr sz="3000" b="1">
                <a:solidFill>
                  <a:srgbClr val="087FBA"/>
                </a:solidFill>
                <a:latin typeface="Yu Gothic"/>
                <a:ea typeface="Yu Gothic"/>
                <a:cs typeface="Yu Gothic"/>
              </a:rPr>
              <a:t>310円</a:t>
            </a:r>
          </a:p>
        </p:txBody>
      </p:sp>
      <p:sp>
        <p:nvSpPr>
          <p:cNvPr id="20" name="">
            <a:extLst xmlns:a="http://schemas.openxmlformats.org/drawingml/2006/main">
              <a:ext uri="{FF2B5EF4-FFF2-40B4-BE49-F238E27FC236}">
                <a16:creationId xmlns:a16="http://schemas.microsoft.com/office/drawing/2014/main" id="{379DFBD8-989E-4A29-A906-29FA06D9EBB5}"/>
              </a:ext>
            </a:extLst>
          </p:cNvPr>
          <p:cNvSpPr>
            <a:spLocks xmlns:a="http://schemas.openxmlformats.org/drawingml/2006/main" noGrp="1"/>
          </p:cNvSpPr>
          <p:nvPr/>
        </p:nvSpPr>
        <p:spPr>
          <a:xfrm xmlns:a="http://schemas.openxmlformats.org/drawingml/2006/main">
            <a:off x="7477125" y="4762500"/>
            <a:ext cx="209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0">
                <a:solidFill>
                  <a:srgbClr val="17354A"/>
                </a:solidFill>
                <a:latin typeface="Yu Gothic"/>
                <a:ea typeface="Yu Gothic"/>
                <a:cs typeface="Yu Gothic"/>
              </a:defRPr>
            </a:pPr>
            <a:r>
              <a:rPr sz="2100" b="0">
                <a:solidFill>
                  <a:srgbClr val="17354A"/>
                </a:solidFill>
                <a:latin typeface="Yu Gothic"/>
                <a:ea typeface="Yu Gothic"/>
                <a:cs typeface="Yu Gothic"/>
              </a:rPr>
              <a:t>11 km超</a:t>
            </a:r>
          </a:p>
          <a:p xmlns:a="http://schemas.openxmlformats.org/drawingml/2006/main">
            <a:pPr>
              <a:buNone/>
              <a:defRPr sz="2100" b="0">
                <a:solidFill>
                  <a:srgbClr val="17354A"/>
                </a:solidFill>
                <a:latin typeface="Yu Gothic"/>
                <a:ea typeface="Yu Gothic"/>
                <a:cs typeface="Yu Gothic"/>
              </a:defRPr>
            </a:pPr>
            <a:r>
              <a:rPr sz="2100" b="0">
                <a:solidFill>
                  <a:srgbClr val="17354A"/>
                </a:solidFill>
                <a:latin typeface="Yu Gothic"/>
                <a:ea typeface="Yu Gothic"/>
                <a:cs typeface="Yu Gothic"/>
              </a:rPr>
              <a:t>15 km以下</a:t>
            </a:r>
          </a:p>
        </p:txBody>
      </p:sp>
      <p:sp>
        <p:nvSpPr>
          <p:cNvPr id="21" name="">
            <a:extLst xmlns:a="http://schemas.openxmlformats.org/drawingml/2006/main">
              <a:ext uri="{FF2B5EF4-FFF2-40B4-BE49-F238E27FC236}">
                <a16:creationId xmlns:a16="http://schemas.microsoft.com/office/drawing/2014/main" id="{449918CB-9A84-4E74-914F-431EEE2F8CD4}"/>
              </a:ext>
            </a:extLst>
          </p:cNvPr>
          <p:cNvSpPr>
            <a:spLocks xmlns:a="http://schemas.openxmlformats.org/drawingml/2006/main" noGrp="1"/>
          </p:cNvSpPr>
          <p:nvPr/>
        </p:nvSpPr>
        <p:spPr>
          <a:xfrm xmlns:a="http://schemas.openxmlformats.org/drawingml/2006/main">
            <a:off x="9620250" y="2957513"/>
            <a:ext cx="2095500" cy="76200"/>
          </a:xfrm>
          <a:prstGeom xmlns:a="http://schemas.openxmlformats.org/drawingml/2006/main" prst="rect">
            <a:avLst/>
          </a:prstGeom>
          <a:solidFill xmlns:a="http://schemas.openxmlformats.org/drawingml/2006/main">
            <a:srgbClr val="087FB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01CA49D-1346-4B7F-997C-3E5B773BD499}"/>
              </a:ext>
            </a:extLst>
          </p:cNvPr>
          <p:cNvSpPr>
            <a:spLocks xmlns:a="http://schemas.openxmlformats.org/drawingml/2006/main" noGrp="1"/>
          </p:cNvSpPr>
          <p:nvPr/>
        </p:nvSpPr>
        <p:spPr>
          <a:xfrm xmlns:a="http://schemas.openxmlformats.org/drawingml/2006/main">
            <a:off x="9810750" y="2309813"/>
            <a:ext cx="1952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087FBA"/>
                </a:solidFill>
                <a:latin typeface="Yu Gothic"/>
                <a:ea typeface="Yu Gothic"/>
                <a:cs typeface="Yu Gothic"/>
              </a:defRPr>
            </a:pPr>
            <a:r>
              <a:rPr sz="3000" b="1">
                <a:solidFill>
                  <a:srgbClr val="087FBA"/>
                </a:solidFill>
                <a:latin typeface="Yu Gothic"/>
                <a:ea typeface="Yu Gothic"/>
                <a:cs typeface="Yu Gothic"/>
              </a:rPr>
              <a:t>340円</a:t>
            </a:r>
          </a:p>
        </p:txBody>
      </p:sp>
      <p:sp>
        <p:nvSpPr>
          <p:cNvPr id="23" name="">
            <a:extLst xmlns:a="http://schemas.openxmlformats.org/drawingml/2006/main">
              <a:ext uri="{FF2B5EF4-FFF2-40B4-BE49-F238E27FC236}">
                <a16:creationId xmlns:a16="http://schemas.microsoft.com/office/drawing/2014/main" id="{BAC046EF-1476-40AA-8C35-09E9618A3A46}"/>
              </a:ext>
            </a:extLst>
          </p:cNvPr>
          <p:cNvSpPr>
            <a:spLocks xmlns:a="http://schemas.openxmlformats.org/drawingml/2006/main" noGrp="1"/>
          </p:cNvSpPr>
          <p:nvPr/>
        </p:nvSpPr>
        <p:spPr>
          <a:xfrm xmlns:a="http://schemas.openxmlformats.org/drawingml/2006/main">
            <a:off x="9715500" y="4762500"/>
            <a:ext cx="209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0">
                <a:solidFill>
                  <a:srgbClr val="17354A"/>
                </a:solidFill>
                <a:latin typeface="Yu Gothic"/>
                <a:ea typeface="Yu Gothic"/>
                <a:cs typeface="Yu Gothic"/>
              </a:defRPr>
            </a:pPr>
            <a:r>
              <a:rPr sz="2100" b="0">
                <a:solidFill>
                  <a:srgbClr val="17354A"/>
                </a:solidFill>
                <a:latin typeface="Yu Gothic"/>
                <a:ea typeface="Yu Gothic"/>
                <a:cs typeface="Yu Gothic"/>
              </a:rPr>
              <a:t>15 km超</a:t>
            </a:r>
          </a:p>
        </p:txBody>
      </p:sp>
      <p:sp>
        <p:nvSpPr>
          <p:cNvPr id="24" name="">
            <a:extLst xmlns:a="http://schemas.openxmlformats.org/drawingml/2006/main">
              <a:ext uri="{FF2B5EF4-FFF2-40B4-BE49-F238E27FC236}">
                <a16:creationId xmlns:a16="http://schemas.microsoft.com/office/drawing/2014/main" id="{E4BA40FC-A4FC-42B4-A15B-02543861CA36}"/>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同じ運賃区分なら、ODを誤っても徴収額は変わらない</a:t>
            </a:r>
          </a:p>
        </p:txBody>
      </p:sp>
    </p:spTree>
    <p:extLst>
      <p:ext uri="{BB962C8B-B14F-4D97-AF65-F5344CB8AC3E}">
        <p14:creationId xmlns:p14="http://schemas.microsoft.com/office/powerpoint/2010/main" val="184686326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DF342F9-07A4-4161-A561-967693125C8B}"/>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全対象路線で、検出率が高いほど平均回収率が高い</a:t>
            </a:r>
          </a:p>
        </p:txBody>
      </p:sp>
      <p:sp>
        <p:nvSpPr>
          <p:cNvPr id="2" name="">
            <a:extLst xmlns:a="http://schemas.openxmlformats.org/drawingml/2006/main">
              <a:ext uri="{FF2B5EF4-FFF2-40B4-BE49-F238E27FC236}">
                <a16:creationId xmlns:a16="http://schemas.microsoft.com/office/drawing/2014/main" id="{C8B9BFB1-8080-40D0-88BF-C8CA5EEC3C8D}"/>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948AEC7-0E9C-4742-98F5-FF50D04D7469}"/>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13</a:t>
            </a:r>
          </a:p>
        </p:txBody>
      </p:sp>
      <p:pic>
        <p:nvPicPr>
          <p:cNvPr id="26" name="">
            <a:extLst xmlns:a="http://schemas.openxmlformats.org/drawingml/2006/main">
              <a:ext uri="{FF2B5EF4-FFF2-40B4-BE49-F238E27FC236}">
                <a16:creationId xmlns:a16="http://schemas.microsoft.com/office/drawing/2014/main" id="{B5D1F303-3755-49C1-AB98-77D71862F1EB}"/>
              </a:ext>
            </a:extLst>
          </p:cNvPr>
          <p:cNvPicPr>
            <a:picLocks xmlns:a="http://schemas.openxmlformats.org/drawingml/2006/main" noChangeAspect="1"/>
          </p:cNvPicPr>
          <p:nvPr/>
        </p:nvPicPr>
        <p:blipFill>
          <a:blip xmlns:r="http://schemas.openxmlformats.org/officeDocument/2006/relationships" xmlns:a="http://schemas.openxmlformats.org/drawingml/2006/main" r:embed="R5d7aba8d886447c7"/>
          <a:stretch xmlns:a="http://schemas.openxmlformats.org/drawingml/2006/main"/>
        </p:blipFill>
        <p:spPr>
          <a:xfrm xmlns:a="http://schemas.openxmlformats.org/drawingml/2006/main">
            <a:off x="2389414" y="1352550"/>
            <a:ext cx="7413171" cy="4324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53B111B-0432-492A-8A3D-6A231248B32C}"/>
              </a:ext>
            </a:extLst>
          </p:cNvPr>
          <p:cNvSpPr>
            <a:spLocks xmlns:a="http://schemas.openxmlformats.org/drawingml/2006/main" noGrp="1"/>
          </p:cNvSpPr>
          <p:nvPr/>
        </p:nvSpPr>
        <p:spPr>
          <a:xfrm xmlns:a="http://schemas.openxmlformats.org/drawingml/2006/main">
            <a:off x="2333625" y="1724025"/>
            <a:ext cx="571500" cy="30956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7AE8087-77DF-44F4-A3C7-B434BED1562F}"/>
              </a:ext>
            </a:extLst>
          </p:cNvPr>
          <p:cNvSpPr>
            <a:spLocks xmlns:a="http://schemas.openxmlformats.org/drawingml/2006/main" noGrp="1"/>
          </p:cNvSpPr>
          <p:nvPr/>
        </p:nvSpPr>
        <p:spPr>
          <a:xfrm xmlns:a="http://schemas.openxmlformats.org/drawingml/2006/main">
            <a:off x="619125" y="2952750"/>
            <a:ext cx="185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00" b="1">
                <a:solidFill>
                  <a:srgbClr val="17354A"/>
                </a:solidFill>
                <a:latin typeface="Yu Gothic"/>
                <a:ea typeface="Yu Gothic"/>
                <a:cs typeface="Yu Gothic"/>
              </a:defRPr>
            </a:pPr>
            <a:r>
              <a:rPr sz="2100" b="1">
                <a:solidFill>
                  <a:srgbClr val="17354A"/>
                </a:solidFill>
                <a:latin typeface="Yu Gothic"/>
                <a:ea typeface="Yu Gothic"/>
                <a:cs typeface="Yu Gothic"/>
              </a:rPr>
              <a:t>運賃回収率</a:t>
            </a:r>
          </a:p>
          <a:p xmlns:a="http://schemas.openxmlformats.org/drawingml/2006/main">
            <a:pPr>
              <a:buNone/>
              <a:defRPr sz="2100" b="1">
                <a:solidFill>
                  <a:srgbClr val="17354A"/>
                </a:solidFill>
                <a:latin typeface="Yu Gothic"/>
                <a:ea typeface="Yu Gothic"/>
                <a:cs typeface="Yu Gothic"/>
              </a:defRPr>
            </a:pPr>
            <a:r>
              <a:rPr sz="2100" b="1">
                <a:solidFill>
                  <a:srgbClr val="17354A"/>
                </a:solidFill>
                <a:latin typeface="Yu Gothic"/>
                <a:ea typeface="Yu Gothic"/>
                <a:cs typeface="Yu Gothic"/>
              </a:rPr>
              <a:t>（%）</a:t>
            </a:r>
          </a:p>
        </p:txBody>
      </p:sp>
      <p:sp>
        <p:nvSpPr>
          <p:cNvPr id="7" name="">
            <a:extLst xmlns:a="http://schemas.openxmlformats.org/drawingml/2006/main">
              <a:ext uri="{FF2B5EF4-FFF2-40B4-BE49-F238E27FC236}">
                <a16:creationId xmlns:a16="http://schemas.microsoft.com/office/drawing/2014/main" id="{92F19A70-B77C-4B6C-9AA0-F11F5B90E485}"/>
              </a:ext>
            </a:extLst>
          </p:cNvPr>
          <p:cNvSpPr>
            <a:spLocks xmlns:a="http://schemas.openxmlformats.org/drawingml/2006/main" noGrp="1"/>
          </p:cNvSpPr>
          <p:nvPr/>
        </p:nvSpPr>
        <p:spPr>
          <a:xfrm xmlns:a="http://schemas.openxmlformats.org/drawingml/2006/main">
            <a:off x="2543175" y="1704975"/>
            <a:ext cx="619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7354A"/>
                </a:solidFill>
                <a:latin typeface="Yu Gothic"/>
                <a:ea typeface="Yu Gothic"/>
                <a:cs typeface="Yu Gothic"/>
              </a:defRPr>
            </a:pPr>
            <a:r>
              <a:rPr sz="1800" b="0">
                <a:solidFill>
                  <a:srgbClr val="17354A"/>
                </a:solidFill>
                <a:latin typeface="Yu Gothic"/>
                <a:ea typeface="Yu Gothic"/>
                <a:cs typeface="Yu Gothic"/>
              </a:rPr>
              <a:t>96</a:t>
            </a:r>
          </a:p>
        </p:txBody>
      </p:sp>
      <p:sp>
        <p:nvSpPr>
          <p:cNvPr id="8" name="">
            <a:extLst xmlns:a="http://schemas.openxmlformats.org/drawingml/2006/main">
              <a:ext uri="{FF2B5EF4-FFF2-40B4-BE49-F238E27FC236}">
                <a16:creationId xmlns:a16="http://schemas.microsoft.com/office/drawing/2014/main" id="{1019E73F-D966-48D2-BF45-BEF4AA98A32D}"/>
              </a:ext>
            </a:extLst>
          </p:cNvPr>
          <p:cNvSpPr>
            <a:spLocks xmlns:a="http://schemas.openxmlformats.org/drawingml/2006/main" noGrp="1"/>
          </p:cNvSpPr>
          <p:nvPr/>
        </p:nvSpPr>
        <p:spPr>
          <a:xfrm xmlns:a="http://schemas.openxmlformats.org/drawingml/2006/main">
            <a:off x="2543175" y="2171700"/>
            <a:ext cx="619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7354A"/>
                </a:solidFill>
                <a:latin typeface="Yu Gothic"/>
                <a:ea typeface="Yu Gothic"/>
                <a:cs typeface="Yu Gothic"/>
              </a:defRPr>
            </a:pPr>
            <a:r>
              <a:rPr sz="1800" b="0">
                <a:solidFill>
                  <a:srgbClr val="17354A"/>
                </a:solidFill>
                <a:latin typeface="Yu Gothic"/>
                <a:ea typeface="Yu Gothic"/>
                <a:cs typeface="Yu Gothic"/>
              </a:rPr>
              <a:t>95</a:t>
            </a:r>
          </a:p>
        </p:txBody>
      </p:sp>
      <p:sp>
        <p:nvSpPr>
          <p:cNvPr id="9" name="">
            <a:extLst xmlns:a="http://schemas.openxmlformats.org/drawingml/2006/main">
              <a:ext uri="{FF2B5EF4-FFF2-40B4-BE49-F238E27FC236}">
                <a16:creationId xmlns:a16="http://schemas.microsoft.com/office/drawing/2014/main" id="{A37A360E-3A22-4468-B739-8B8BDD13249F}"/>
              </a:ext>
            </a:extLst>
          </p:cNvPr>
          <p:cNvSpPr>
            <a:spLocks xmlns:a="http://schemas.openxmlformats.org/drawingml/2006/main" noGrp="1"/>
          </p:cNvSpPr>
          <p:nvPr/>
        </p:nvSpPr>
        <p:spPr>
          <a:xfrm xmlns:a="http://schemas.openxmlformats.org/drawingml/2006/main">
            <a:off x="2543175" y="2638425"/>
            <a:ext cx="619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7354A"/>
                </a:solidFill>
                <a:latin typeface="Yu Gothic"/>
                <a:ea typeface="Yu Gothic"/>
                <a:cs typeface="Yu Gothic"/>
              </a:defRPr>
            </a:pPr>
            <a:r>
              <a:rPr sz="1800" b="0">
                <a:solidFill>
                  <a:srgbClr val="17354A"/>
                </a:solidFill>
                <a:latin typeface="Yu Gothic"/>
                <a:ea typeface="Yu Gothic"/>
                <a:cs typeface="Yu Gothic"/>
              </a:rPr>
              <a:t>94</a:t>
            </a:r>
          </a:p>
        </p:txBody>
      </p:sp>
      <p:sp>
        <p:nvSpPr>
          <p:cNvPr id="10" name="">
            <a:extLst xmlns:a="http://schemas.openxmlformats.org/drawingml/2006/main">
              <a:ext uri="{FF2B5EF4-FFF2-40B4-BE49-F238E27FC236}">
                <a16:creationId xmlns:a16="http://schemas.microsoft.com/office/drawing/2014/main" id="{5C3696E1-8BA8-49D1-B3BC-E809A8C08FFF}"/>
              </a:ext>
            </a:extLst>
          </p:cNvPr>
          <p:cNvSpPr>
            <a:spLocks xmlns:a="http://schemas.openxmlformats.org/drawingml/2006/main" noGrp="1"/>
          </p:cNvSpPr>
          <p:nvPr/>
        </p:nvSpPr>
        <p:spPr>
          <a:xfrm xmlns:a="http://schemas.openxmlformats.org/drawingml/2006/main">
            <a:off x="2543175" y="3105150"/>
            <a:ext cx="619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7354A"/>
                </a:solidFill>
                <a:latin typeface="Yu Gothic"/>
                <a:ea typeface="Yu Gothic"/>
                <a:cs typeface="Yu Gothic"/>
              </a:defRPr>
            </a:pPr>
            <a:r>
              <a:rPr sz="1800" b="0">
                <a:solidFill>
                  <a:srgbClr val="17354A"/>
                </a:solidFill>
                <a:latin typeface="Yu Gothic"/>
                <a:ea typeface="Yu Gothic"/>
                <a:cs typeface="Yu Gothic"/>
              </a:rPr>
              <a:t>93</a:t>
            </a:r>
          </a:p>
        </p:txBody>
      </p:sp>
      <p:sp>
        <p:nvSpPr>
          <p:cNvPr id="11" name="">
            <a:extLst xmlns:a="http://schemas.openxmlformats.org/drawingml/2006/main">
              <a:ext uri="{FF2B5EF4-FFF2-40B4-BE49-F238E27FC236}">
                <a16:creationId xmlns:a16="http://schemas.microsoft.com/office/drawing/2014/main" id="{76A45A58-1D86-4B86-B662-A0A1A508C54E}"/>
              </a:ext>
            </a:extLst>
          </p:cNvPr>
          <p:cNvSpPr>
            <a:spLocks xmlns:a="http://schemas.openxmlformats.org/drawingml/2006/main" noGrp="1"/>
          </p:cNvSpPr>
          <p:nvPr/>
        </p:nvSpPr>
        <p:spPr>
          <a:xfrm xmlns:a="http://schemas.openxmlformats.org/drawingml/2006/main">
            <a:off x="2543175" y="3571875"/>
            <a:ext cx="619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7354A"/>
                </a:solidFill>
                <a:latin typeface="Yu Gothic"/>
                <a:ea typeface="Yu Gothic"/>
                <a:cs typeface="Yu Gothic"/>
              </a:defRPr>
            </a:pPr>
            <a:r>
              <a:rPr sz="1800" b="0">
                <a:solidFill>
                  <a:srgbClr val="17354A"/>
                </a:solidFill>
                <a:latin typeface="Yu Gothic"/>
                <a:ea typeface="Yu Gothic"/>
                <a:cs typeface="Yu Gothic"/>
              </a:rPr>
              <a:t>92</a:t>
            </a:r>
          </a:p>
        </p:txBody>
      </p:sp>
      <p:sp>
        <p:nvSpPr>
          <p:cNvPr id="12" name="">
            <a:extLst xmlns:a="http://schemas.openxmlformats.org/drawingml/2006/main">
              <a:ext uri="{FF2B5EF4-FFF2-40B4-BE49-F238E27FC236}">
                <a16:creationId xmlns:a16="http://schemas.microsoft.com/office/drawing/2014/main" id="{98EB8EBD-DD28-4541-8FA2-E3BC5EECAA09}"/>
              </a:ext>
            </a:extLst>
          </p:cNvPr>
          <p:cNvSpPr>
            <a:spLocks xmlns:a="http://schemas.openxmlformats.org/drawingml/2006/main" noGrp="1"/>
          </p:cNvSpPr>
          <p:nvPr/>
        </p:nvSpPr>
        <p:spPr>
          <a:xfrm xmlns:a="http://schemas.openxmlformats.org/drawingml/2006/main">
            <a:off x="2543175" y="4038600"/>
            <a:ext cx="619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7354A"/>
                </a:solidFill>
                <a:latin typeface="Yu Gothic"/>
                <a:ea typeface="Yu Gothic"/>
                <a:cs typeface="Yu Gothic"/>
              </a:defRPr>
            </a:pPr>
            <a:r>
              <a:rPr sz="1800" b="0">
                <a:solidFill>
                  <a:srgbClr val="17354A"/>
                </a:solidFill>
                <a:latin typeface="Yu Gothic"/>
                <a:ea typeface="Yu Gothic"/>
                <a:cs typeface="Yu Gothic"/>
              </a:rPr>
              <a:t>91</a:t>
            </a:r>
          </a:p>
        </p:txBody>
      </p:sp>
      <p:sp>
        <p:nvSpPr>
          <p:cNvPr id="13" name="">
            <a:extLst xmlns:a="http://schemas.openxmlformats.org/drawingml/2006/main">
              <a:ext uri="{FF2B5EF4-FFF2-40B4-BE49-F238E27FC236}">
                <a16:creationId xmlns:a16="http://schemas.microsoft.com/office/drawing/2014/main" id="{909132DC-4D5A-438D-9971-4E50A963149E}"/>
              </a:ext>
            </a:extLst>
          </p:cNvPr>
          <p:cNvSpPr>
            <a:spLocks xmlns:a="http://schemas.openxmlformats.org/drawingml/2006/main" noGrp="1"/>
          </p:cNvSpPr>
          <p:nvPr/>
        </p:nvSpPr>
        <p:spPr>
          <a:xfrm xmlns:a="http://schemas.openxmlformats.org/drawingml/2006/main">
            <a:off x="2543175" y="4505325"/>
            <a:ext cx="619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7354A"/>
                </a:solidFill>
                <a:latin typeface="Yu Gothic"/>
                <a:ea typeface="Yu Gothic"/>
                <a:cs typeface="Yu Gothic"/>
              </a:defRPr>
            </a:pPr>
            <a:r>
              <a:rPr sz="1800" b="0">
                <a:solidFill>
                  <a:srgbClr val="17354A"/>
                </a:solidFill>
                <a:latin typeface="Yu Gothic"/>
                <a:ea typeface="Yu Gothic"/>
                <a:cs typeface="Yu Gothic"/>
              </a:rPr>
              <a:t>90</a:t>
            </a:r>
          </a:p>
        </p:txBody>
      </p:sp>
      <p:sp>
        <p:nvSpPr>
          <p:cNvPr id="14" name="">
            <a:extLst xmlns:a="http://schemas.openxmlformats.org/drawingml/2006/main">
              <a:ext uri="{FF2B5EF4-FFF2-40B4-BE49-F238E27FC236}">
                <a16:creationId xmlns:a16="http://schemas.microsoft.com/office/drawing/2014/main" id="{2CDF6C91-9970-4AF4-8C73-6B2387F6E783}"/>
              </a:ext>
            </a:extLst>
          </p:cNvPr>
          <p:cNvSpPr>
            <a:spLocks xmlns:a="http://schemas.openxmlformats.org/drawingml/2006/main" noGrp="1"/>
          </p:cNvSpPr>
          <p:nvPr/>
        </p:nvSpPr>
        <p:spPr>
          <a:xfrm xmlns:a="http://schemas.openxmlformats.org/drawingml/2006/main">
            <a:off x="7943850" y="1352550"/>
            <a:ext cx="1847850" cy="9525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861B68F-95DD-4E99-912E-98FCE9638F84}"/>
              </a:ext>
            </a:extLst>
          </p:cNvPr>
          <p:cNvSpPr>
            <a:spLocks xmlns:a="http://schemas.openxmlformats.org/drawingml/2006/main" noGrp="1"/>
          </p:cNvSpPr>
          <p:nvPr/>
        </p:nvSpPr>
        <p:spPr>
          <a:xfrm xmlns:a="http://schemas.openxmlformats.org/drawingml/2006/main">
            <a:off x="7991475" y="1466850"/>
            <a:ext cx="228600" cy="152400"/>
          </a:xfrm>
          <a:prstGeom xmlns:a="http://schemas.openxmlformats.org/drawingml/2006/main" prst="rect">
            <a:avLst/>
          </a:prstGeom>
          <a:solidFill xmlns:a="http://schemas.openxmlformats.org/drawingml/2006/main">
            <a:srgbClr val="1F77B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1537D73-D956-42A1-8791-C4B1A6A30F56}"/>
              </a:ext>
            </a:extLst>
          </p:cNvPr>
          <p:cNvSpPr>
            <a:spLocks xmlns:a="http://schemas.openxmlformats.org/drawingml/2006/main" noGrp="1"/>
          </p:cNvSpPr>
          <p:nvPr/>
        </p:nvSpPr>
        <p:spPr>
          <a:xfrm xmlns:a="http://schemas.openxmlformats.org/drawingml/2006/main">
            <a:off x="8248650" y="135255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7354A"/>
                </a:solidFill>
                <a:latin typeface="Yu Gothic"/>
                <a:ea typeface="Yu Gothic"/>
                <a:cs typeface="Yu Gothic"/>
              </a:defRPr>
            </a:pPr>
            <a:r>
              <a:rPr sz="1800" b="0">
                <a:solidFill>
                  <a:srgbClr val="17354A"/>
                </a:solidFill>
                <a:latin typeface="Yu Gothic"/>
                <a:ea typeface="Yu Gothic"/>
                <a:cs typeface="Yu Gothic"/>
              </a:rPr>
              <a:t>検出率 0.65</a:t>
            </a:r>
          </a:p>
        </p:txBody>
      </p:sp>
      <p:sp>
        <p:nvSpPr>
          <p:cNvPr id="17" name="">
            <a:extLst xmlns:a="http://schemas.openxmlformats.org/drawingml/2006/main">
              <a:ext uri="{FF2B5EF4-FFF2-40B4-BE49-F238E27FC236}">
                <a16:creationId xmlns:a16="http://schemas.microsoft.com/office/drawing/2014/main" id="{922F2736-DF21-4E29-9970-F4B51FBA6102}"/>
              </a:ext>
            </a:extLst>
          </p:cNvPr>
          <p:cNvSpPr>
            <a:spLocks xmlns:a="http://schemas.openxmlformats.org/drawingml/2006/main" noGrp="1"/>
          </p:cNvSpPr>
          <p:nvPr/>
        </p:nvSpPr>
        <p:spPr>
          <a:xfrm xmlns:a="http://schemas.openxmlformats.org/drawingml/2006/main">
            <a:off x="7991475" y="1762125"/>
            <a:ext cx="228600" cy="152400"/>
          </a:xfrm>
          <a:prstGeom xmlns:a="http://schemas.openxmlformats.org/drawingml/2006/main" prst="rect">
            <a:avLst/>
          </a:prstGeom>
          <a:solidFill xmlns:a="http://schemas.openxmlformats.org/drawingml/2006/main">
            <a:srgbClr val="2CA02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8CD5E02-914A-4E8E-8EE1-1DD5F0C3D4E0}"/>
              </a:ext>
            </a:extLst>
          </p:cNvPr>
          <p:cNvSpPr>
            <a:spLocks xmlns:a="http://schemas.openxmlformats.org/drawingml/2006/main" noGrp="1"/>
          </p:cNvSpPr>
          <p:nvPr/>
        </p:nvSpPr>
        <p:spPr>
          <a:xfrm xmlns:a="http://schemas.openxmlformats.org/drawingml/2006/main">
            <a:off x="8248650" y="164782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7354A"/>
                </a:solidFill>
                <a:latin typeface="Yu Gothic"/>
                <a:ea typeface="Yu Gothic"/>
                <a:cs typeface="Yu Gothic"/>
              </a:defRPr>
            </a:pPr>
            <a:r>
              <a:rPr sz="1800" b="0">
                <a:solidFill>
                  <a:srgbClr val="17354A"/>
                </a:solidFill>
                <a:latin typeface="Yu Gothic"/>
                <a:ea typeface="Yu Gothic"/>
                <a:cs typeface="Yu Gothic"/>
              </a:rPr>
              <a:t>検出率 0.67</a:t>
            </a:r>
          </a:p>
        </p:txBody>
      </p:sp>
      <p:sp>
        <p:nvSpPr>
          <p:cNvPr id="19" name="">
            <a:extLst xmlns:a="http://schemas.openxmlformats.org/drawingml/2006/main">
              <a:ext uri="{FF2B5EF4-FFF2-40B4-BE49-F238E27FC236}">
                <a16:creationId xmlns:a16="http://schemas.microsoft.com/office/drawing/2014/main" id="{5D6B62D5-E954-4911-A6EF-728DAE1FD653}"/>
              </a:ext>
            </a:extLst>
          </p:cNvPr>
          <p:cNvSpPr>
            <a:spLocks xmlns:a="http://schemas.openxmlformats.org/drawingml/2006/main" noGrp="1"/>
          </p:cNvSpPr>
          <p:nvPr/>
        </p:nvSpPr>
        <p:spPr>
          <a:xfrm xmlns:a="http://schemas.openxmlformats.org/drawingml/2006/main">
            <a:off x="7991475" y="2057400"/>
            <a:ext cx="228600" cy="152400"/>
          </a:xfrm>
          <a:prstGeom xmlns:a="http://schemas.openxmlformats.org/drawingml/2006/main" prst="rect">
            <a:avLst/>
          </a:prstGeom>
          <a:solidFill xmlns:a="http://schemas.openxmlformats.org/drawingml/2006/main">
            <a:srgbClr val="FF7F0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439F525-93B0-413B-98C4-7486AD23C9A6}"/>
              </a:ext>
            </a:extLst>
          </p:cNvPr>
          <p:cNvSpPr>
            <a:spLocks xmlns:a="http://schemas.openxmlformats.org/drawingml/2006/main" noGrp="1"/>
          </p:cNvSpPr>
          <p:nvPr/>
        </p:nvSpPr>
        <p:spPr>
          <a:xfrm xmlns:a="http://schemas.openxmlformats.org/drawingml/2006/main">
            <a:off x="8248650" y="19431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00" b="0">
                <a:solidFill>
                  <a:srgbClr val="17354A"/>
                </a:solidFill>
                <a:latin typeface="Yu Gothic"/>
                <a:ea typeface="Yu Gothic"/>
                <a:cs typeface="Yu Gothic"/>
              </a:defRPr>
            </a:pPr>
            <a:r>
              <a:rPr sz="1800" b="0">
                <a:solidFill>
                  <a:srgbClr val="17354A"/>
                </a:solidFill>
                <a:latin typeface="Yu Gothic"/>
                <a:ea typeface="Yu Gothic"/>
                <a:cs typeface="Yu Gothic"/>
              </a:rPr>
              <a:t>検出率 0.70</a:t>
            </a:r>
          </a:p>
        </p:txBody>
      </p:sp>
      <p:sp>
        <p:nvSpPr>
          <p:cNvPr id="21" name="">
            <a:extLst xmlns:a="http://schemas.openxmlformats.org/drawingml/2006/main">
              <a:ext uri="{FF2B5EF4-FFF2-40B4-BE49-F238E27FC236}">
                <a16:creationId xmlns:a16="http://schemas.microsoft.com/office/drawing/2014/main" id="{AA2A3239-57BB-4130-936E-45AF58BF6FA1}"/>
              </a:ext>
            </a:extLst>
          </p:cNvPr>
          <p:cNvSpPr>
            <a:spLocks xmlns:a="http://schemas.openxmlformats.org/drawingml/2006/main" noGrp="1"/>
          </p:cNvSpPr>
          <p:nvPr/>
        </p:nvSpPr>
        <p:spPr>
          <a:xfrm xmlns:a="http://schemas.openxmlformats.org/drawingml/2006/main">
            <a:off x="666750" y="57340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17354A"/>
                </a:solidFill>
                <a:latin typeface="Yu Gothic"/>
                <a:ea typeface="Yu Gothic"/>
                <a:cs typeface="Yu Gothic"/>
              </a:defRPr>
            </a:pPr>
            <a:r>
              <a:rPr sz="1950" b="1">
                <a:solidFill>
                  <a:srgbClr val="17354A"/>
                </a:solidFill>
                <a:latin typeface="Yu Gothic"/>
                <a:ea typeface="Yu Gothic"/>
                <a:cs typeface="Yu Gothic"/>
              </a:rPr>
              <a:t>平均：300シードの回収率　　誤差棒：シード間の標準偏差</a:t>
            </a:r>
          </a:p>
        </p:txBody>
      </p:sp>
      <p:sp>
        <p:nvSpPr>
          <p:cNvPr id="22" name="">
            <a:extLst xmlns:a="http://schemas.openxmlformats.org/drawingml/2006/main">
              <a:ext uri="{FF2B5EF4-FFF2-40B4-BE49-F238E27FC236}">
                <a16:creationId xmlns:a16="http://schemas.microsoft.com/office/drawing/2014/main" id="{C235F5FA-3939-43DB-9B23-ADE4569FE2C4}"/>
              </a:ext>
            </a:extLst>
          </p:cNvPr>
          <p:cNvSpPr>
            <a:spLocks xmlns:a="http://schemas.openxmlformats.org/drawingml/2006/main" noGrp="1"/>
          </p:cNvSpPr>
          <p:nvPr/>
        </p:nvSpPr>
        <p:spPr>
          <a:xfrm xmlns:a="http://schemas.openxmlformats.org/drawingml/2006/main">
            <a:off x="666750" y="6219825"/>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575" b="0">
                <a:solidFill>
                  <a:srgbClr val="647987"/>
                </a:solidFill>
                <a:latin typeface="Yu Gothic"/>
                <a:ea typeface="Yu Gothic"/>
                <a:cs typeface="Yu Gothic"/>
              </a:defRPr>
            </a:pPr>
            <a:r>
              <a:rPr sz="1575" b="0">
                <a:solidFill>
                  <a:srgbClr val="647987"/>
                </a:solidFill>
                <a:latin typeface="Yu Gothic"/>
                <a:ea typeface="Yu Gothic"/>
                <a:cs typeface="Yu Gothic"/>
              </a:rPr>
              <a:t>出典：レジュメ 図1（縦軸は拡大表示）</a:t>
            </a:r>
          </a:p>
        </p:txBody>
      </p:sp>
    </p:spTree>
    <p:extLst>
      <p:ext uri="{BB962C8B-B14F-4D97-AF65-F5344CB8AC3E}">
        <p14:creationId xmlns:p14="http://schemas.microsoft.com/office/powerpoint/2010/main" val="19762845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03B0ADB-D2EB-4A2C-8AFF-733CB3792E24}"/>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回収率100%でも、個々の課金が正しいとは限らない</a:t>
            </a:r>
          </a:p>
        </p:txBody>
      </p:sp>
      <p:sp>
        <p:nvSpPr>
          <p:cNvPr id="2" name="">
            <a:extLst xmlns:a="http://schemas.openxmlformats.org/drawingml/2006/main">
              <a:ext uri="{FF2B5EF4-FFF2-40B4-BE49-F238E27FC236}">
                <a16:creationId xmlns:a16="http://schemas.microsoft.com/office/drawing/2014/main" id="{1AD52DCD-AF13-4D47-9899-19EAF42FA749}"/>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39C28E-9AA9-4A17-AB77-750BD60045AA}"/>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14</a:t>
            </a:r>
          </a:p>
        </p:txBody>
      </p:sp>
      <p:sp>
        <p:nvSpPr>
          <p:cNvPr id="4" name="">
            <a:extLst xmlns:a="http://schemas.openxmlformats.org/drawingml/2006/main">
              <a:ext uri="{FF2B5EF4-FFF2-40B4-BE49-F238E27FC236}">
                <a16:creationId xmlns:a16="http://schemas.microsoft.com/office/drawing/2014/main" id="{6621116E-247B-4836-80A5-DFB25832A77B}"/>
              </a:ext>
            </a:extLst>
          </p:cNvPr>
          <p:cNvSpPr>
            <a:spLocks xmlns:a="http://schemas.openxmlformats.org/drawingml/2006/main" noGrp="1"/>
          </p:cNvSpPr>
          <p:nvPr/>
        </p:nvSpPr>
        <p:spPr>
          <a:xfrm xmlns:a="http://schemas.openxmlformats.org/drawingml/2006/main">
            <a:off x="571500" y="14763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0">
                <a:solidFill>
                  <a:srgbClr val="17354A"/>
                </a:solidFill>
                <a:latin typeface="Yu Gothic"/>
                <a:ea typeface="Yu Gothic"/>
                <a:cs typeface="Yu Gothic"/>
              </a:defRPr>
            </a:pPr>
            <a:r>
              <a:rPr sz="2400" b="0">
                <a:solidFill>
                  <a:srgbClr val="17354A"/>
                </a:solidFill>
                <a:latin typeface="Yu Gothic"/>
                <a:ea typeface="Yu Gothic"/>
                <a:cs typeface="Yu Gothic"/>
              </a:rPr>
              <a:t>説明例：2人とも本来の運賃は240円</a:t>
            </a:r>
          </a:p>
        </p:txBody>
      </p:sp>
      <p:sp>
        <p:nvSpPr>
          <p:cNvPr id="5" name="">
            <a:extLst xmlns:a="http://schemas.openxmlformats.org/drawingml/2006/main">
              <a:ext uri="{FF2B5EF4-FFF2-40B4-BE49-F238E27FC236}">
                <a16:creationId xmlns:a16="http://schemas.microsoft.com/office/drawing/2014/main" id="{2FE983CF-CB6B-40DE-A7E9-49E7715A579E}"/>
              </a:ext>
            </a:extLst>
          </p:cNvPr>
          <p:cNvSpPr>
            <a:spLocks xmlns:a="http://schemas.openxmlformats.org/drawingml/2006/main" noGrp="1"/>
          </p:cNvSpPr>
          <p:nvPr/>
        </p:nvSpPr>
        <p:spPr>
          <a:xfrm xmlns:a="http://schemas.openxmlformats.org/drawingml/2006/main">
            <a:off x="857250" y="257175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75" b="1">
                <a:solidFill>
                  <a:srgbClr val="17354A"/>
                </a:solidFill>
                <a:latin typeface="Yu Gothic"/>
                <a:ea typeface="Yu Gothic"/>
                <a:cs typeface="Yu Gothic"/>
              </a:defRPr>
            </a:pPr>
            <a:r>
              <a:rPr sz="2475" b="1">
                <a:solidFill>
                  <a:srgbClr val="17354A"/>
                </a:solidFill>
                <a:latin typeface="Yu Gothic"/>
                <a:ea typeface="Yu Gothic"/>
                <a:cs typeface="Yu Gothic"/>
              </a:rPr>
              <a:t>利用者A</a:t>
            </a:r>
          </a:p>
        </p:txBody>
      </p:sp>
      <p:sp>
        <p:nvSpPr>
          <p:cNvPr id="6" name="">
            <a:extLst xmlns:a="http://schemas.openxmlformats.org/drawingml/2006/main">
              <a:ext uri="{FF2B5EF4-FFF2-40B4-BE49-F238E27FC236}">
                <a16:creationId xmlns:a16="http://schemas.microsoft.com/office/drawing/2014/main" id="{54F9F5C4-9AEC-49D0-894D-FCC4B8B6D957}"/>
              </a:ext>
            </a:extLst>
          </p:cNvPr>
          <p:cNvSpPr>
            <a:spLocks xmlns:a="http://schemas.openxmlformats.org/drawingml/2006/main" noGrp="1"/>
          </p:cNvSpPr>
          <p:nvPr/>
        </p:nvSpPr>
        <p:spPr>
          <a:xfrm xmlns:a="http://schemas.openxmlformats.org/drawingml/2006/main">
            <a:off x="6953250" y="257175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75" b="1">
                <a:solidFill>
                  <a:srgbClr val="17354A"/>
                </a:solidFill>
                <a:latin typeface="Yu Gothic"/>
                <a:ea typeface="Yu Gothic"/>
                <a:cs typeface="Yu Gothic"/>
              </a:defRPr>
            </a:pPr>
            <a:r>
              <a:rPr sz="2475" b="1">
                <a:solidFill>
                  <a:srgbClr val="17354A"/>
                </a:solidFill>
                <a:latin typeface="Yu Gothic"/>
                <a:ea typeface="Yu Gothic"/>
                <a:cs typeface="Yu Gothic"/>
              </a:rPr>
              <a:t>利用者B</a:t>
            </a:r>
          </a:p>
        </p:txBody>
      </p:sp>
      <p:sp>
        <p:nvSpPr>
          <p:cNvPr id="7" name="">
            <a:extLst xmlns:a="http://schemas.openxmlformats.org/drawingml/2006/main">
              <a:ext uri="{FF2B5EF4-FFF2-40B4-BE49-F238E27FC236}">
                <a16:creationId xmlns:a16="http://schemas.microsoft.com/office/drawing/2014/main" id="{771AFCA0-B9CA-41A8-9AC1-F4199C494381}"/>
              </a:ext>
            </a:extLst>
          </p:cNvPr>
          <p:cNvSpPr>
            <a:spLocks xmlns:a="http://schemas.openxmlformats.org/drawingml/2006/main" noGrp="1"/>
          </p:cNvSpPr>
          <p:nvPr/>
        </p:nvSpPr>
        <p:spPr>
          <a:xfrm xmlns:a="http://schemas.openxmlformats.org/drawingml/2006/main">
            <a:off x="857250" y="331470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75" b="1">
                <a:solidFill>
                  <a:srgbClr val="087FBA"/>
                </a:solidFill>
                <a:latin typeface="Yu Gothic"/>
                <a:ea typeface="Yu Gothic"/>
                <a:cs typeface="Yu Gothic"/>
              </a:defRPr>
            </a:pPr>
            <a:r>
              <a:rPr sz="3375" b="1">
                <a:solidFill>
                  <a:srgbClr val="087FBA"/>
                </a:solidFill>
                <a:latin typeface="Yu Gothic"/>
                <a:ea typeface="Yu Gothic"/>
                <a:cs typeface="Yu Gothic"/>
              </a:rPr>
              <a:t>210円を徴収</a:t>
            </a:r>
          </a:p>
        </p:txBody>
      </p:sp>
      <p:sp>
        <p:nvSpPr>
          <p:cNvPr id="8" name="">
            <a:extLst xmlns:a="http://schemas.openxmlformats.org/drawingml/2006/main">
              <a:ext uri="{FF2B5EF4-FFF2-40B4-BE49-F238E27FC236}">
                <a16:creationId xmlns:a16="http://schemas.microsoft.com/office/drawing/2014/main" id="{E7F1EC58-42BB-4555-9791-70572F928767}"/>
              </a:ext>
            </a:extLst>
          </p:cNvPr>
          <p:cNvSpPr>
            <a:spLocks xmlns:a="http://schemas.openxmlformats.org/drawingml/2006/main" noGrp="1"/>
          </p:cNvSpPr>
          <p:nvPr/>
        </p:nvSpPr>
        <p:spPr>
          <a:xfrm xmlns:a="http://schemas.openxmlformats.org/drawingml/2006/main">
            <a:off x="6953250" y="331470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375" b="1">
                <a:solidFill>
                  <a:srgbClr val="D77824"/>
                </a:solidFill>
                <a:latin typeface="Yu Gothic"/>
                <a:ea typeface="Yu Gothic"/>
                <a:cs typeface="Yu Gothic"/>
              </a:defRPr>
            </a:pPr>
            <a:r>
              <a:rPr sz="3375" b="1">
                <a:solidFill>
                  <a:srgbClr val="D77824"/>
                </a:solidFill>
                <a:latin typeface="Yu Gothic"/>
                <a:ea typeface="Yu Gothic"/>
                <a:cs typeface="Yu Gothic"/>
              </a:rPr>
              <a:t>270円を徴収</a:t>
            </a:r>
          </a:p>
        </p:txBody>
      </p:sp>
      <p:sp>
        <p:nvSpPr>
          <p:cNvPr id="9" name="">
            <a:extLst xmlns:a="http://schemas.openxmlformats.org/drawingml/2006/main">
              <a:ext uri="{FF2B5EF4-FFF2-40B4-BE49-F238E27FC236}">
                <a16:creationId xmlns:a16="http://schemas.microsoft.com/office/drawing/2014/main" id="{D09152BD-CFE8-4212-A850-538316C206A4}"/>
              </a:ext>
            </a:extLst>
          </p:cNvPr>
          <p:cNvSpPr>
            <a:spLocks xmlns:a="http://schemas.openxmlformats.org/drawingml/2006/main" noGrp="1"/>
          </p:cNvSpPr>
          <p:nvPr/>
        </p:nvSpPr>
        <p:spPr>
          <a:xfrm xmlns:a="http://schemas.openxmlformats.org/drawingml/2006/main">
            <a:off x="857250" y="409575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0">
                <a:solidFill>
                  <a:srgbClr val="087FBA"/>
                </a:solidFill>
                <a:latin typeface="Yu Gothic"/>
                <a:ea typeface="Yu Gothic"/>
                <a:cs typeface="Yu Gothic"/>
              </a:defRPr>
            </a:pPr>
            <a:r>
              <a:rPr sz="2400" b="0">
                <a:solidFill>
                  <a:srgbClr val="087FBA"/>
                </a:solidFill>
                <a:latin typeface="Yu Gothic"/>
                <a:ea typeface="Yu Gothic"/>
                <a:cs typeface="Yu Gothic"/>
              </a:rPr>
              <a:t>30円の過小徴収</a:t>
            </a:r>
          </a:p>
        </p:txBody>
      </p:sp>
      <p:sp>
        <p:nvSpPr>
          <p:cNvPr id="10" name="">
            <a:extLst xmlns:a="http://schemas.openxmlformats.org/drawingml/2006/main">
              <a:ext uri="{FF2B5EF4-FFF2-40B4-BE49-F238E27FC236}">
                <a16:creationId xmlns:a16="http://schemas.microsoft.com/office/drawing/2014/main" id="{63A7A019-98ED-4C22-ACB3-02FF35144B35}"/>
              </a:ext>
            </a:extLst>
          </p:cNvPr>
          <p:cNvSpPr>
            <a:spLocks xmlns:a="http://schemas.openxmlformats.org/drawingml/2006/main" noGrp="1"/>
          </p:cNvSpPr>
          <p:nvPr/>
        </p:nvSpPr>
        <p:spPr>
          <a:xfrm xmlns:a="http://schemas.openxmlformats.org/drawingml/2006/main">
            <a:off x="6953250" y="409575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0">
                <a:solidFill>
                  <a:srgbClr val="D77824"/>
                </a:solidFill>
                <a:latin typeface="Yu Gothic"/>
                <a:ea typeface="Yu Gothic"/>
                <a:cs typeface="Yu Gothic"/>
              </a:defRPr>
            </a:pPr>
            <a:r>
              <a:rPr sz="2400" b="0">
                <a:solidFill>
                  <a:srgbClr val="D77824"/>
                </a:solidFill>
                <a:latin typeface="Yu Gothic"/>
                <a:ea typeface="Yu Gothic"/>
                <a:cs typeface="Yu Gothic"/>
              </a:rPr>
              <a:t>30円の過大徴収</a:t>
            </a:r>
          </a:p>
        </p:txBody>
      </p:sp>
      <p:sp>
        <p:nvSpPr>
          <p:cNvPr id="11" name="">
            <a:extLst xmlns:a="http://schemas.openxmlformats.org/drawingml/2006/main">
              <a:ext uri="{FF2B5EF4-FFF2-40B4-BE49-F238E27FC236}">
                <a16:creationId xmlns:a16="http://schemas.microsoft.com/office/drawing/2014/main" id="{EE8139E9-B4D7-40CF-BB37-1DAF08182DE5}"/>
              </a:ext>
            </a:extLst>
          </p:cNvPr>
          <p:cNvSpPr>
            <a:spLocks xmlns:a="http://schemas.openxmlformats.org/drawingml/2006/main" noGrp="1"/>
          </p:cNvSpPr>
          <p:nvPr/>
        </p:nvSpPr>
        <p:spPr>
          <a:xfrm xmlns:a="http://schemas.openxmlformats.org/drawingml/2006/main">
            <a:off x="1000125" y="50101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(210 + 270) ÷ (240 + 240) = 100%</a:t>
            </a:r>
          </a:p>
        </p:txBody>
      </p:sp>
      <p:sp>
        <p:nvSpPr>
          <p:cNvPr id="12" name="">
            <a:extLst xmlns:a="http://schemas.openxmlformats.org/drawingml/2006/main">
              <a:ext uri="{FF2B5EF4-FFF2-40B4-BE49-F238E27FC236}">
                <a16:creationId xmlns:a16="http://schemas.microsoft.com/office/drawing/2014/main" id="{559307D6-C398-40DD-9BD3-009F8B2E012A}"/>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全体の回収率と、OD推定・個別課金の正確さは分けて評価する</a:t>
            </a:r>
          </a:p>
        </p:txBody>
      </p:sp>
    </p:spTree>
    <p:extLst>
      <p:ext uri="{BB962C8B-B14F-4D97-AF65-F5344CB8AC3E}">
        <p14:creationId xmlns:p14="http://schemas.microsoft.com/office/powerpoint/2010/main" val="19766699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020FFA2-BAFD-4AD3-96D2-DB36E4194A7E}"/>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今回の結果が成り立つ条件と限界</a:t>
            </a:r>
          </a:p>
        </p:txBody>
      </p:sp>
      <p:sp>
        <p:nvSpPr>
          <p:cNvPr id="2" name="">
            <a:extLst xmlns:a="http://schemas.openxmlformats.org/drawingml/2006/main">
              <a:ext uri="{FF2B5EF4-FFF2-40B4-BE49-F238E27FC236}">
                <a16:creationId xmlns:a16="http://schemas.microsoft.com/office/drawing/2014/main" id="{3DB5A0C6-E087-4C55-BD5A-FF2CFC8B5127}"/>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1016049-D4F5-4DAE-978B-D40A95917773}"/>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15</a:t>
            </a:r>
          </a:p>
        </p:txBody>
      </p:sp>
      <p:sp>
        <p:nvSpPr>
          <p:cNvPr id="4" name="">
            <a:extLst xmlns:a="http://schemas.openxmlformats.org/drawingml/2006/main">
              <a:ext uri="{FF2B5EF4-FFF2-40B4-BE49-F238E27FC236}">
                <a16:creationId xmlns:a16="http://schemas.microsoft.com/office/drawing/2014/main" id="{F21EA6D8-D250-4E2F-A42D-CEE95FB64841}"/>
              </a:ext>
            </a:extLst>
          </p:cNvPr>
          <p:cNvSpPr>
            <a:spLocks xmlns:a="http://schemas.openxmlformats.org/drawingml/2006/main" noGrp="1"/>
          </p:cNvSpPr>
          <p:nvPr/>
        </p:nvSpPr>
        <p:spPr>
          <a:xfrm xmlns:a="http://schemas.openxmlformats.org/drawingml/2006/main">
            <a:off x="571500" y="15525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550" b="1">
                <a:solidFill>
                  <a:srgbClr val="087FBA"/>
                </a:solidFill>
                <a:latin typeface="Yu Gothic"/>
                <a:ea typeface="Yu Gothic"/>
                <a:cs typeface="Yu Gothic"/>
              </a:defRPr>
            </a:pPr>
            <a:r>
              <a:rPr sz="2550" b="1">
                <a:solidFill>
                  <a:srgbClr val="087FBA"/>
                </a:solidFill>
                <a:latin typeface="Yu Gothic"/>
                <a:ea typeface="Yu Gothic"/>
                <a:cs typeface="Yu Gothic"/>
              </a:rPr>
              <a:t>モデルに置いた条件</a:t>
            </a:r>
          </a:p>
        </p:txBody>
      </p:sp>
      <p:sp>
        <p:nvSpPr>
          <p:cNvPr id="5" name="">
            <a:extLst xmlns:a="http://schemas.openxmlformats.org/drawingml/2006/main">
              <a:ext uri="{FF2B5EF4-FFF2-40B4-BE49-F238E27FC236}">
                <a16:creationId xmlns:a16="http://schemas.microsoft.com/office/drawing/2014/main" id="{362B2CBE-5680-45BD-91E7-E4EB6B13EBD6}"/>
              </a:ext>
            </a:extLst>
          </p:cNvPr>
          <p:cNvSpPr>
            <a:spLocks xmlns:a="http://schemas.openxmlformats.org/drawingml/2006/main" noGrp="1"/>
          </p:cNvSpPr>
          <p:nvPr/>
        </p:nvSpPr>
        <p:spPr>
          <a:xfrm xmlns:a="http://schemas.openxmlformats.org/drawingml/2006/main">
            <a:off x="6762750" y="15525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550" b="1">
                <a:solidFill>
                  <a:srgbClr val="D77824"/>
                </a:solidFill>
                <a:latin typeface="Yu Gothic"/>
                <a:ea typeface="Yu Gothic"/>
                <a:cs typeface="Yu Gothic"/>
              </a:defRPr>
            </a:pPr>
            <a:r>
              <a:rPr sz="2550" b="1">
                <a:solidFill>
                  <a:srgbClr val="D77824"/>
                </a:solidFill>
                <a:latin typeface="Yu Gothic"/>
                <a:ea typeface="Yu Gothic"/>
                <a:cs typeface="Yu Gothic"/>
              </a:rPr>
              <a:t>今後、確かめること</a:t>
            </a:r>
          </a:p>
        </p:txBody>
      </p:sp>
      <p:sp>
        <p:nvSpPr>
          <p:cNvPr id="6" name="">
            <a:extLst xmlns:a="http://schemas.openxmlformats.org/drawingml/2006/main">
              <a:ext uri="{FF2B5EF4-FFF2-40B4-BE49-F238E27FC236}">
                <a16:creationId xmlns:a16="http://schemas.microsoft.com/office/drawing/2014/main" id="{06A90538-3BF4-4A62-ADA5-70CB6C8525EC}"/>
              </a:ext>
            </a:extLst>
          </p:cNvPr>
          <p:cNvSpPr>
            <a:spLocks xmlns:a="http://schemas.openxmlformats.org/drawingml/2006/main" noGrp="1"/>
          </p:cNvSpPr>
          <p:nvPr/>
        </p:nvSpPr>
        <p:spPr>
          <a:xfrm xmlns:a="http://schemas.openxmlformats.org/drawingml/2006/main">
            <a:off x="619125" y="2409825"/>
            <a:ext cx="5476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17354A"/>
                </a:solidFill>
                <a:latin typeface="Yu Gothic"/>
                <a:ea typeface="Yu Gothic"/>
                <a:cs typeface="Yu Gothic"/>
              </a:defRPr>
            </a:pPr>
            <a:r>
              <a:rPr sz="2175" b="0">
                <a:solidFill>
                  <a:srgbClr val="17354A"/>
                </a:solidFill>
                <a:latin typeface="Yu Gothic"/>
                <a:ea typeface="Yu Gothic"/>
                <a:cs typeface="Yu Gothic"/>
              </a:rPr>
              <a:t>生成と推定に同じOD分布</a:t>
            </a:r>
          </a:p>
        </p:txBody>
      </p:sp>
      <p:sp>
        <p:nvSpPr>
          <p:cNvPr id="7" name="">
            <a:extLst xmlns:a="http://schemas.openxmlformats.org/drawingml/2006/main">
              <a:ext uri="{FF2B5EF4-FFF2-40B4-BE49-F238E27FC236}">
                <a16:creationId xmlns:a16="http://schemas.microsoft.com/office/drawing/2014/main" id="{F0754C08-14CD-4032-8B2B-334B43D4CC6F}"/>
              </a:ext>
            </a:extLst>
          </p:cNvPr>
          <p:cNvSpPr>
            <a:spLocks xmlns:a="http://schemas.openxmlformats.org/drawingml/2006/main" noGrp="1"/>
          </p:cNvSpPr>
          <p:nvPr/>
        </p:nvSpPr>
        <p:spPr>
          <a:xfrm xmlns:a="http://schemas.openxmlformats.org/drawingml/2006/main">
            <a:off x="6096000" y="2533650"/>
            <a:ext cx="428625"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6AA793F-E5B2-416F-BB33-9472775096C3}"/>
              </a:ext>
            </a:extLst>
          </p:cNvPr>
          <p:cNvSpPr>
            <a:spLocks xmlns:a="http://schemas.openxmlformats.org/drawingml/2006/main" noGrp="1"/>
          </p:cNvSpPr>
          <p:nvPr/>
        </p:nvSpPr>
        <p:spPr>
          <a:xfrm xmlns:a="http://schemas.openxmlformats.org/drawingml/2006/main">
            <a:off x="6810375" y="240982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17354A"/>
                </a:solidFill>
                <a:latin typeface="Yu Gothic"/>
                <a:ea typeface="Yu Gothic"/>
                <a:cs typeface="Yu Gothic"/>
              </a:defRPr>
            </a:pPr>
            <a:r>
              <a:rPr sz="2175" b="0">
                <a:solidFill>
                  <a:srgbClr val="17354A"/>
                </a:solidFill>
                <a:latin typeface="Yu Gothic"/>
                <a:ea typeface="Yu Gothic"/>
                <a:cs typeface="Yu Gothic"/>
              </a:rPr>
              <a:t>OD分布が変わった場合</a:t>
            </a:r>
          </a:p>
        </p:txBody>
      </p:sp>
      <p:sp>
        <p:nvSpPr>
          <p:cNvPr id="9" name="">
            <a:extLst xmlns:a="http://schemas.openxmlformats.org/drawingml/2006/main">
              <a:ext uri="{FF2B5EF4-FFF2-40B4-BE49-F238E27FC236}">
                <a16:creationId xmlns:a16="http://schemas.microsoft.com/office/drawing/2014/main" id="{5F166B96-E4EF-46DF-965F-AC796F3AF8C9}"/>
              </a:ext>
            </a:extLst>
          </p:cNvPr>
          <p:cNvSpPr>
            <a:spLocks xmlns:a="http://schemas.openxmlformats.org/drawingml/2006/main" noGrp="1"/>
          </p:cNvSpPr>
          <p:nvPr/>
        </p:nvSpPr>
        <p:spPr>
          <a:xfrm xmlns:a="http://schemas.openxmlformats.org/drawingml/2006/main">
            <a:off x="619125" y="3143250"/>
            <a:ext cx="5476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17354A"/>
                </a:solidFill>
                <a:latin typeface="Yu Gothic"/>
                <a:ea typeface="Yu Gothic"/>
                <a:cs typeface="Yu Gothic"/>
              </a:defRPr>
            </a:pPr>
            <a:r>
              <a:rPr sz="2175" b="0">
                <a:solidFill>
                  <a:srgbClr val="17354A"/>
                </a:solidFill>
                <a:latin typeface="Yu Gothic"/>
                <a:ea typeface="Yu Gothic"/>
                <a:cs typeface="Yu Gothic"/>
              </a:rPr>
              <a:t>各リンクで独立・一定の検出率</a:t>
            </a:r>
          </a:p>
        </p:txBody>
      </p:sp>
      <p:sp>
        <p:nvSpPr>
          <p:cNvPr id="10" name="">
            <a:extLst xmlns:a="http://schemas.openxmlformats.org/drawingml/2006/main">
              <a:ext uri="{FF2B5EF4-FFF2-40B4-BE49-F238E27FC236}">
                <a16:creationId xmlns:a16="http://schemas.microsoft.com/office/drawing/2014/main" id="{67F0769D-76DB-4D75-AB3A-F8AC321CA470}"/>
              </a:ext>
            </a:extLst>
          </p:cNvPr>
          <p:cNvSpPr>
            <a:spLocks xmlns:a="http://schemas.openxmlformats.org/drawingml/2006/main" noGrp="1"/>
          </p:cNvSpPr>
          <p:nvPr/>
        </p:nvSpPr>
        <p:spPr>
          <a:xfrm xmlns:a="http://schemas.openxmlformats.org/drawingml/2006/main">
            <a:off x="6096000" y="3267075"/>
            <a:ext cx="428625"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AD099CB-18BB-4E4F-8B08-9A9298C1F990}"/>
              </a:ext>
            </a:extLst>
          </p:cNvPr>
          <p:cNvSpPr>
            <a:spLocks xmlns:a="http://schemas.openxmlformats.org/drawingml/2006/main" noGrp="1"/>
          </p:cNvSpPr>
          <p:nvPr/>
        </p:nvSpPr>
        <p:spPr>
          <a:xfrm xmlns:a="http://schemas.openxmlformats.org/drawingml/2006/main">
            <a:off x="6810375" y="3143250"/>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17354A"/>
                </a:solidFill>
                <a:latin typeface="Yu Gothic"/>
                <a:ea typeface="Yu Gothic"/>
                <a:cs typeface="Yu Gothic"/>
              </a:defRPr>
            </a:pPr>
            <a:r>
              <a:rPr sz="2175" b="0">
                <a:solidFill>
                  <a:srgbClr val="17354A"/>
                </a:solidFill>
                <a:latin typeface="Yu Gothic"/>
                <a:ea typeface="Yu Gothic"/>
                <a:cs typeface="Yu Gothic"/>
              </a:rPr>
              <a:t>混雑やリンク間依存の影響</a:t>
            </a:r>
          </a:p>
        </p:txBody>
      </p:sp>
      <p:sp>
        <p:nvSpPr>
          <p:cNvPr id="12" name="">
            <a:extLst xmlns:a="http://schemas.openxmlformats.org/drawingml/2006/main">
              <a:ext uri="{FF2B5EF4-FFF2-40B4-BE49-F238E27FC236}">
                <a16:creationId xmlns:a16="http://schemas.microsoft.com/office/drawing/2014/main" id="{473A5A73-A509-43DB-B434-A8CC56895335}"/>
              </a:ext>
            </a:extLst>
          </p:cNvPr>
          <p:cNvSpPr>
            <a:spLocks xmlns:a="http://schemas.openxmlformats.org/drawingml/2006/main" noGrp="1"/>
          </p:cNvSpPr>
          <p:nvPr/>
        </p:nvSpPr>
        <p:spPr>
          <a:xfrm xmlns:a="http://schemas.openxmlformats.org/drawingml/2006/main">
            <a:off x="619125" y="3876675"/>
            <a:ext cx="5476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17354A"/>
                </a:solidFill>
                <a:latin typeface="Yu Gothic"/>
                <a:ea typeface="Yu Gothic"/>
                <a:cs typeface="Yu Gothic"/>
              </a:defRPr>
            </a:pPr>
            <a:r>
              <a:rPr sz="2175" b="0">
                <a:solidFill>
                  <a:srgbClr val="17354A"/>
                </a:solidFill>
                <a:latin typeface="Yu Gothic"/>
                <a:ea typeface="Yu Gothic"/>
                <a:cs typeface="Yu Gothic"/>
              </a:rPr>
              <a:t>生成側の誤検出は0</a:t>
            </a:r>
          </a:p>
        </p:txBody>
      </p:sp>
      <p:sp>
        <p:nvSpPr>
          <p:cNvPr id="13" name="">
            <a:extLst xmlns:a="http://schemas.openxmlformats.org/drawingml/2006/main">
              <a:ext uri="{FF2B5EF4-FFF2-40B4-BE49-F238E27FC236}">
                <a16:creationId xmlns:a16="http://schemas.microsoft.com/office/drawing/2014/main" id="{80D590B4-ED20-4C42-90CD-546AB5113691}"/>
              </a:ext>
            </a:extLst>
          </p:cNvPr>
          <p:cNvSpPr>
            <a:spLocks xmlns:a="http://schemas.openxmlformats.org/drawingml/2006/main" noGrp="1"/>
          </p:cNvSpPr>
          <p:nvPr/>
        </p:nvSpPr>
        <p:spPr>
          <a:xfrm xmlns:a="http://schemas.openxmlformats.org/drawingml/2006/main">
            <a:off x="6096000" y="4000500"/>
            <a:ext cx="428625"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2D5E3CE-3600-46F9-BC8A-D79A1EADC2A6}"/>
              </a:ext>
            </a:extLst>
          </p:cNvPr>
          <p:cNvSpPr>
            <a:spLocks xmlns:a="http://schemas.openxmlformats.org/drawingml/2006/main" noGrp="1"/>
          </p:cNvSpPr>
          <p:nvPr/>
        </p:nvSpPr>
        <p:spPr>
          <a:xfrm xmlns:a="http://schemas.openxmlformats.org/drawingml/2006/main">
            <a:off x="6810375" y="3876675"/>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17354A"/>
                </a:solidFill>
                <a:latin typeface="Yu Gothic"/>
                <a:ea typeface="Yu Gothic"/>
                <a:cs typeface="Yu Gothic"/>
              </a:defRPr>
            </a:pPr>
            <a:r>
              <a:rPr sz="2175" b="0">
                <a:solidFill>
                  <a:srgbClr val="17354A"/>
                </a:solidFill>
                <a:latin typeface="Yu Gothic"/>
                <a:ea typeface="Yu Gothic"/>
                <a:cs typeface="Yu Gothic"/>
              </a:rPr>
              <a:t>誤検出がある場合の頑健性</a:t>
            </a:r>
          </a:p>
        </p:txBody>
      </p:sp>
      <p:sp>
        <p:nvSpPr>
          <p:cNvPr id="15" name="">
            <a:extLst xmlns:a="http://schemas.openxmlformats.org/drawingml/2006/main">
              <a:ext uri="{FF2B5EF4-FFF2-40B4-BE49-F238E27FC236}">
                <a16:creationId xmlns:a16="http://schemas.microsoft.com/office/drawing/2014/main" id="{CE5E13D8-982C-48E9-B397-07C4A63BFD36}"/>
              </a:ext>
            </a:extLst>
          </p:cNvPr>
          <p:cNvSpPr>
            <a:spLocks xmlns:a="http://schemas.openxmlformats.org/drawingml/2006/main" noGrp="1"/>
          </p:cNvSpPr>
          <p:nvPr/>
        </p:nvSpPr>
        <p:spPr>
          <a:xfrm xmlns:a="http://schemas.openxmlformats.org/drawingml/2006/main">
            <a:off x="619125" y="4610100"/>
            <a:ext cx="5476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17354A"/>
                </a:solidFill>
                <a:latin typeface="Yu Gothic"/>
                <a:ea typeface="Yu Gothic"/>
                <a:cs typeface="Yu Gothic"/>
              </a:defRPr>
            </a:pPr>
            <a:r>
              <a:rPr sz="2175" b="0">
                <a:solidFill>
                  <a:srgbClr val="17354A"/>
                </a:solidFill>
                <a:latin typeface="Yu Gothic"/>
                <a:ea typeface="Yu Gothic"/>
                <a:cs typeface="Yu Gothic"/>
              </a:rPr>
              <a:t>識別子を同一利用に統合できる</a:t>
            </a:r>
          </a:p>
        </p:txBody>
      </p:sp>
      <p:sp>
        <p:nvSpPr>
          <p:cNvPr id="16" name="">
            <a:extLst xmlns:a="http://schemas.openxmlformats.org/drawingml/2006/main">
              <a:ext uri="{FF2B5EF4-FFF2-40B4-BE49-F238E27FC236}">
                <a16:creationId xmlns:a16="http://schemas.microsoft.com/office/drawing/2014/main" id="{BC657B5C-1799-41FD-A3C4-F02291939335}"/>
              </a:ext>
            </a:extLst>
          </p:cNvPr>
          <p:cNvSpPr>
            <a:spLocks xmlns:a="http://schemas.openxmlformats.org/drawingml/2006/main" noGrp="1"/>
          </p:cNvSpPr>
          <p:nvPr/>
        </p:nvSpPr>
        <p:spPr>
          <a:xfrm xmlns:a="http://schemas.openxmlformats.org/drawingml/2006/main">
            <a:off x="6096000" y="4733925"/>
            <a:ext cx="428625"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EAEBEE5-8DA9-48A8-A7B1-88F29B0639CA}"/>
              </a:ext>
            </a:extLst>
          </p:cNvPr>
          <p:cNvSpPr>
            <a:spLocks xmlns:a="http://schemas.openxmlformats.org/drawingml/2006/main" noGrp="1"/>
          </p:cNvSpPr>
          <p:nvPr/>
        </p:nvSpPr>
        <p:spPr>
          <a:xfrm xmlns:a="http://schemas.openxmlformats.org/drawingml/2006/main">
            <a:off x="6810375" y="4610100"/>
            <a:ext cx="4810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175" b="0">
                <a:solidFill>
                  <a:srgbClr val="17354A"/>
                </a:solidFill>
                <a:latin typeface="Yu Gothic"/>
                <a:ea typeface="Yu Gothic"/>
                <a:cs typeface="Yu Gothic"/>
              </a:defRPr>
            </a:pPr>
            <a:r>
              <a:rPr sz="2175" b="0">
                <a:solidFill>
                  <a:srgbClr val="17354A"/>
                </a:solidFill>
                <a:latin typeface="Yu Gothic"/>
                <a:ea typeface="Yu Gothic"/>
                <a:cs typeface="Yu Gothic"/>
              </a:rPr>
              <a:t>利用終了の判定・課金手続</a:t>
            </a:r>
          </a:p>
        </p:txBody>
      </p:sp>
      <p:sp>
        <p:nvSpPr>
          <p:cNvPr id="18" name="">
            <a:extLst xmlns:a="http://schemas.openxmlformats.org/drawingml/2006/main">
              <a:ext uri="{FF2B5EF4-FFF2-40B4-BE49-F238E27FC236}">
                <a16:creationId xmlns:a16="http://schemas.microsoft.com/office/drawing/2014/main" id="{7F072BA4-8FD7-4FDE-BEF8-FCCA6F8EA6E2}"/>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路線間の差には、OD分布・経路構造・運賃区分が関わる</a:t>
            </a:r>
          </a:p>
        </p:txBody>
      </p:sp>
    </p:spTree>
    <p:extLst>
      <p:ext uri="{BB962C8B-B14F-4D97-AF65-F5344CB8AC3E}">
        <p14:creationId xmlns:p14="http://schemas.microsoft.com/office/powerpoint/2010/main" val="191853565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945986-1246-479C-8328-F66C09165E19}"/>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まとめ</a:t>
            </a:r>
          </a:p>
        </p:txBody>
      </p:sp>
      <p:sp>
        <p:nvSpPr>
          <p:cNvPr id="2" name="">
            <a:extLst xmlns:a="http://schemas.openxmlformats.org/drawingml/2006/main">
              <a:ext uri="{FF2B5EF4-FFF2-40B4-BE49-F238E27FC236}">
                <a16:creationId xmlns:a16="http://schemas.microsoft.com/office/drawing/2014/main" id="{1FB12B95-9775-40E2-805C-D52DE7767E9C}"/>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BB095FB-42EB-43D0-8F98-52DA451BDC91}"/>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16</a:t>
            </a:r>
          </a:p>
        </p:txBody>
      </p:sp>
      <p:sp>
        <p:nvSpPr>
          <p:cNvPr id="4" name="">
            <a:extLst xmlns:a="http://schemas.openxmlformats.org/drawingml/2006/main">
              <a:ext uri="{FF2B5EF4-FFF2-40B4-BE49-F238E27FC236}">
                <a16:creationId xmlns:a16="http://schemas.microsoft.com/office/drawing/2014/main" id="{D6E2F852-F42A-43FA-A178-677C0E2FAE24}"/>
              </a:ext>
            </a:extLst>
          </p:cNvPr>
          <p:cNvSpPr>
            <a:spLocks xmlns:a="http://schemas.openxmlformats.org/drawingml/2006/main" noGrp="1"/>
          </p:cNvSpPr>
          <p:nvPr/>
        </p:nvSpPr>
        <p:spPr>
          <a:xfrm xmlns:a="http://schemas.openxmlformats.org/drawingml/2006/main">
            <a:off x="619125" y="1952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700" b="1">
                <a:solidFill>
                  <a:srgbClr val="087FBA"/>
                </a:solidFill>
                <a:latin typeface="Yu Gothic"/>
                <a:ea typeface="Yu Gothic"/>
                <a:cs typeface="Yu Gothic"/>
              </a:defRPr>
            </a:pPr>
            <a:r>
              <a:rPr sz="2700" b="1">
                <a:solidFill>
                  <a:srgbClr val="087FBA"/>
                </a:solidFill>
                <a:latin typeface="Yu Gothic"/>
                <a:ea typeface="Yu Gothic"/>
                <a:cs typeface="Yu Gothic"/>
              </a:rPr>
              <a:t>駅間の観測</a:t>
            </a:r>
          </a:p>
        </p:txBody>
      </p:sp>
      <p:sp>
        <p:nvSpPr>
          <p:cNvPr id="5" name="">
            <a:extLst xmlns:a="http://schemas.openxmlformats.org/drawingml/2006/main">
              <a:ext uri="{FF2B5EF4-FFF2-40B4-BE49-F238E27FC236}">
                <a16:creationId xmlns:a16="http://schemas.microsoft.com/office/drawing/2014/main" id="{92A4356D-8E5C-4281-BDE6-2F314BCB06B5}"/>
              </a:ext>
            </a:extLst>
          </p:cNvPr>
          <p:cNvSpPr>
            <a:spLocks xmlns:a="http://schemas.openxmlformats.org/drawingml/2006/main" noGrp="1"/>
          </p:cNvSpPr>
          <p:nvPr/>
        </p:nvSpPr>
        <p:spPr>
          <a:xfrm xmlns:a="http://schemas.openxmlformats.org/drawingml/2006/main">
            <a:off x="3943350" y="2124075"/>
            <a:ext cx="666750"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A2C32E8-EE5C-475C-A910-9CA069AC453E}"/>
              </a:ext>
            </a:extLst>
          </p:cNvPr>
          <p:cNvSpPr>
            <a:spLocks xmlns:a="http://schemas.openxmlformats.org/drawingml/2006/main" noGrp="1"/>
          </p:cNvSpPr>
          <p:nvPr/>
        </p:nvSpPr>
        <p:spPr>
          <a:xfrm xmlns:a="http://schemas.openxmlformats.org/drawingml/2006/main">
            <a:off x="4905375" y="1952625"/>
            <a:ext cx="3762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700" b="1">
                <a:solidFill>
                  <a:srgbClr val="087FBA"/>
                </a:solidFill>
                <a:latin typeface="Yu Gothic"/>
                <a:ea typeface="Yu Gothic"/>
                <a:cs typeface="Yu Gothic"/>
              </a:defRPr>
            </a:pPr>
            <a:r>
              <a:rPr sz="2700" b="1">
                <a:solidFill>
                  <a:srgbClr val="087FBA"/>
                </a:solidFill>
                <a:latin typeface="Yu Gothic"/>
                <a:ea typeface="Yu Gothic"/>
                <a:cs typeface="Yu Gothic"/>
              </a:rPr>
              <a:t>ODと運賃の推定</a:t>
            </a:r>
          </a:p>
        </p:txBody>
      </p:sp>
      <p:sp>
        <p:nvSpPr>
          <p:cNvPr id="7" name="">
            <a:extLst xmlns:a="http://schemas.openxmlformats.org/drawingml/2006/main">
              <a:ext uri="{FF2B5EF4-FFF2-40B4-BE49-F238E27FC236}">
                <a16:creationId xmlns:a16="http://schemas.microsoft.com/office/drawing/2014/main" id="{FD447830-C307-4206-AD29-5883B1A7B423}"/>
              </a:ext>
            </a:extLst>
          </p:cNvPr>
          <p:cNvSpPr>
            <a:spLocks xmlns:a="http://schemas.openxmlformats.org/drawingml/2006/main" noGrp="1"/>
          </p:cNvSpPr>
          <p:nvPr/>
        </p:nvSpPr>
        <p:spPr>
          <a:xfrm xmlns:a="http://schemas.openxmlformats.org/drawingml/2006/main">
            <a:off x="8810625" y="2124075"/>
            <a:ext cx="666750" cy="266700"/>
          </a:xfrm>
          <a:prstGeom xmlns:a="http://schemas.openxmlformats.org/drawingml/2006/main" prst="rightArrow">
            <a:avLst/>
          </a:prstGeom>
          <a:solidFill xmlns:a="http://schemas.openxmlformats.org/drawingml/2006/main">
            <a:srgbClr val="087FBA"/>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DD2EC19-C852-4696-B7A9-7A67455A0A3B}"/>
              </a:ext>
            </a:extLst>
          </p:cNvPr>
          <p:cNvSpPr>
            <a:spLocks xmlns:a="http://schemas.openxmlformats.org/drawingml/2006/main" noGrp="1"/>
          </p:cNvSpPr>
          <p:nvPr/>
        </p:nvSpPr>
        <p:spPr>
          <a:xfrm xmlns:a="http://schemas.openxmlformats.org/drawingml/2006/main">
            <a:off x="9858375" y="1952625"/>
            <a:ext cx="190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700" b="1">
                <a:solidFill>
                  <a:srgbClr val="087FBA"/>
                </a:solidFill>
                <a:latin typeface="Yu Gothic"/>
                <a:ea typeface="Yu Gothic"/>
                <a:cs typeface="Yu Gothic"/>
              </a:defRPr>
            </a:pPr>
            <a:r>
              <a:rPr sz="2700" b="1">
                <a:solidFill>
                  <a:srgbClr val="087FBA"/>
                </a:solidFill>
                <a:latin typeface="Yu Gothic"/>
                <a:ea typeface="Yu Gothic"/>
                <a:cs typeface="Yu Gothic"/>
              </a:rPr>
              <a:t>回収率</a:t>
            </a:r>
          </a:p>
        </p:txBody>
      </p:sp>
      <p:sp>
        <p:nvSpPr>
          <p:cNvPr id="9" name="">
            <a:extLst xmlns:a="http://schemas.openxmlformats.org/drawingml/2006/main">
              <a:ext uri="{FF2B5EF4-FFF2-40B4-BE49-F238E27FC236}">
                <a16:creationId xmlns:a16="http://schemas.microsoft.com/office/drawing/2014/main" id="{77251464-9621-4C2E-AF43-575F8CAF1E34}"/>
              </a:ext>
            </a:extLst>
          </p:cNvPr>
          <p:cNvSpPr>
            <a:spLocks xmlns:a="http://schemas.openxmlformats.org/drawingml/2006/main" noGrp="1"/>
          </p:cNvSpPr>
          <p:nvPr/>
        </p:nvSpPr>
        <p:spPr>
          <a:xfrm xmlns:a="http://schemas.openxmlformats.org/drawingml/2006/main">
            <a:off x="619125" y="3257550"/>
            <a:ext cx="10810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150" b="1">
                <a:solidFill>
                  <a:srgbClr val="17354A"/>
                </a:solidFill>
                <a:latin typeface="Yu Gothic"/>
                <a:ea typeface="Yu Gothic"/>
                <a:cs typeface="Yu Gothic"/>
              </a:defRPr>
            </a:pPr>
            <a:r>
              <a:rPr sz="3150" b="1">
                <a:solidFill>
                  <a:srgbClr val="17354A"/>
                </a:solidFill>
                <a:latin typeface="Yu Gothic"/>
                <a:ea typeface="Yu Gothic"/>
                <a:cs typeface="Yu Gothic"/>
              </a:rPr>
              <a:t>今回の条件では、全対象路線で</a:t>
            </a:r>
          </a:p>
          <a:p xmlns:a="http://schemas.openxmlformats.org/drawingml/2006/main">
            <a:pPr>
              <a:buNone/>
              <a:defRPr sz="3150" b="1">
                <a:solidFill>
                  <a:srgbClr val="17354A"/>
                </a:solidFill>
                <a:latin typeface="Yu Gothic"/>
                <a:ea typeface="Yu Gothic"/>
                <a:cs typeface="Yu Gothic"/>
              </a:defRPr>
            </a:pPr>
            <a:r>
              <a:rPr sz="3150" b="1">
                <a:solidFill>
                  <a:srgbClr val="17354A"/>
                </a:solidFill>
                <a:latin typeface="Yu Gothic"/>
                <a:ea typeface="Yu Gothic"/>
                <a:cs typeface="Yu Gothic"/>
              </a:rPr>
              <a:t>検出率の上昇に伴い平均回収率が上昇</a:t>
            </a:r>
          </a:p>
        </p:txBody>
      </p:sp>
      <p:sp>
        <p:nvSpPr>
          <p:cNvPr id="10" name="">
            <a:extLst xmlns:a="http://schemas.openxmlformats.org/drawingml/2006/main">
              <a:ext uri="{FF2B5EF4-FFF2-40B4-BE49-F238E27FC236}">
                <a16:creationId xmlns:a16="http://schemas.microsoft.com/office/drawing/2014/main" id="{EBBBB4E1-C4D1-45A9-B423-020C7D2C5B77}"/>
              </a:ext>
            </a:extLst>
          </p:cNvPr>
          <p:cNvSpPr>
            <a:spLocks xmlns:a="http://schemas.openxmlformats.org/drawingml/2006/main" noGrp="1"/>
          </p:cNvSpPr>
          <p:nvPr/>
        </p:nvSpPr>
        <p:spPr>
          <a:xfrm xmlns:a="http://schemas.openxmlformats.org/drawingml/2006/main">
            <a:off x="619125" y="49530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325" b="1">
                <a:solidFill>
                  <a:srgbClr val="D77824"/>
                </a:solidFill>
                <a:latin typeface="Yu Gothic"/>
                <a:ea typeface="Yu Gothic"/>
                <a:cs typeface="Yu Gothic"/>
              </a:defRPr>
            </a:pPr>
            <a:r>
              <a:rPr sz="2325" b="1">
                <a:solidFill>
                  <a:srgbClr val="D77824"/>
                </a:solidFill>
                <a:latin typeface="Yu Gothic"/>
                <a:ea typeface="Yu Gothic"/>
                <a:cs typeface="Yu Gothic"/>
              </a:rPr>
              <a:t>次の評価</a:t>
            </a:r>
          </a:p>
        </p:txBody>
      </p:sp>
      <p:sp>
        <p:nvSpPr>
          <p:cNvPr id="11" name="">
            <a:extLst xmlns:a="http://schemas.openxmlformats.org/drawingml/2006/main">
              <a:ext uri="{FF2B5EF4-FFF2-40B4-BE49-F238E27FC236}">
                <a16:creationId xmlns:a16="http://schemas.microsoft.com/office/drawing/2014/main" id="{4AAB9458-C80D-4ABB-9C36-F0C2702DF751}"/>
              </a:ext>
            </a:extLst>
          </p:cNvPr>
          <p:cNvSpPr>
            <a:spLocks xmlns:a="http://schemas.openxmlformats.org/drawingml/2006/main" noGrp="1"/>
          </p:cNvSpPr>
          <p:nvPr/>
        </p:nvSpPr>
        <p:spPr>
          <a:xfrm xmlns:a="http://schemas.openxmlformats.org/drawingml/2006/main">
            <a:off x="3143250" y="4953000"/>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325" b="0">
                <a:solidFill>
                  <a:srgbClr val="17354A"/>
                </a:solidFill>
                <a:latin typeface="Yu Gothic"/>
                <a:ea typeface="Yu Gothic"/>
                <a:cs typeface="Yu Gothic"/>
              </a:defRPr>
            </a:pPr>
            <a:r>
              <a:rPr sz="2325" b="0">
                <a:solidFill>
                  <a:srgbClr val="17354A"/>
                </a:solidFill>
                <a:latin typeface="Yu Gothic"/>
                <a:ea typeface="Yu Gothic"/>
                <a:cs typeface="Yu Gothic"/>
              </a:rPr>
              <a:t>全未検出による損失 ／ 検出後の徴収誤差</a:t>
            </a:r>
          </a:p>
        </p:txBody>
      </p:sp>
      <p:sp>
        <p:nvSpPr>
          <p:cNvPr id="12" name="">
            <a:extLst xmlns:a="http://schemas.openxmlformats.org/drawingml/2006/main">
              <a:ext uri="{FF2B5EF4-FFF2-40B4-BE49-F238E27FC236}">
                <a16:creationId xmlns:a16="http://schemas.microsoft.com/office/drawing/2014/main" id="{785DD130-F166-4951-BEDC-29354D1403F1}"/>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高い回収率だけでは、正確なOD推定や個別課金を保証しない</a:t>
            </a:r>
          </a:p>
        </p:txBody>
      </p:sp>
    </p:spTree>
    <p:extLst>
      <p:ext uri="{BB962C8B-B14F-4D97-AF65-F5344CB8AC3E}">
        <p14:creationId xmlns:p14="http://schemas.microsoft.com/office/powerpoint/2010/main" val="14176641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075ED63-12B4-4E54-96BC-FFD8845490FA}"/>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補足：MAP推定で数える4種類のリンク</a:t>
            </a:r>
          </a:p>
        </p:txBody>
      </p:sp>
      <p:sp>
        <p:nvSpPr>
          <p:cNvPr id="2" name="">
            <a:extLst xmlns:a="http://schemas.openxmlformats.org/drawingml/2006/main">
              <a:ext uri="{FF2B5EF4-FFF2-40B4-BE49-F238E27FC236}">
                <a16:creationId xmlns:a16="http://schemas.microsoft.com/office/drawing/2014/main" id="{D186EC6B-7925-430B-A0AC-9F5C647FF864}"/>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AEFD222-8400-49D8-99BE-7E30FB1A6D54}"/>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17</a:t>
            </a:r>
          </a:p>
        </p:txBody>
      </p:sp>
      <p:sp>
        <p:nvSpPr>
          <p:cNvPr id="4" name="">
            <a:extLst xmlns:a="http://schemas.openxmlformats.org/drawingml/2006/main">
              <a:ext uri="{FF2B5EF4-FFF2-40B4-BE49-F238E27FC236}">
                <a16:creationId xmlns:a16="http://schemas.microsoft.com/office/drawing/2014/main" id="{F636C327-9693-4979-A8E7-6731839A475C}"/>
              </a:ext>
            </a:extLst>
          </p:cNvPr>
          <p:cNvSpPr>
            <a:spLocks xmlns:a="http://schemas.openxmlformats.org/drawingml/2006/main" noGrp="1"/>
          </p:cNvSpPr>
          <p:nvPr/>
        </p:nvSpPr>
        <p:spPr>
          <a:xfrm xmlns:a="http://schemas.openxmlformats.org/drawingml/2006/main">
            <a:off x="619125" y="1562100"/>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325" b="1">
                <a:solidFill>
                  <a:srgbClr val="17354A"/>
                </a:solidFill>
                <a:latin typeface="Yu Gothic"/>
                <a:ea typeface="Yu Gothic"/>
                <a:cs typeface="Yu Gothic"/>
              </a:defRPr>
            </a:pPr>
            <a:r>
              <a:rPr sz="2325" b="1">
                <a:solidFill>
                  <a:srgbClr val="17354A"/>
                </a:solidFill>
                <a:latin typeface="Yu Gothic"/>
                <a:ea typeface="Yu Gothic"/>
                <a:cs typeface="Yu Gothic"/>
              </a:rPr>
              <a:t>候補経路との関係</a:t>
            </a:r>
          </a:p>
        </p:txBody>
      </p:sp>
      <p:sp>
        <p:nvSpPr>
          <p:cNvPr id="5" name="">
            <a:extLst xmlns:a="http://schemas.openxmlformats.org/drawingml/2006/main">
              <a:ext uri="{FF2B5EF4-FFF2-40B4-BE49-F238E27FC236}">
                <a16:creationId xmlns:a16="http://schemas.microsoft.com/office/drawing/2014/main" id="{D7C65739-120F-43F5-A4CA-9EA5087809E6}"/>
              </a:ext>
            </a:extLst>
          </p:cNvPr>
          <p:cNvSpPr>
            <a:spLocks xmlns:a="http://schemas.openxmlformats.org/drawingml/2006/main" noGrp="1"/>
          </p:cNvSpPr>
          <p:nvPr/>
        </p:nvSpPr>
        <p:spPr>
          <a:xfrm xmlns:a="http://schemas.openxmlformats.org/drawingml/2006/main">
            <a:off x="5334000" y="1562100"/>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325" b="1">
                <a:solidFill>
                  <a:srgbClr val="D77824"/>
                </a:solidFill>
                <a:latin typeface="Yu Gothic"/>
                <a:ea typeface="Yu Gothic"/>
                <a:cs typeface="Yu Gothic"/>
              </a:defRPr>
            </a:pPr>
            <a:r>
              <a:rPr sz="2325" b="1">
                <a:solidFill>
                  <a:srgbClr val="D77824"/>
                </a:solidFill>
                <a:latin typeface="Yu Gothic"/>
                <a:ea typeface="Yu Gothic"/>
                <a:cs typeface="Yu Gothic"/>
              </a:rPr>
              <a:t>観測あり</a:t>
            </a:r>
          </a:p>
        </p:txBody>
      </p:sp>
      <p:sp>
        <p:nvSpPr>
          <p:cNvPr id="6" name="">
            <a:extLst xmlns:a="http://schemas.openxmlformats.org/drawingml/2006/main">
              <a:ext uri="{FF2B5EF4-FFF2-40B4-BE49-F238E27FC236}">
                <a16:creationId xmlns:a16="http://schemas.microsoft.com/office/drawing/2014/main" id="{F285CEA2-8CA4-482E-A1F8-15FBC44E9F2B}"/>
              </a:ext>
            </a:extLst>
          </p:cNvPr>
          <p:cNvSpPr>
            <a:spLocks xmlns:a="http://schemas.openxmlformats.org/drawingml/2006/main" noGrp="1"/>
          </p:cNvSpPr>
          <p:nvPr/>
        </p:nvSpPr>
        <p:spPr>
          <a:xfrm xmlns:a="http://schemas.openxmlformats.org/drawingml/2006/main">
            <a:off x="8858250" y="1562100"/>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325" b="1">
                <a:solidFill>
                  <a:srgbClr val="647987"/>
                </a:solidFill>
                <a:latin typeface="Yu Gothic"/>
                <a:ea typeface="Yu Gothic"/>
                <a:cs typeface="Yu Gothic"/>
              </a:defRPr>
            </a:pPr>
            <a:r>
              <a:rPr sz="2325" b="1">
                <a:solidFill>
                  <a:srgbClr val="647987"/>
                </a:solidFill>
                <a:latin typeface="Yu Gothic"/>
                <a:ea typeface="Yu Gothic"/>
                <a:cs typeface="Yu Gothic"/>
              </a:rPr>
              <a:t>観測なし</a:t>
            </a:r>
          </a:p>
        </p:txBody>
      </p:sp>
      <p:sp>
        <p:nvSpPr>
          <p:cNvPr id="7" name="">
            <a:extLst xmlns:a="http://schemas.openxmlformats.org/drawingml/2006/main">
              <a:ext uri="{FF2B5EF4-FFF2-40B4-BE49-F238E27FC236}">
                <a16:creationId xmlns:a16="http://schemas.microsoft.com/office/drawing/2014/main" id="{87D43FA9-B613-4470-8583-67ECC006CB2E}"/>
              </a:ext>
            </a:extLst>
          </p:cNvPr>
          <p:cNvSpPr>
            <a:spLocks xmlns:a="http://schemas.openxmlformats.org/drawingml/2006/main" noGrp="1"/>
          </p:cNvSpPr>
          <p:nvPr/>
        </p:nvSpPr>
        <p:spPr>
          <a:xfrm xmlns:a="http://schemas.openxmlformats.org/drawingml/2006/main">
            <a:off x="619125" y="271462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75" b="1">
                <a:solidFill>
                  <a:srgbClr val="087FBA"/>
                </a:solidFill>
                <a:latin typeface="Yu Gothic"/>
                <a:ea typeface="Yu Gothic"/>
                <a:cs typeface="Yu Gothic"/>
              </a:defRPr>
            </a:pPr>
            <a:r>
              <a:rPr sz="2475" b="1">
                <a:solidFill>
                  <a:srgbClr val="087FBA"/>
                </a:solidFill>
                <a:latin typeface="Yu Gothic"/>
                <a:ea typeface="Yu Gothic"/>
                <a:cs typeface="Yu Gothic"/>
              </a:rPr>
              <a:t>経路上</a:t>
            </a:r>
          </a:p>
        </p:txBody>
      </p:sp>
      <p:sp>
        <p:nvSpPr>
          <p:cNvPr id="8" name="">
            <a:extLst xmlns:a="http://schemas.openxmlformats.org/drawingml/2006/main">
              <a:ext uri="{FF2B5EF4-FFF2-40B4-BE49-F238E27FC236}">
                <a16:creationId xmlns:a16="http://schemas.microsoft.com/office/drawing/2014/main" id="{2A3002CE-4320-45FC-AC42-7C69CF566F5D}"/>
              </a:ext>
            </a:extLst>
          </p:cNvPr>
          <p:cNvSpPr>
            <a:spLocks xmlns:a="http://schemas.openxmlformats.org/drawingml/2006/main" noGrp="1"/>
          </p:cNvSpPr>
          <p:nvPr/>
        </p:nvSpPr>
        <p:spPr>
          <a:xfrm xmlns:a="http://schemas.openxmlformats.org/drawingml/2006/main">
            <a:off x="5334000" y="2714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550" b="0">
                <a:solidFill>
                  <a:srgbClr val="17354A"/>
                </a:solidFill>
                <a:latin typeface="Yu Gothic"/>
                <a:ea typeface="Yu Gothic"/>
                <a:cs typeface="Yu Gothic"/>
              </a:defRPr>
            </a:pPr>
            <a:r>
              <a:rPr sz="2550" b="0">
                <a:solidFill>
                  <a:srgbClr val="17354A"/>
                </a:solidFill>
                <a:latin typeface="Yu Gothic"/>
                <a:ea typeface="Yu Gothic"/>
                <a:cs typeface="Yu Gothic"/>
              </a:rPr>
              <a:t>t 本：pᵗ</a:t>
            </a:r>
          </a:p>
        </p:txBody>
      </p:sp>
      <p:sp>
        <p:nvSpPr>
          <p:cNvPr id="9" name="">
            <a:extLst xmlns:a="http://schemas.openxmlformats.org/drawingml/2006/main">
              <a:ext uri="{FF2B5EF4-FFF2-40B4-BE49-F238E27FC236}">
                <a16:creationId xmlns:a16="http://schemas.microsoft.com/office/drawing/2014/main" id="{6DB1F0AD-607A-4223-9702-357ED7028C6C}"/>
              </a:ext>
            </a:extLst>
          </p:cNvPr>
          <p:cNvSpPr>
            <a:spLocks xmlns:a="http://schemas.openxmlformats.org/drawingml/2006/main" noGrp="1"/>
          </p:cNvSpPr>
          <p:nvPr/>
        </p:nvSpPr>
        <p:spPr>
          <a:xfrm xmlns:a="http://schemas.openxmlformats.org/drawingml/2006/main">
            <a:off x="8858250" y="271462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0">
                <a:solidFill>
                  <a:srgbClr val="17354A"/>
                </a:solidFill>
                <a:latin typeface="Yu Gothic"/>
                <a:ea typeface="Yu Gothic"/>
                <a:cs typeface="Yu Gothic"/>
              </a:defRPr>
            </a:pPr>
            <a:r>
              <a:rPr sz="2400" b="0">
                <a:solidFill>
                  <a:srgbClr val="17354A"/>
                </a:solidFill>
                <a:latin typeface="Yu Gothic"/>
                <a:ea typeface="Yu Gothic"/>
                <a:cs typeface="Yu Gothic"/>
              </a:rPr>
              <a:t>f 本：(1−p)ᶠ</a:t>
            </a:r>
          </a:p>
        </p:txBody>
      </p:sp>
      <p:sp>
        <p:nvSpPr>
          <p:cNvPr id="10" name="">
            <a:extLst xmlns:a="http://schemas.openxmlformats.org/drawingml/2006/main">
              <a:ext uri="{FF2B5EF4-FFF2-40B4-BE49-F238E27FC236}">
                <a16:creationId xmlns:a16="http://schemas.microsoft.com/office/drawing/2014/main" id="{07F69C71-1859-4AF0-B40A-066D3EA378D8}"/>
              </a:ext>
            </a:extLst>
          </p:cNvPr>
          <p:cNvSpPr>
            <a:spLocks xmlns:a="http://schemas.openxmlformats.org/drawingml/2006/main" noGrp="1"/>
          </p:cNvSpPr>
          <p:nvPr/>
        </p:nvSpPr>
        <p:spPr>
          <a:xfrm xmlns:a="http://schemas.openxmlformats.org/drawingml/2006/main">
            <a:off x="619125" y="385762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75" b="1">
                <a:solidFill>
                  <a:srgbClr val="647987"/>
                </a:solidFill>
                <a:latin typeface="Yu Gothic"/>
                <a:ea typeface="Yu Gothic"/>
                <a:cs typeface="Yu Gothic"/>
              </a:defRPr>
            </a:pPr>
            <a:r>
              <a:rPr sz="2475" b="1">
                <a:solidFill>
                  <a:srgbClr val="647987"/>
                </a:solidFill>
                <a:latin typeface="Yu Gothic"/>
                <a:ea typeface="Yu Gothic"/>
                <a:cs typeface="Yu Gothic"/>
              </a:rPr>
              <a:t>経路外</a:t>
            </a:r>
          </a:p>
        </p:txBody>
      </p:sp>
      <p:sp>
        <p:nvSpPr>
          <p:cNvPr id="11" name="">
            <a:extLst xmlns:a="http://schemas.openxmlformats.org/drawingml/2006/main">
              <a:ext uri="{FF2B5EF4-FFF2-40B4-BE49-F238E27FC236}">
                <a16:creationId xmlns:a16="http://schemas.microsoft.com/office/drawing/2014/main" id="{15E7E568-8AA0-4D86-904C-E5BE2D32DC35}"/>
              </a:ext>
            </a:extLst>
          </p:cNvPr>
          <p:cNvSpPr>
            <a:spLocks xmlns:a="http://schemas.openxmlformats.org/drawingml/2006/main" noGrp="1"/>
          </p:cNvSpPr>
          <p:nvPr/>
        </p:nvSpPr>
        <p:spPr>
          <a:xfrm xmlns:a="http://schemas.openxmlformats.org/drawingml/2006/main">
            <a:off x="5334000" y="38576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550" b="0">
                <a:solidFill>
                  <a:srgbClr val="17354A"/>
                </a:solidFill>
                <a:latin typeface="Yu Gothic"/>
                <a:ea typeface="Yu Gothic"/>
                <a:cs typeface="Yu Gothic"/>
              </a:defRPr>
            </a:pPr>
            <a:r>
              <a:rPr sz="2550" b="0">
                <a:solidFill>
                  <a:srgbClr val="17354A"/>
                </a:solidFill>
                <a:latin typeface="Yu Gothic"/>
                <a:ea typeface="Yu Gothic"/>
                <a:cs typeface="Yu Gothic"/>
              </a:rPr>
              <a:t>u 本：qᵘ</a:t>
            </a:r>
          </a:p>
        </p:txBody>
      </p:sp>
      <p:sp>
        <p:nvSpPr>
          <p:cNvPr id="12" name="">
            <a:extLst xmlns:a="http://schemas.openxmlformats.org/drawingml/2006/main">
              <a:ext uri="{FF2B5EF4-FFF2-40B4-BE49-F238E27FC236}">
                <a16:creationId xmlns:a16="http://schemas.microsoft.com/office/drawing/2014/main" id="{3994E3E0-1F93-4F05-A3DA-36A7F113A72E}"/>
              </a:ext>
            </a:extLst>
          </p:cNvPr>
          <p:cNvSpPr>
            <a:spLocks xmlns:a="http://schemas.openxmlformats.org/drawingml/2006/main" noGrp="1"/>
          </p:cNvSpPr>
          <p:nvPr/>
        </p:nvSpPr>
        <p:spPr>
          <a:xfrm xmlns:a="http://schemas.openxmlformats.org/drawingml/2006/main">
            <a:off x="8858250" y="385762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0">
                <a:solidFill>
                  <a:srgbClr val="17354A"/>
                </a:solidFill>
                <a:latin typeface="Yu Gothic"/>
                <a:ea typeface="Yu Gothic"/>
                <a:cs typeface="Yu Gothic"/>
              </a:defRPr>
            </a:pPr>
            <a:r>
              <a:rPr sz="2400" b="0">
                <a:solidFill>
                  <a:srgbClr val="17354A"/>
                </a:solidFill>
                <a:latin typeface="Yu Gothic"/>
                <a:ea typeface="Yu Gothic"/>
                <a:cs typeface="Yu Gothic"/>
              </a:rPr>
              <a:t>v 本：(1−q)ᵛ</a:t>
            </a:r>
          </a:p>
        </p:txBody>
      </p:sp>
      <p:sp>
        <p:nvSpPr>
          <p:cNvPr id="13" name="">
            <a:extLst xmlns:a="http://schemas.openxmlformats.org/drawingml/2006/main">
              <a:ext uri="{FF2B5EF4-FFF2-40B4-BE49-F238E27FC236}">
                <a16:creationId xmlns:a16="http://schemas.microsoft.com/office/drawing/2014/main" id="{8B0B5D84-CDF0-4C55-9888-BD9F25E1296D}"/>
              </a:ext>
            </a:extLst>
          </p:cNvPr>
          <p:cNvSpPr>
            <a:spLocks xmlns:a="http://schemas.openxmlformats.org/drawingml/2006/main" noGrp="1"/>
          </p:cNvSpPr>
          <p:nvPr/>
        </p:nvSpPr>
        <p:spPr>
          <a:xfrm xmlns:a="http://schemas.openxmlformats.org/drawingml/2006/main">
            <a:off x="619125" y="2343150"/>
            <a:ext cx="10953750" cy="19050"/>
          </a:xfrm>
          <a:prstGeom xmlns:a="http://schemas.openxmlformats.org/drawingml/2006/main" prst="rect">
            <a:avLst/>
          </a:prstGeom>
          <a:solidFill xmlns:a="http://schemas.openxmlformats.org/drawingml/2006/main">
            <a:srgbClr val="A7BC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C7104F8-993A-4247-B9CF-C911345554C1}"/>
              </a:ext>
            </a:extLst>
          </p:cNvPr>
          <p:cNvSpPr>
            <a:spLocks xmlns:a="http://schemas.openxmlformats.org/drawingml/2006/main" noGrp="1"/>
          </p:cNvSpPr>
          <p:nvPr/>
        </p:nvSpPr>
        <p:spPr>
          <a:xfrm xmlns:a="http://schemas.openxmlformats.org/drawingml/2006/main">
            <a:off x="619125" y="3543300"/>
            <a:ext cx="10953750" cy="19050"/>
          </a:xfrm>
          <a:prstGeom xmlns:a="http://schemas.openxmlformats.org/drawingml/2006/main" prst="rect">
            <a:avLst/>
          </a:prstGeom>
          <a:solidFill xmlns:a="http://schemas.openxmlformats.org/drawingml/2006/main">
            <a:srgbClr val="A7BCC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914FB7-76A6-453A-8D07-962E0DA03489}"/>
              </a:ext>
            </a:extLst>
          </p:cNvPr>
          <p:cNvSpPr>
            <a:spLocks xmlns:a="http://schemas.openxmlformats.org/drawingml/2006/main" noGrp="1"/>
          </p:cNvSpPr>
          <p:nvPr/>
        </p:nvSpPr>
        <p:spPr>
          <a:xfrm xmlns:a="http://schemas.openxmlformats.org/drawingml/2006/main">
            <a:off x="619125" y="4724400"/>
            <a:ext cx="10953750" cy="19050"/>
          </a:xfrm>
          <a:prstGeom xmlns:a="http://schemas.openxmlformats.org/drawingml/2006/main" prst="rect">
            <a:avLst/>
          </a:prstGeom>
          <a:solidFill xmlns:a="http://schemas.openxmlformats.org/drawingml/2006/main">
            <a:srgbClr val="A7BCC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3DF0BF7-5F23-48EC-8962-0E0D9D6186BA}"/>
              </a:ext>
            </a:extLst>
          </p:cNvPr>
          <p:cNvSpPr>
            <a:spLocks xmlns:a="http://schemas.openxmlformats.org/drawingml/2006/main" noGrp="1"/>
          </p:cNvSpPr>
          <p:nvPr/>
        </p:nvSpPr>
        <p:spPr>
          <a:xfrm xmlns:a="http://schemas.openxmlformats.org/drawingml/2006/main">
            <a:off x="619125" y="5095875"/>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625" b="1">
                <a:solidFill>
                  <a:srgbClr val="087FBA"/>
                </a:solidFill>
                <a:latin typeface="Yu Gothic"/>
                <a:ea typeface="Yu Gothic"/>
                <a:cs typeface="Yu Gothic"/>
              </a:defRPr>
            </a:pPr>
            <a:r>
              <a:rPr sz="2625" b="1">
                <a:solidFill>
                  <a:srgbClr val="087FBA"/>
                </a:solidFill>
                <a:latin typeface="Yu Gothic"/>
                <a:ea typeface="Yu Gothic"/>
                <a:cs typeface="Yu Gothic"/>
              </a:rPr>
              <a:t>スコア ＝ πₕ × pᵗ × (1−p)ᶠ × qᵘ × (1−q)ᵛ</a:t>
            </a:r>
          </a:p>
        </p:txBody>
      </p:sp>
      <p:sp>
        <p:nvSpPr>
          <p:cNvPr id="17" name="">
            <a:extLst xmlns:a="http://schemas.openxmlformats.org/drawingml/2006/main">
              <a:ext uri="{FF2B5EF4-FFF2-40B4-BE49-F238E27FC236}">
                <a16:creationId xmlns:a16="http://schemas.microsoft.com/office/drawing/2014/main" id="{A9EA14B8-2C16-44CD-BA71-27C7F77D9FA7}"/>
              </a:ext>
            </a:extLst>
          </p:cNvPr>
          <p:cNvSpPr>
            <a:spLocks xmlns:a="http://schemas.openxmlformats.org/drawingml/2006/main" noGrp="1"/>
          </p:cNvSpPr>
          <p:nvPr/>
        </p:nvSpPr>
        <p:spPr>
          <a:xfrm xmlns:a="http://schemas.openxmlformats.org/drawingml/2006/main">
            <a:off x="571500" y="57912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1">
                <a:solidFill>
                  <a:srgbClr val="087FBA"/>
                </a:solidFill>
                <a:latin typeface="Yu Gothic"/>
                <a:ea typeface="Yu Gothic"/>
                <a:cs typeface="Yu Gothic"/>
              </a:defRPr>
            </a:pPr>
            <a:r>
              <a:rPr sz="1950" b="1">
                <a:solidFill>
                  <a:srgbClr val="087FBA"/>
                </a:solidFill>
                <a:latin typeface="Yu Gothic"/>
                <a:ea typeface="Yu Gothic"/>
                <a:cs typeface="Yu Gothic"/>
              </a:rPr>
              <a:t>非空観測について、スコアが最大の候補を採用（q = 10⁻⁴）</a:t>
            </a:r>
          </a:p>
        </p:txBody>
      </p:sp>
    </p:spTree>
    <p:extLst>
      <p:ext uri="{BB962C8B-B14F-4D97-AF65-F5344CB8AC3E}">
        <p14:creationId xmlns:p14="http://schemas.microsoft.com/office/powerpoint/2010/main" val="82277047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A549CAD-FFF3-472F-BF65-34D715A60AF5}"/>
              </a:ext>
            </a:extLst>
          </p:cNvPr>
          <p:cNvSpPr>
            <a:spLocks xmlns:a="http://schemas.openxmlformats.org/drawingml/2006/main" noGrp="1"/>
          </p:cNvSpPr>
          <p:nvPr/>
        </p:nvSpPr>
        <p:spPr>
          <a:xfrm xmlns:a="http://schemas.openxmlformats.org/drawingml/2006/main">
            <a:off x="523875" y="304800"/>
            <a:ext cx="1114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3000" b="1">
                <a:solidFill>
                  <a:srgbClr val="17354A"/>
                </a:solidFill>
                <a:latin typeface="Yu Gothic"/>
                <a:ea typeface="Yu Gothic"/>
                <a:cs typeface="Yu Gothic"/>
              </a:defRPr>
            </a:pPr>
            <a:r>
              <a:rPr sz="3000" b="1">
                <a:solidFill>
                  <a:srgbClr val="17354A"/>
                </a:solidFill>
                <a:latin typeface="Yu Gothic"/>
                <a:ea typeface="Yu Gothic"/>
                <a:cs typeface="Yu Gothic"/>
              </a:rPr>
              <a:t>参考資料</a:t>
            </a:r>
          </a:p>
        </p:txBody>
      </p:sp>
      <p:sp>
        <p:nvSpPr>
          <p:cNvPr id="2" name="">
            <a:extLst xmlns:a="http://schemas.openxmlformats.org/drawingml/2006/main">
              <a:ext uri="{FF2B5EF4-FFF2-40B4-BE49-F238E27FC236}">
                <a16:creationId xmlns:a16="http://schemas.microsoft.com/office/drawing/2014/main" id="{54B1545A-AA6E-4B7F-9BF5-448FF91ADFD9}"/>
              </a:ext>
            </a:extLst>
          </p:cNvPr>
          <p:cNvSpPr>
            <a:spLocks xmlns:a="http://schemas.openxmlformats.org/drawingml/2006/main" noGrp="1"/>
          </p:cNvSpPr>
          <p:nvPr/>
        </p:nvSpPr>
        <p:spPr>
          <a:xfrm xmlns:a="http://schemas.openxmlformats.org/drawingml/2006/main">
            <a:off x="552450" y="1133475"/>
            <a:ext cx="11049000" cy="28575"/>
          </a:xfrm>
          <a:prstGeom xmlns:a="http://schemas.openxmlformats.org/drawingml/2006/main" prst="rect">
            <a:avLst/>
          </a:prstGeom>
          <a:solidFill xmlns:a="http://schemas.openxmlformats.org/drawingml/2006/main">
            <a:srgbClr val="31B5D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AD5FBC-7894-4D4B-85B1-40F812B6D39C}"/>
              </a:ext>
            </a:extLst>
          </p:cNvPr>
          <p:cNvSpPr>
            <a:spLocks xmlns:a="http://schemas.openxmlformats.org/drawingml/2006/main" noGrp="1"/>
          </p:cNvSpPr>
          <p:nvPr/>
        </p:nvSpPr>
        <p:spPr>
          <a:xfrm xmlns:a="http://schemas.openxmlformats.org/drawingml/2006/main">
            <a:off x="11334750" y="63531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425" b="0">
                <a:solidFill>
                  <a:srgbClr val="647987"/>
                </a:solidFill>
                <a:latin typeface="Yu Gothic"/>
                <a:ea typeface="Yu Gothic"/>
                <a:cs typeface="Yu Gothic"/>
              </a:defRPr>
            </a:pPr>
            <a:r>
              <a:rPr sz="1425" b="0">
                <a:solidFill>
                  <a:srgbClr val="647987"/>
                </a:solidFill>
                <a:latin typeface="Yu Gothic"/>
                <a:ea typeface="Yu Gothic"/>
                <a:cs typeface="Yu Gothic"/>
              </a:rPr>
              <a:t>18</a:t>
            </a:r>
          </a:p>
        </p:txBody>
      </p:sp>
      <p:sp>
        <p:nvSpPr>
          <p:cNvPr id="4" name="">
            <a:extLst xmlns:a="http://schemas.openxmlformats.org/drawingml/2006/main">
              <a:ext uri="{FF2B5EF4-FFF2-40B4-BE49-F238E27FC236}">
                <a16:creationId xmlns:a16="http://schemas.microsoft.com/office/drawing/2014/main" id="{41E1785F-D7FA-4D88-ACFE-2C4398ECFE7D}"/>
              </a:ext>
            </a:extLst>
          </p:cNvPr>
          <p:cNvSpPr>
            <a:spLocks xmlns:a="http://schemas.openxmlformats.org/drawingml/2006/main" noGrp="1"/>
          </p:cNvSpPr>
          <p:nvPr/>
        </p:nvSpPr>
        <p:spPr>
          <a:xfrm xmlns:a="http://schemas.openxmlformats.org/drawingml/2006/main">
            <a:off x="571500" y="14859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250" b="1">
                <a:solidFill>
                  <a:srgbClr val="087FBA"/>
                </a:solidFill>
                <a:latin typeface="Yu Gothic"/>
                <a:ea typeface="Yu Gothic"/>
                <a:cs typeface="Yu Gothic"/>
              </a:defRPr>
            </a:pPr>
            <a:r>
              <a:rPr sz="2250" b="1">
                <a:solidFill>
                  <a:srgbClr val="087FBA"/>
                </a:solidFill>
                <a:latin typeface="Yu Gothic"/>
                <a:ea typeface="Yu Gothic"/>
                <a:cs typeface="Yu Gothic"/>
              </a:rPr>
              <a:t>内容の基準</a:t>
            </a:r>
          </a:p>
        </p:txBody>
      </p:sp>
      <p:sp>
        <p:nvSpPr>
          <p:cNvPr id="5" name="">
            <a:extLst xmlns:a="http://schemas.openxmlformats.org/drawingml/2006/main">
              <a:ext uri="{FF2B5EF4-FFF2-40B4-BE49-F238E27FC236}">
                <a16:creationId xmlns:a16="http://schemas.microsoft.com/office/drawing/2014/main" id="{0A6B855D-D998-42C7-B34A-6E11F67D0BB6}"/>
              </a:ext>
            </a:extLst>
          </p:cNvPr>
          <p:cNvSpPr>
            <a:spLocks xmlns:a="http://schemas.openxmlformats.org/drawingml/2006/main" noGrp="1"/>
          </p:cNvSpPr>
          <p:nvPr/>
        </p:nvSpPr>
        <p:spPr>
          <a:xfrm xmlns:a="http://schemas.openxmlformats.org/drawingml/2006/main">
            <a:off x="571500" y="20002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2400" b="0">
                <a:solidFill>
                  <a:srgbClr val="17354A"/>
                </a:solidFill>
                <a:latin typeface="Yu Gothic"/>
                <a:ea typeface="Yu Gothic"/>
                <a:cs typeface="Yu Gothic"/>
              </a:defRPr>
            </a:pPr>
            <a:r>
              <a:rPr sz="2400" b="0">
                <a:solidFill>
                  <a:srgbClr val="17354A"/>
                </a:solidFill>
                <a:latin typeface="Yu Gothic"/>
                <a:ea typeface="Yu Gothic"/>
                <a:cs typeface="Yu Gothic"/>
              </a:rPr>
              <a:t>「交通流シンポレジュメ2026(1).pdf」</a:t>
            </a:r>
          </a:p>
        </p:txBody>
      </p:sp>
      <p:sp>
        <p:nvSpPr>
          <p:cNvPr id="6" name="">
            <a:extLst xmlns:a="http://schemas.openxmlformats.org/drawingml/2006/main">
              <a:ext uri="{FF2B5EF4-FFF2-40B4-BE49-F238E27FC236}">
                <a16:creationId xmlns:a16="http://schemas.microsoft.com/office/drawing/2014/main" id="{CCE99D4F-8B1E-4151-BCB1-D8F865524908}"/>
              </a:ext>
            </a:extLst>
          </p:cNvPr>
          <p:cNvSpPr>
            <a:spLocks xmlns:a="http://schemas.openxmlformats.org/drawingml/2006/main" noGrp="1"/>
          </p:cNvSpPr>
          <p:nvPr/>
        </p:nvSpPr>
        <p:spPr>
          <a:xfrm xmlns:a="http://schemas.openxmlformats.org/drawingml/2006/main">
            <a:off x="571500" y="28860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0">
                <a:solidFill>
                  <a:srgbClr val="17354A"/>
                </a:solidFill>
                <a:latin typeface="Yu Gothic"/>
                <a:ea typeface="Yu Gothic"/>
                <a:cs typeface="Yu Gothic"/>
              </a:defRPr>
            </a:pPr>
            <a:r>
              <a:rPr sz="1950" b="0">
                <a:solidFill>
                  <a:srgbClr val="17354A"/>
                </a:solidFill>
                <a:latin typeface="Yu Gothic"/>
                <a:ea typeface="Yu Gothic"/>
                <a:cs typeface="Yu Gothic"/>
              </a:rPr>
              <a:t>[1] JR東日本：Suica認証が可能なタッチレスゲートの開発（2022）</a:t>
            </a:r>
          </a:p>
        </p:txBody>
      </p:sp>
      <p:sp>
        <p:nvSpPr>
          <p:cNvPr id="7" name="">
            <a:extLst xmlns:a="http://schemas.openxmlformats.org/drawingml/2006/main">
              <a:ext uri="{FF2B5EF4-FFF2-40B4-BE49-F238E27FC236}">
                <a16:creationId xmlns:a16="http://schemas.microsoft.com/office/drawing/2014/main" id="{E5783705-B79F-4924-AF4F-81A080498DEB}"/>
              </a:ext>
            </a:extLst>
          </p:cNvPr>
          <p:cNvSpPr>
            <a:spLocks xmlns:a="http://schemas.openxmlformats.org/drawingml/2006/main" noGrp="1"/>
          </p:cNvSpPr>
          <p:nvPr/>
        </p:nvSpPr>
        <p:spPr>
          <a:xfrm xmlns:a="http://schemas.openxmlformats.org/drawingml/2006/main">
            <a:off x="571500" y="36290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7354A"/>
                </a:solidFill>
                <a:latin typeface="Yu Gothic"/>
                <a:ea typeface="Yu Gothic"/>
                <a:cs typeface="Yu Gothic"/>
              </a:defRPr>
            </a:pPr>
            <a:r>
              <a:rPr sz="1875" b="0">
                <a:solidFill>
                  <a:srgbClr val="17354A"/>
                </a:solidFill>
                <a:latin typeface="Yu Gothic"/>
                <a:ea typeface="Yu Gothic"/>
                <a:cs typeface="Yu Gothic"/>
              </a:rPr>
              <a:t>[2] W. Narzt et al.：Be-In/Be-Out with Bluetooth Low Energy</a:t>
            </a:r>
          </a:p>
          <a:p xmlns:a="http://schemas.openxmlformats.org/drawingml/2006/main">
            <a:pPr>
              <a:buNone/>
              <a:defRPr sz="1875" b="0">
                <a:solidFill>
                  <a:srgbClr val="17354A"/>
                </a:solidFill>
                <a:latin typeface="Yu Gothic"/>
                <a:ea typeface="Yu Gothic"/>
                <a:cs typeface="Yu Gothic"/>
              </a:defRPr>
            </a:pPr>
            <a:r>
              <a:rPr sz="1875" b="0">
                <a:solidFill>
                  <a:srgbClr val="17354A"/>
                </a:solidFill>
                <a:latin typeface="Yu Gothic"/>
                <a:ea typeface="Yu Gothic"/>
                <a:cs typeface="Yu Gothic"/>
              </a:rPr>
              <a:t>     ITSC 2015, pp.1551–1556　doi:10.1109/ITSC.2015.253</a:t>
            </a:r>
          </a:p>
        </p:txBody>
      </p:sp>
      <p:sp>
        <p:nvSpPr>
          <p:cNvPr id="8" name="">
            <a:extLst xmlns:a="http://schemas.openxmlformats.org/drawingml/2006/main">
              <a:ext uri="{FF2B5EF4-FFF2-40B4-BE49-F238E27FC236}">
                <a16:creationId xmlns:a16="http://schemas.microsoft.com/office/drawing/2014/main" id="{5E49456F-3192-49D5-9089-A9EF52A23D75}"/>
              </a:ext>
            </a:extLst>
          </p:cNvPr>
          <p:cNvSpPr>
            <a:spLocks xmlns:a="http://schemas.openxmlformats.org/drawingml/2006/main" noGrp="1"/>
          </p:cNvSpPr>
          <p:nvPr/>
        </p:nvSpPr>
        <p:spPr>
          <a:xfrm xmlns:a="http://schemas.openxmlformats.org/drawingml/2006/main">
            <a:off x="571500" y="4581525"/>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875" b="0">
                <a:solidFill>
                  <a:srgbClr val="17354A"/>
                </a:solidFill>
                <a:latin typeface="Yu Gothic"/>
                <a:ea typeface="Yu Gothic"/>
                <a:cs typeface="Yu Gothic"/>
              </a:defRPr>
            </a:pPr>
            <a:r>
              <a:rPr sz="1875" b="0">
                <a:solidFill>
                  <a:srgbClr val="17354A"/>
                </a:solidFill>
                <a:latin typeface="Yu Gothic"/>
                <a:ea typeface="Yu Gothic"/>
                <a:cs typeface="Yu Gothic"/>
              </a:rPr>
              <a:t>[3] 国土交通省：第13回大都市交通センサス（2021年調査）</a:t>
            </a:r>
          </a:p>
          <a:p xmlns:a="http://schemas.openxmlformats.org/drawingml/2006/main">
            <a:pPr>
              <a:buNone/>
              <a:defRPr sz="1875" b="0">
                <a:solidFill>
                  <a:srgbClr val="17354A"/>
                </a:solidFill>
                <a:latin typeface="Yu Gothic"/>
                <a:ea typeface="Yu Gothic"/>
                <a:cs typeface="Yu Gothic"/>
              </a:defRPr>
            </a:pPr>
            <a:r>
              <a:rPr sz="1875" b="0">
                <a:solidFill>
                  <a:srgbClr val="17354A"/>
                </a:solidFill>
                <a:latin typeface="Yu Gothic"/>
                <a:ea typeface="Yu Gothic"/>
                <a:cs typeface="Yu Gothic"/>
              </a:rPr>
              <a:t>     初乗り・最終降車駅間移動人員表、e-Stat</a:t>
            </a:r>
          </a:p>
        </p:txBody>
      </p:sp>
      <p:sp>
        <p:nvSpPr>
          <p:cNvPr id="9" name="">
            <a:extLst xmlns:a="http://schemas.openxmlformats.org/drawingml/2006/main">
              <a:ext uri="{FF2B5EF4-FFF2-40B4-BE49-F238E27FC236}">
                <a16:creationId xmlns:a16="http://schemas.microsoft.com/office/drawing/2014/main" id="{6FF05566-7CB8-41B1-B9AD-D7E395FE2D3F}"/>
              </a:ext>
            </a:extLst>
          </p:cNvPr>
          <p:cNvSpPr>
            <a:spLocks xmlns:a="http://schemas.openxmlformats.org/drawingml/2006/main" noGrp="1"/>
          </p:cNvSpPr>
          <p:nvPr/>
        </p:nvSpPr>
        <p:spPr>
          <a:xfrm xmlns:a="http://schemas.openxmlformats.org/drawingml/2006/main">
            <a:off x="571500" y="55626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950" b="0">
                <a:solidFill>
                  <a:srgbClr val="17354A"/>
                </a:solidFill>
                <a:latin typeface="Yu Gothic"/>
                <a:ea typeface="Yu Gothic"/>
                <a:cs typeface="Yu Gothic"/>
              </a:defRPr>
            </a:pPr>
            <a:r>
              <a:rPr sz="1950" b="0">
                <a:solidFill>
                  <a:srgbClr val="17354A"/>
                </a:solidFill>
                <a:latin typeface="Yu Gothic"/>
                <a:ea typeface="Yu Gothic"/>
                <a:cs typeface="Yu Gothic"/>
              </a:rPr>
              <a:t>[4] 名古屋市交通局：地下鉄普通料金・定期料金（対キロ区間制）</a:t>
            </a:r>
          </a:p>
        </p:txBody>
      </p:sp>
    </p:spTree>
    <p:extLst>
      <p:ext uri="{BB962C8B-B14F-4D97-AF65-F5344CB8AC3E}">
        <p14:creationId xmlns:p14="http://schemas.microsoft.com/office/powerpoint/2010/main" val="17052815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2026-10-23T01:48:57.5390000Z</dcterms:created>
  <dcterms:modified xsi:type="dcterms:W3CDTF">2026-10-23T01:48:57.5390000Z</dcterms:modified>
</coreProperties>
</file>